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JetBrains Mono" panose="02000009000000000000" pitchFamily="49" charset="0"/>
      <p:regular r:id="rId34"/>
      <p:bold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바이브 코딩으로 서비스를 만들면 AI가 거의 항상 프런트엔드, 백엔드, 데이터베이스로 나눈 구조를 제안합니다. 오늘은 그 구조가 왜 생겼는지, 각 층에 무엇을 쓰는지, 데이터를 어디에 저장하고 어떻게 관측하며, 마지막으로 Docker Compose로 한 번에 띄우는 것까지 한 흐름으로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역사에서 출발해 구조, 기술 선택, 관측, 배포 순으로 갑니다. 각 단계마다 "이걸 AI에게 어떻게 지시할까"를 함께 생각해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초창기 웹은 서버가 HTML 문자열을 만들어 보내는 구조였습니다. 오른쪽 코드 한 화면 안에 DB 접속, SQL, 부가세 계산이라는 업무 규칙, 그리고 표를 그리는 HTML이 모두 들어 있습니다. 부가세율이 바뀌면 화면 파일을 고쳐야 하고, 모바일 앱이 같은 데이터를 원하면 이 로직을 또 만들어야 했습니다. 바이브 코딩에서도 "한 파일에 다 넣어줘"라고 하면 이 구조로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분리는 한 번에 일어나지 않았습니다. 2000년 REST라는 설계 원칙, 2004년 Gmail과 2005년 AJAX라는 이름, 2007년 아이폰 이후 웹 밖 클라이언트의 폭증, Node.js와 SPA 프레임워크, 그리고 컨테이너. 이 흐름이 모여 화면과 로직이 API 계약으로만 이야기하는 구조가 기본값이 되었습니다. Compose는 2013년 Fig라는 이름으로 시작해 2014년 Docker Compose가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분리로 얻은 다섯 가지와 치른 대가 하나입니다. 1인 개발자에게 특히 큰 이점은 클라이언트 재사용과 기술 선택의 자유입니다. Streamlit으로 시작한 화면을 나중에 React로 바꿔도 백엔드 API는 그대로 쓸 수 있습니다. 대신 서버가 여러 개가 되므로, 오늘 후반부의 Docker Compose가 그 대가를 줄여 주는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층과 그 사이의 두 계약입니다. 프런트엔드와 백엔드 사이의 계약은 HTTP와 JSON, 즉 API 명세입니다. 백엔드와 저장소 사이의 계약은 SQL이나 DB 드라이버입니다. 가장 중요한 규칙은 프런트엔드가 DB에 직접 붙지 않는다는 것입니다. Streamlit은 파이썬이라 DB 드라이버를 바로 쓸 수 있어서 바이브 코딩 중에 AI가 이 규칙을 자주 깹니다. 처음부터 프롬프트에 명시하세요.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층의 책임을 표로 정리했습니다. 특히 "프런트엔드 검증만 믿기"는 흔한 실수입니다. 브라우저의 검증은 사용자 편의를 위한 것이고, 진짜 검증은 백엔드에서 다시 해야 합니다. 오른쪽 열은 바이브 코딩할 때 프롬프트에 그대로 넣을 수 있는 문장입니다.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코드는 똑같은 일을 합니다. 질문을 받아 백엔드의 /ask를 호출하고 답을 표시합니다. 중요한 점은 둘 다 DB를 모르고 API만 안다는 것입니다. 그래서 Streamlit으로 시작해서 나중에 React로 바꿔도 백엔드는 손대지 않아도 됩니다. 비전공 수강생이라면 Streamlit으로 시작하길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 중 하나를 고르는 문제가 아니라 조합의 문제입니다. 이 과정의 수강생에게는 FastAPI를 기본 백엔드로 권합니다. 타입 힌트만 쓰면 입력 검증과 API 문서가 자동으로 생기기 때문에 AI가 만든 코드를 검토하기도 쉽습니다. Go는 1.22부터 표준 라이브러리 라우팅이 강화되어 프레임워크 없이도 쓸 만합니다. n8n은 앞 단원에서 배운 그대로 백엔드의 한 부품으로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n8n을 백엔드에 넣는 가장 단순하고 안전한 패턴입니다. 프런트엔드가 n8n Webhook을 직접 부르면 주소가 브라우저에 노출되고 누구나 호출할 수 있습니다. FastAPI가 관문 역할을 하면서 인증, 비용 한도 확인, 결과 저장을 맡고, 자주 바뀌는 AI 흐름만 n8n에 둡니다. 3단원에서 다룬 입력 검증과 출력 필터링도 이 관문에서 적용합니다.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저장소를 셋으로 나누는 이유를 한 문장으로 정리하면 이것입니다. 데이터의 모양과 쓰임이 다르다. 처음에는 PostgreSQL 하나로 시작해도 괜찮습니다. 하지만 센서 값이 초당 수천 건씩 들어오거나, 설정 항목이 매주 바뀌기 시작하면 그때 맞는 저장소로 옮기는 것이 정석입니다. 오늘은 그 판단 기준을 가져가세요.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PostgreSQL은 구조가 변하지 않는 레코드를 계속 만들고 고치고 지우는 데 강합니다. InfluxDB는 시간에 따라 들어오는 정수와 실수를 쌓고, 기간별로 묶어 보는 데 특화되어 있으며 보존 정책으로 오래된 데이터를 자동으로 지웁니다. MongoDB는 키가 자주 바뀌는 설정 같은 데이터를 ALTER TABLE 없이 담습니다. 마지막 줄의 주의 사항이 곧 "다른 DB를 함께 쓰는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설비 하나를 세 저장소에 나눠 담은 모습입니다. 설비가 무엇인지는 PostgreSQL에, 지금 몇 도인지는 InfluxDB에, 몇 도에서 알람을 보낼지는 MongoDB에 둡니다. 세 저장소는 eq 값 press-01로 연결됩니다. 이 슬라이드가 "노드 안을 들여다본다"는 우리 과정의 원칙을 저장소에 적용한 예입니다. 각 저장소 안에서 데이터가 실제로 어떤 모양으로 들어가는지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모니터링도 같은 세 층 구조입니다. 수집, 저장, 시각화. 핵심 차이는 Pull과 Push입니다. Prometheus는 각 서비스의 /metrics 주소를 주기적으로 긁어 갑니다. 그래서 서비스는 숫자만 노출하면 됩니다. 센서처럼 스스로 데이터를 보내는 쪽은 Telegraf나 앱이 InfluxDB에 직접 씁니다. Grafana는 저장하지 않고 두 곳에 질의해서 보여 주기만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무엇을 볼지 모르면 대시보드는 그래프 박물관이 됩니다. 서비스는 RED, 서버 자원은 USE 두 가지 틀이면 대부분 충분합니다. 오른쪽은 Grafana 패널에 그대로 넣는 PromQL입니다. rate는 카운터를 초당 증가율로 바꾸고, histogram_quantile은 버킷에서 백분위 응답 시간을 계산합니다. 평균 응답 시간보다 p95를 보는 이유는 느린 5%의 사용자가 평균에 가려지기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구성에는 프런트엔드, 백엔드, n8n, PostgreSQL, MongoDB, InfluxDB, Prometheus, Grafana까지 8개 서비스가 있습니다. 이것을 손으로 띄우는 것은 사실상 불가능합니다. Compose는 이 전체를 한 파일로 선언하고 한 줄로 띄웁니다. 오른쪽 여섯 줄이면 일상 운영의 대부분을 합니다. 마지막 down -v는 데이터베이스 데이터까지 지우므로 실습 중에도 조심하세요.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compose.yaml의 앞부분, 앱 서비스입니다. 청록색으로 표시한 주소를 보세요. 컨테이너 안에서 localhost는 자기 자신이라서, 다른 컨테이너는 서비스 이름으로 부릅니다. Streamlit은 서버 쪽에서 백엔드를 부르기 때문에 backend:8000이 동작합니다. 백엔드는 ports가 없어서 외부에서는 보이지 않고 내부망에서만 접근됩니다. 예전 파일의 version 항목은 이제 쓰지 않아도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뒷부분은 저장소와 모니터링입니다. 각 DB는 named volume에 데이터를 둡니다. 볼륨이 없으면 컨테이너를 다시 만들 때 데이터가 사라집니다. 비밀번호는 compose 파일에 직접 쓰지 않고 .env에서 읽어 옵니다. Prometheus는 오른쪽 아래 설정처럼 backend:8000의 /metrics를 긁어 가는데, 여기서도 서비스 이름이 곧 주소입니다. Grafana에서는 데이터 소스로 http://prometheus:9090과 http://influxdb:8086을 등록하면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수강생들이 실제로 가장 많이 막히는 여섯 가지입니다. 첫째와 둘째 줄의 차이가 중요합니다. Streamlit은 파이썬 서버가 백엔드를 부르므로 서비스 이름이 동작하지만, React SPA의 fetch는 사용자의 브라우저에서 실행되므로 도커 내부 이름을 모릅니다. 이 경우 백엔드 포트를 공개하거나 Nginx 같은 리버스 프록시로 같은 출처를 만들어야 합니다. 에러 메시지를 AI에게 그대로 붙여 넣기 전에 이 표에서 먼저 찾아보세요.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혼자 바이브 코딩할 때는 AI가 앞뒤를 맞춰 줍니다. 그런데 네 명이 각자 자기 AI에게 "백엔드 만들어 줘", "화면 만들어 줘"라고 하면, 각 AI는 서로를 모르기 때문에 이름, 테이블, 포트를 제각각 정합니다. 통합하는 날 모든 것이 깨집니다. 이 섹션의 핵심은 하나입니다. 사람이 계약을 먼저 합의하고, AI는 그 계약을 읽고 구현하게 만든다.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4~5명 팀 기준의 역할 분담입니다. 앞에서 본 세 층을 그대로 따라 나누고, 각자 소유한 폴더 밖은 원칙적으로 고치지 않습니다. 이렇게 하면 Git 충돌이 크게 줄고, AI에게도 "frontend 폴더만 수정해"라고 범위를 정해 줄 수 있습니다. 1인 창업을 준비하는 분들도 마찬가지입니다. 한 AI 세션에 모든 것을 시키지 말고, 백엔드 작업 세션과 화면 작업 세션을 나눠서 같은 계약을 읽게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팀이 함께 쓰는 하나의 저장소 구조입니다. 청록색 contracts 폴더가 앞에서 본 두 계약, 주황색 compose.yaml과 .env.example이 실행 환경의 계약입니다. 계약 파일은 코드보다 먼저 만들고, 바뀔 때는 영향받는 사람 모두가 확인합니다. openapi.yaml은 손으로 써도 되고, FastAPI로 먼저 뼈대를 만든 뒤 자동 생성된 스키마를 내보내 커밋해도 됩니다. 중요한 것은 저장소 안에 하나의 기준 파일이 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계약이 "무엇을 만들지"라면 규칙 파일은 "어떻게 일할지"입니다. 저장소 최상단에 두면 코딩 에이전트가 작업을 시작할 때 자동으로 읽습니다. 수업에서 쓰는 도구들은 읽는 파일 이름이 조금씩 다르므로, AGENTS.md를 원본으로 두고 CLAUDE.md에서는 그것을 불러오도록 하면 내용이 갈라지지 않습니다. 규칙은 처음부터 완벽할 필요가 없습니다. 통합하다 깨진 지점이 생길 때마다 한 줄씩 늘려 가는 살아 있는 문서입니다.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한 건이 흘러가는 일곱 단계입니다. 바이브 코딩이 들어가는 곳은 3번 하나뿐이고, 나머지는 사람이 지키는 절차입니다. PR 템플릿에서 가장 중요한 칸은 "계약 변경"입니다. 체크된 PR은 영향받는 담당자가 반드시 확인합니다. 또 "AI 사용" 칸에 프롬프트를 요약해 두면 리뷰어가 의도를 이해하기 쉽고, 나중에 같은 작업을 재현할 수도 있습니다. 수업 첫날 설치한 lazygit으로 브랜치와 커밋을 관리하면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CI는 지속적 통합, CD는 지속적 배포입니다. 앞 장의 Git 흐름에서 사람이 하던 확인을 기계가 대신합니다. CI는 PR이 올라올 때마다 compose로 전체를 띄우고 테스트를 돌려, 깨진 코드가 main에 들어가지 못하게 막습니다. 비밀번호는 저장소가 아니라 Secrets에서 주입합니다. CD는 main에 머지되면 이미지를 만들어 서버에 배포합니다. 배포 후에는 앞서 만든 Grafana 대시보드로 확인하고, 문제가 생기면 이전 이미지 태그로 되돌립니다. 바이브 코딩은 코드를 빨리 만들기 때문에 이 자동 검사가 더 중요합니다. 처음에는 CI만 붙이고, 익숙해지면 CD를 더하세요.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계약을 먼저 정하면 서로 기다릴 필요가 없습니다. Day 0에는 전원이 모여 구성도, openapi 초안, 스키마, compose 골격을 함께 만듭니다. 그 뒤로는 각자 병렬로 진행합니다. 프런트엔드는 백엔드가 아직 없어도 Prism 같은 mock 서버가 openapi.yaml을 읽고 가짜 응답을 돌려주므로 화면을 먼저 만들 수 있습니다. 그리고 하루에 한 번은 main에 머지하고 compose up으로 전체를 띄워 봅니다. 통합을 미룰수록 깨진 곳을 찾기 어려워집니다. 계약을 바꿔야 할 때는 오른쪽 절차를 따릅니다.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바이브 코딩의 품질은 첫 프롬프트에서 구조를 얼마나 분명히 말했는지에 크게 좌우됩니다. 오른쪽 프롬프트는 오늘 배운 세 가지, 즉 층 분리, 저장소 선택, 관측과 배포를 모두 담고 있습니다. 실습으로 이 프롬프트를 그대로 넣어 보고, AI가 만든 결과가 오늘의 구성도와 어디가 다른지 찾아보게 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26690"/>
          </a:xfrm>
          <a:prstGeom prst="rect">
            <a:avLst/>
          </a:prstGeom>
          <a:noFill/>
          <a:ln/>
        </p:spPr>
        <p:txBody>
          <a:bodyPr wrap="square" lIns="0" tIns="0" rIns="0" bIns="0" rtlCol="0" anchor="t"/>
          <a:lstStyle>
            <a:lvl1pPr algn="l" indent="0" marL="0">
              <a:lnSpc>
                <a:spcPct val="115000"/>
              </a:lnSpc>
              <a:buNone/>
              <a:defRPr lang="en-US" sz="2800" dirty="0">
                <a:solidFill>
                  <a:srgbClr val="0E1A2B"/>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33811"/>
            <a:ext cx="10566400" cy="4211389"/>
          </a:xfrm>
          <a:prstGeom prst="rect">
            <a:avLst/>
          </a:prstGeom>
          <a:noFill/>
          <a:ln/>
        </p:spPr>
        <p:txBody>
          <a:bodyPr wrap="square" lIns="0" tIns="0" rIns="0" bIns="0" rtlCol="0" anchor="t"/>
          <a:lstStyle>
            <a:lvl1pPr algn="l" indent="0" marL="0">
              <a:lnSpc>
                <a:spcPct val="140000"/>
              </a:lnSpc>
              <a:buNone/>
              <a:defRPr lang="en-US" sz="1600" dirty="0">
                <a:solidFill>
                  <a:srgbClr val="0E1A2B"/>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26690"/>
          </a:xfrm>
          <a:prstGeom prst="rect">
            <a:avLst/>
          </a:prstGeom>
          <a:noFill/>
          <a:ln/>
        </p:spPr>
        <p:txBody>
          <a:bodyPr wrap="square" lIns="0" tIns="0" rIns="0" bIns="0" rtlCol="0" anchor="t"/>
          <a:lstStyle>
            <a:lvl1pPr algn="l" indent="0" marL="0">
              <a:lnSpc>
                <a:spcPct val="115000"/>
              </a:lnSpc>
              <a:buNone/>
              <a:defRPr lang="en-US" sz="2800" dirty="0">
                <a:solidFill>
                  <a:srgbClr val="0E1A2B"/>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33811"/>
            <a:ext cx="10566400" cy="4211389"/>
          </a:xfrm>
          <a:prstGeom prst="rect">
            <a:avLst/>
          </a:prstGeom>
          <a:noFill/>
          <a:ln/>
        </p:spPr>
        <p:txBody>
          <a:bodyPr wrap="square" lIns="0" tIns="0" rIns="0" bIns="0" rtlCol="0" anchor="t"/>
          <a:lstStyle>
            <a:lvl1pPr algn="l" indent="0" marL="0">
              <a:lnSpc>
                <a:spcPct val="140000"/>
              </a:lnSpc>
              <a:buNone/>
              <a:defRPr lang="en-US" sz="1600" dirty="0">
                <a:solidFill>
                  <a:srgbClr val="0E1A2B"/>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127000" cy="6858000"/>
          </a:xfrm>
          <a:prstGeom prst="rect">
            <a:avLst/>
          </a:prstGeom>
          <a:solidFill>
            <a:srgbClr val="4FD1C1"/>
          </a:solidFill>
          <a:ln/>
        </p:spPr>
      </p:sp>
      <p:sp>
        <p:nvSpPr>
          <p:cNvPr id="3" name="Text 1"/>
          <p:cNvSpPr/>
          <p:nvPr/>
        </p:nvSpPr>
        <p:spPr>
          <a:xfrm>
            <a:off x="812800" y="20739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4FD1C1"/>
                </a:solidFill>
                <a:latin typeface="Noto Sans KR" pitchFamily="34" charset="0"/>
                <a:ea typeface="Noto Sans KR" pitchFamily="34" charset="-122"/>
                <a:cs typeface="Noto Sans KR" pitchFamily="34" charset="-120"/>
              </a:rPr>
              <a:t>바이브 코딩 실전 아키텍처</a:t>
            </a:r>
            <a:endParaRPr lang="en-US" sz="1300" dirty="0"/>
          </a:p>
        </p:txBody>
      </p:sp>
      <p:sp>
        <p:nvSpPr>
          <p:cNvPr id="4" name="Text 2"/>
          <p:cNvSpPr/>
          <p:nvPr>
            <p:ph type="title"/>
          </p:nvPr>
        </p:nvSpPr>
        <p:spPr>
          <a:xfrm>
            <a:off x="812800" y="2559100"/>
            <a:ext cx="10883392" cy="726430"/>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2F5F4"/>
                </a:solidFill>
                <a:latin typeface="Noto Sans KR" pitchFamily="34" charset="0"/>
                <a:ea typeface="Noto Sans KR" pitchFamily="34" charset="-122"/>
                <a:cs typeface="Noto Sans KR" pitchFamily="34" charset="-120"/>
              </a:rPr>
              <a:t>프런트엔드 · 백엔드 · 저장소</a:t>
            </a:r>
            <a:endParaRPr lang="en-US" sz="4800" dirty="0"/>
          </a:p>
        </p:txBody>
      </p:sp>
      <p:sp>
        <p:nvSpPr>
          <p:cNvPr id="5" name="Text 3"/>
          <p:cNvSpPr/>
          <p:nvPr/>
        </p:nvSpPr>
        <p:spPr>
          <a:xfrm>
            <a:off x="812800" y="35141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2D0"/>
                </a:solidFill>
                <a:latin typeface="Noto Sans KR" pitchFamily="34" charset="0"/>
                <a:ea typeface="Noto Sans KR" pitchFamily="34" charset="-122"/>
                <a:cs typeface="Noto Sans KR" pitchFamily="34" charset="-120"/>
              </a:rPr>
              <a:t>왜 나누었고, 무엇으로 만들고, 어떻게 한 번에 띄우는가</a:t>
            </a:r>
            <a:endParaRPr lang="en-US" sz="1600" dirty="0"/>
          </a:p>
        </p:txBody>
      </p:sp>
      <p:sp>
        <p:nvSpPr>
          <p:cNvPr id="6" name="Text 4"/>
          <p:cNvSpPr/>
          <p:nvPr/>
        </p:nvSpPr>
        <p:spPr>
          <a:xfrm>
            <a:off x="812800" y="4052590"/>
            <a:ext cx="956965"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Streamlit</a:t>
            </a:r>
            <a:endParaRPr lang="en-US" sz="1200" dirty="0"/>
          </a:p>
        </p:txBody>
      </p:sp>
      <p:sp>
        <p:nvSpPr>
          <p:cNvPr id="7" name="Text 5"/>
          <p:cNvSpPr/>
          <p:nvPr/>
        </p:nvSpPr>
        <p:spPr>
          <a:xfrm>
            <a:off x="1871365" y="4052590"/>
            <a:ext cx="1062583"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TypeScript</a:t>
            </a:r>
            <a:endParaRPr lang="en-US" sz="1200" dirty="0"/>
          </a:p>
        </p:txBody>
      </p:sp>
      <p:sp>
        <p:nvSpPr>
          <p:cNvPr id="8" name="Text 6"/>
          <p:cNvSpPr/>
          <p:nvPr/>
        </p:nvSpPr>
        <p:spPr>
          <a:xfrm>
            <a:off x="3035548" y="4052590"/>
            <a:ext cx="827336"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FastAPI</a:t>
            </a:r>
            <a:endParaRPr lang="en-US" sz="1200" dirty="0"/>
          </a:p>
        </p:txBody>
      </p:sp>
      <p:sp>
        <p:nvSpPr>
          <p:cNvPr id="9" name="Text 7"/>
          <p:cNvSpPr/>
          <p:nvPr/>
        </p:nvSpPr>
        <p:spPr>
          <a:xfrm>
            <a:off x="3964484" y="4052590"/>
            <a:ext cx="502196"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Go</a:t>
            </a:r>
            <a:endParaRPr lang="en-US" sz="1200" dirty="0"/>
          </a:p>
        </p:txBody>
      </p:sp>
      <p:sp>
        <p:nvSpPr>
          <p:cNvPr id="10" name="Text 8"/>
          <p:cNvSpPr/>
          <p:nvPr/>
        </p:nvSpPr>
        <p:spPr>
          <a:xfrm>
            <a:off x="4568279" y="4052590"/>
            <a:ext cx="575518"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n8n</a:t>
            </a:r>
            <a:endParaRPr lang="en-US" sz="1200" dirty="0"/>
          </a:p>
        </p:txBody>
      </p:sp>
      <p:sp>
        <p:nvSpPr>
          <p:cNvPr id="11" name="Text 9"/>
          <p:cNvSpPr/>
          <p:nvPr/>
        </p:nvSpPr>
        <p:spPr>
          <a:xfrm>
            <a:off x="5245398" y="4052590"/>
            <a:ext cx="1121172"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PostgreSQL</a:t>
            </a:r>
            <a:endParaRPr lang="en-US" sz="1200" dirty="0"/>
          </a:p>
        </p:txBody>
      </p:sp>
      <p:sp>
        <p:nvSpPr>
          <p:cNvPr id="12" name="Text 10"/>
          <p:cNvSpPr/>
          <p:nvPr/>
        </p:nvSpPr>
        <p:spPr>
          <a:xfrm>
            <a:off x="6468170" y="4052590"/>
            <a:ext cx="908745"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InfluxDB</a:t>
            </a:r>
            <a:endParaRPr lang="en-US" sz="1200" dirty="0"/>
          </a:p>
        </p:txBody>
      </p:sp>
      <p:sp>
        <p:nvSpPr>
          <p:cNvPr id="13" name="Text 11"/>
          <p:cNvSpPr/>
          <p:nvPr/>
        </p:nvSpPr>
        <p:spPr>
          <a:xfrm>
            <a:off x="7478514" y="4052590"/>
            <a:ext cx="994221"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MongoDB</a:t>
            </a:r>
            <a:endParaRPr lang="en-US" sz="1200" dirty="0"/>
          </a:p>
        </p:txBody>
      </p:sp>
      <p:sp>
        <p:nvSpPr>
          <p:cNvPr id="14" name="Text 12"/>
          <p:cNvSpPr/>
          <p:nvPr/>
        </p:nvSpPr>
        <p:spPr>
          <a:xfrm>
            <a:off x="8574336" y="4052590"/>
            <a:ext cx="1172270"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Prometheus</a:t>
            </a:r>
            <a:endParaRPr lang="en-US" sz="1200" dirty="0"/>
          </a:p>
        </p:txBody>
      </p:sp>
      <p:sp>
        <p:nvSpPr>
          <p:cNvPr id="15" name="Text 13"/>
          <p:cNvSpPr/>
          <p:nvPr/>
        </p:nvSpPr>
        <p:spPr>
          <a:xfrm>
            <a:off x="812800" y="4469110"/>
            <a:ext cx="860822"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Grafana</a:t>
            </a:r>
            <a:endParaRPr lang="en-US" sz="1200" dirty="0"/>
          </a:p>
        </p:txBody>
      </p:sp>
      <p:sp>
        <p:nvSpPr>
          <p:cNvPr id="16" name="Text 14"/>
          <p:cNvSpPr/>
          <p:nvPr/>
        </p:nvSpPr>
        <p:spPr>
          <a:xfrm>
            <a:off x="1775222" y="4469110"/>
            <a:ext cx="1510209" cy="314920"/>
          </a:xfrm>
          <a:prstGeom prst="roundRect">
            <a:avLst>
              <a:gd name="adj" fmla="val 48393"/>
            </a:avLst>
          </a:prstGeom>
          <a:solidFill>
            <a:srgbClr val="1A2B40"/>
          </a:solidFill>
          <a:ln/>
        </p:spPr>
        <p:txBody>
          <a:bodyPr wrap="none" lIns="0" tIns="0" rIns="0" bIns="0" rtlCol="0" anchor="ctr">
            <a:normAutofit/>
          </a:bodyPr>
          <a:lstStyle/>
          <a:p>
            <a:pPr algn="ctr" indent="0" marL="0">
              <a:lnSpc>
                <a:spcPts val="1680"/>
              </a:lnSpc>
              <a:buNone/>
            </a:pPr>
            <a:r>
              <a:rPr lang="en-US" sz="1200" dirty="0">
                <a:solidFill>
                  <a:srgbClr val="D6E2E0"/>
                </a:solidFill>
                <a:latin typeface="Noto Sans KR" pitchFamily="34" charset="0"/>
                <a:ea typeface="Noto Sans KR" pitchFamily="34" charset="-122"/>
                <a:cs typeface="Noto Sans KR" pitchFamily="34" charset="-120"/>
              </a:rPr>
              <a:t>Docker Compose</a:t>
            </a:r>
            <a:endParaRPr lang="en-US" sz="12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6A4"/>
                </a:solidFill>
                <a:latin typeface="Noto Sans KR" pitchFamily="34" charset="0"/>
                <a:ea typeface="Noto Sans KR" pitchFamily="34" charset="-122"/>
                <a:cs typeface="Noto Sans KR" pitchFamily="34" charset="-120"/>
              </a:rPr>
              <a:t>AI 애플리케이션 개발 과정 · 보충 강의</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오늘의 흐름</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다섯 단계로 따라가는 서비스 구조</a:t>
            </a:r>
            <a:endParaRPr lang="en-US" sz="2800" dirty="0"/>
          </a:p>
        </p:txBody>
      </p:sp>
      <p:sp>
        <p:nvSpPr>
          <p:cNvPr id="4" name="Shape 2"/>
          <p:cNvSpPr/>
          <p:nvPr/>
        </p:nvSpPr>
        <p:spPr>
          <a:xfrm>
            <a:off x="812800" y="1836986"/>
            <a:ext cx="10566400" cy="0"/>
          </a:xfrm>
          <a:prstGeom prst="line">
            <a:avLst/>
          </a:prstGeom>
          <a:noFill/>
          <a:ln w="6350">
            <a:solidFill>
              <a:srgbClr val="D5DEDB"/>
            </a:solidFill>
            <a:prstDash val="solid"/>
          </a:ln>
        </p:spPr>
      </p:sp>
      <p:sp>
        <p:nvSpPr>
          <p:cNvPr id="5" name="Text 3"/>
          <p:cNvSpPr/>
          <p:nvPr/>
        </p:nvSpPr>
        <p:spPr>
          <a:xfrm>
            <a:off x="812800" y="196716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574800" y="198745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배경과 역사</a:t>
            </a:r>
            <a:endParaRPr lang="en-US" sz="1600" dirty="0"/>
          </a:p>
        </p:txBody>
      </p:sp>
      <p:sp>
        <p:nvSpPr>
          <p:cNvPr id="7" name="Text 5"/>
          <p:cNvSpPr/>
          <p:nvPr/>
        </p:nvSpPr>
        <p:spPr>
          <a:xfrm>
            <a:off x="3987800" y="1993801"/>
            <a:ext cx="295548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한 덩어리였던 웹은 왜 둘로 나뉘었나</a:t>
            </a:r>
            <a:endParaRPr lang="en-US" sz="1300" dirty="0"/>
          </a:p>
        </p:txBody>
      </p:sp>
      <p:sp>
        <p:nvSpPr>
          <p:cNvPr id="8" name="Shape 6"/>
          <p:cNvSpPr/>
          <p:nvPr/>
        </p:nvSpPr>
        <p:spPr>
          <a:xfrm>
            <a:off x="812800" y="2407196"/>
            <a:ext cx="10566400" cy="0"/>
          </a:xfrm>
          <a:prstGeom prst="line">
            <a:avLst/>
          </a:prstGeom>
          <a:noFill/>
          <a:ln w="6350">
            <a:solidFill>
              <a:srgbClr val="D5DEDB"/>
            </a:solidFill>
            <a:prstDash val="solid"/>
          </a:ln>
        </p:spPr>
      </p:sp>
      <p:sp>
        <p:nvSpPr>
          <p:cNvPr id="9" name="Text 7"/>
          <p:cNvSpPr/>
          <p:nvPr/>
        </p:nvSpPr>
        <p:spPr>
          <a:xfrm>
            <a:off x="812800" y="253737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02</a:t>
            </a:r>
            <a:endParaRPr lang="en-US" sz="1600" dirty="0"/>
          </a:p>
        </p:txBody>
      </p:sp>
      <p:sp>
        <p:nvSpPr>
          <p:cNvPr id="10" name="Text 8"/>
          <p:cNvSpPr/>
          <p:nvPr/>
        </p:nvSpPr>
        <p:spPr>
          <a:xfrm>
            <a:off x="1574800" y="255766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구성도</a:t>
            </a:r>
            <a:endParaRPr lang="en-US" sz="1600" dirty="0"/>
          </a:p>
        </p:txBody>
      </p:sp>
      <p:sp>
        <p:nvSpPr>
          <p:cNvPr id="11" name="Text 9"/>
          <p:cNvSpPr/>
          <p:nvPr/>
        </p:nvSpPr>
        <p:spPr>
          <a:xfrm>
            <a:off x="3987800" y="2564011"/>
            <a:ext cx="46452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Presentation · Domain Logic · Storage, 세 층의 책임</a:t>
            </a:r>
            <a:endParaRPr lang="en-US" sz="1300" dirty="0"/>
          </a:p>
        </p:txBody>
      </p:sp>
      <p:sp>
        <p:nvSpPr>
          <p:cNvPr id="12" name="Shape 10"/>
          <p:cNvSpPr/>
          <p:nvPr/>
        </p:nvSpPr>
        <p:spPr>
          <a:xfrm>
            <a:off x="812800" y="2977406"/>
            <a:ext cx="10566400" cy="0"/>
          </a:xfrm>
          <a:prstGeom prst="line">
            <a:avLst/>
          </a:prstGeom>
          <a:noFill/>
          <a:ln w="6350">
            <a:solidFill>
              <a:srgbClr val="D5DEDB"/>
            </a:solidFill>
            <a:prstDash val="solid"/>
          </a:ln>
        </p:spPr>
      </p:sp>
      <p:sp>
        <p:nvSpPr>
          <p:cNvPr id="13" name="Text 11"/>
          <p:cNvSpPr/>
          <p:nvPr/>
        </p:nvSpPr>
        <p:spPr>
          <a:xfrm>
            <a:off x="812800" y="310758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03</a:t>
            </a:r>
            <a:endParaRPr lang="en-US" sz="1600" dirty="0"/>
          </a:p>
        </p:txBody>
      </p:sp>
      <p:sp>
        <p:nvSpPr>
          <p:cNvPr id="14" name="Text 12"/>
          <p:cNvSpPr/>
          <p:nvPr/>
        </p:nvSpPr>
        <p:spPr>
          <a:xfrm>
            <a:off x="1574800" y="312787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구성 환경</a:t>
            </a:r>
            <a:endParaRPr lang="en-US" sz="1600" dirty="0"/>
          </a:p>
        </p:txBody>
      </p:sp>
      <p:sp>
        <p:nvSpPr>
          <p:cNvPr id="15" name="Text 13"/>
          <p:cNvSpPr/>
          <p:nvPr/>
        </p:nvSpPr>
        <p:spPr>
          <a:xfrm>
            <a:off x="3987800" y="3134221"/>
            <a:ext cx="719357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Streamlit · TypeScript / FastAPI · Go · n8n / PostgreSQL · InfluxDB · MongoDB</a:t>
            </a:r>
            <a:endParaRPr lang="en-US" sz="1300" dirty="0"/>
          </a:p>
        </p:txBody>
      </p:sp>
      <p:sp>
        <p:nvSpPr>
          <p:cNvPr id="16" name="Shape 14"/>
          <p:cNvSpPr/>
          <p:nvPr/>
        </p:nvSpPr>
        <p:spPr>
          <a:xfrm>
            <a:off x="812800" y="3547616"/>
            <a:ext cx="10566400" cy="0"/>
          </a:xfrm>
          <a:prstGeom prst="line">
            <a:avLst/>
          </a:prstGeom>
          <a:noFill/>
          <a:ln w="6350">
            <a:solidFill>
              <a:srgbClr val="D5DEDB"/>
            </a:solidFill>
            <a:prstDash val="solid"/>
          </a:ln>
        </p:spPr>
      </p:sp>
      <p:sp>
        <p:nvSpPr>
          <p:cNvPr id="17" name="Text 15"/>
          <p:cNvSpPr/>
          <p:nvPr/>
        </p:nvSpPr>
        <p:spPr>
          <a:xfrm>
            <a:off x="812800" y="367779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04</a:t>
            </a:r>
            <a:endParaRPr lang="en-US" sz="1600" dirty="0"/>
          </a:p>
        </p:txBody>
      </p:sp>
      <p:sp>
        <p:nvSpPr>
          <p:cNvPr id="18" name="Text 16"/>
          <p:cNvSpPr/>
          <p:nvPr/>
        </p:nvSpPr>
        <p:spPr>
          <a:xfrm>
            <a:off x="1574800" y="369808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모니터링</a:t>
            </a:r>
            <a:endParaRPr lang="en-US" sz="1600" dirty="0"/>
          </a:p>
        </p:txBody>
      </p:sp>
      <p:sp>
        <p:nvSpPr>
          <p:cNvPr id="19" name="Text 17"/>
          <p:cNvSpPr/>
          <p:nvPr/>
        </p:nvSpPr>
        <p:spPr>
          <a:xfrm>
            <a:off x="3987800" y="3704431"/>
            <a:ext cx="499044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Prometheus · InfluxDB · Grafana로 메트릭 수집과 시각화</a:t>
            </a:r>
            <a:endParaRPr lang="en-US" sz="1300" dirty="0"/>
          </a:p>
        </p:txBody>
      </p:sp>
      <p:sp>
        <p:nvSpPr>
          <p:cNvPr id="20" name="Shape 18"/>
          <p:cNvSpPr/>
          <p:nvPr/>
        </p:nvSpPr>
        <p:spPr>
          <a:xfrm>
            <a:off x="812800" y="4117826"/>
            <a:ext cx="10566400" cy="0"/>
          </a:xfrm>
          <a:prstGeom prst="line">
            <a:avLst/>
          </a:prstGeom>
          <a:noFill/>
          <a:ln w="6350">
            <a:solidFill>
              <a:srgbClr val="D5DEDB"/>
            </a:solidFill>
            <a:prstDash val="solid"/>
          </a:ln>
        </p:spPr>
      </p:sp>
      <p:sp>
        <p:nvSpPr>
          <p:cNvPr id="21" name="Text 19"/>
          <p:cNvSpPr/>
          <p:nvPr/>
        </p:nvSpPr>
        <p:spPr>
          <a:xfrm>
            <a:off x="812800" y="424800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05</a:t>
            </a:r>
            <a:endParaRPr lang="en-US" sz="1600" dirty="0"/>
          </a:p>
        </p:txBody>
      </p:sp>
      <p:sp>
        <p:nvSpPr>
          <p:cNvPr id="22" name="Text 20"/>
          <p:cNvSpPr/>
          <p:nvPr/>
        </p:nvSpPr>
        <p:spPr>
          <a:xfrm>
            <a:off x="1574800" y="426829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배포</a:t>
            </a:r>
            <a:endParaRPr lang="en-US" sz="1600" dirty="0"/>
          </a:p>
        </p:txBody>
      </p:sp>
      <p:sp>
        <p:nvSpPr>
          <p:cNvPr id="23" name="Text 21"/>
          <p:cNvSpPr/>
          <p:nvPr/>
        </p:nvSpPr>
        <p:spPr>
          <a:xfrm>
            <a:off x="3987800" y="4274641"/>
            <a:ext cx="397567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Docker Compose 한 파일로 전체 서비스 띄우기</a:t>
            </a:r>
            <a:endParaRPr lang="en-US" sz="1300" dirty="0"/>
          </a:p>
        </p:txBody>
      </p:sp>
      <p:sp>
        <p:nvSpPr>
          <p:cNvPr id="24" name="Shape 22"/>
          <p:cNvSpPr/>
          <p:nvPr/>
        </p:nvSpPr>
        <p:spPr>
          <a:xfrm>
            <a:off x="812800" y="4688036"/>
            <a:ext cx="10566400" cy="0"/>
          </a:xfrm>
          <a:prstGeom prst="line">
            <a:avLst/>
          </a:prstGeom>
          <a:noFill/>
          <a:ln w="6350">
            <a:solidFill>
              <a:srgbClr val="D5DEDB"/>
            </a:solidFill>
            <a:prstDash val="solid"/>
          </a:ln>
        </p:spPr>
      </p:sp>
      <p:sp>
        <p:nvSpPr>
          <p:cNvPr id="25" name="Text 23"/>
          <p:cNvSpPr/>
          <p:nvPr/>
        </p:nvSpPr>
        <p:spPr>
          <a:xfrm>
            <a:off x="812800" y="4818211"/>
            <a:ext cx="558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06</a:t>
            </a:r>
            <a:endParaRPr lang="en-US" sz="1600" dirty="0"/>
          </a:p>
        </p:txBody>
      </p:sp>
      <p:sp>
        <p:nvSpPr>
          <p:cNvPr id="26" name="Text 24"/>
          <p:cNvSpPr/>
          <p:nvPr/>
        </p:nvSpPr>
        <p:spPr>
          <a:xfrm>
            <a:off x="1574800" y="4838502"/>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협업</a:t>
            </a:r>
            <a:endParaRPr lang="en-US" sz="1600" dirty="0"/>
          </a:p>
        </p:txBody>
      </p:sp>
      <p:sp>
        <p:nvSpPr>
          <p:cNvPr id="27" name="Text 25"/>
          <p:cNvSpPr/>
          <p:nvPr/>
        </p:nvSpPr>
        <p:spPr>
          <a:xfrm>
            <a:off x="3987800" y="4844852"/>
            <a:ext cx="457604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계약 · 규칙 파일 · Git 흐름으로 여럿이 함께 바이브 코딩</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02 / 27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01 · 배경과 역사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분리 이전: 한 파일에 모든 것이 섞여 있던 시대</a:t>
            </a:r>
            <a:endParaRPr lang="en-US" sz="2800" dirty="0"/>
          </a:p>
        </p:txBody>
      </p:sp>
      <p:sp>
        <p:nvSpPr>
          <p:cNvPr id="4" name="Shape 2"/>
          <p:cNvSpPr/>
          <p:nvPr/>
        </p:nvSpPr>
        <p:spPr>
          <a:xfrm>
            <a:off x="825500" y="1833811"/>
            <a:ext cx="0" cy="495300"/>
          </a:xfrm>
          <a:prstGeom prst="line">
            <a:avLst/>
          </a:prstGeom>
          <a:noFill/>
          <a:ln w="25400">
            <a:solidFill>
              <a:srgbClr val="157A6E"/>
            </a:solidFill>
            <a:prstDash val="solid"/>
          </a:ln>
        </p:spPr>
      </p:sp>
      <p:sp>
        <p:nvSpPr>
          <p:cNvPr id="5" name="Text 3"/>
          <p:cNvSpPr/>
          <p:nvPr/>
        </p:nvSpPr>
        <p:spPr>
          <a:xfrm>
            <a:off x="990600" y="1833811"/>
            <a:ext cx="4526026"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서버가 HTML을 통째로 생성</a:t>
            </a:r>
            <a:endParaRPr lang="en-US" sz="1300" dirty="0"/>
          </a:p>
          <a:p>
            <a:pPr algn="l" indent="0" marL="0">
              <a:lnSpc>
                <a:spcPts val="1950"/>
              </a:lnSpc>
              <a:buNone/>
            </a:pPr>
            <a:r>
              <a:rPr lang="en-US" sz="1300" dirty="0">
                <a:solidFill>
                  <a:srgbClr val="46566A"/>
                </a:solidFill>
                <a:latin typeface="Noto Sans KR" pitchFamily="34" charset="0"/>
                <a:ea typeface="Noto Sans KR" pitchFamily="34" charset="-122"/>
                <a:cs typeface="Noto Sans KR" pitchFamily="34" charset="-120"/>
              </a:rPr>
              <a:t>CGI · PHP · ASP · JSP — 1990년대 ~ 2000년대 초</a:t>
            </a:r>
            <a:endParaRPr lang="en-US" sz="1300" dirty="0"/>
          </a:p>
        </p:txBody>
      </p:sp>
      <p:sp>
        <p:nvSpPr>
          <p:cNvPr id="6" name="Shape 4"/>
          <p:cNvSpPr/>
          <p:nvPr/>
        </p:nvSpPr>
        <p:spPr>
          <a:xfrm>
            <a:off x="825500" y="2506911"/>
            <a:ext cx="0" cy="495300"/>
          </a:xfrm>
          <a:prstGeom prst="line">
            <a:avLst/>
          </a:prstGeom>
          <a:noFill/>
          <a:ln w="25400">
            <a:solidFill>
              <a:srgbClr val="157A6E"/>
            </a:solidFill>
            <a:prstDash val="solid"/>
          </a:ln>
        </p:spPr>
      </p:sp>
      <p:sp>
        <p:nvSpPr>
          <p:cNvPr id="7" name="Text 5"/>
          <p:cNvSpPr/>
          <p:nvPr/>
        </p:nvSpPr>
        <p:spPr>
          <a:xfrm>
            <a:off x="990600" y="2506911"/>
            <a:ext cx="4526026"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화면 · 규칙 · DB 접근이 한 파일에</a:t>
            </a:r>
            <a:endParaRPr lang="en-US" sz="1300" dirty="0"/>
          </a:p>
          <a:p>
            <a:pPr algn="l" indent="0" marL="0">
              <a:lnSpc>
                <a:spcPts val="1950"/>
              </a:lnSpc>
              <a:buNone/>
            </a:pPr>
            <a:r>
              <a:rPr lang="en-US" sz="1300" dirty="0">
                <a:solidFill>
                  <a:srgbClr val="46566A"/>
                </a:solidFill>
                <a:latin typeface="Noto Sans KR" pitchFamily="34" charset="0"/>
                <a:ea typeface="Noto Sans KR" pitchFamily="34" charset="-122"/>
                <a:cs typeface="Noto Sans KR" pitchFamily="34" charset="-120"/>
              </a:rPr>
              <a:t>디자이너와 개발자가 같은 파일을 고치며 충돌</a:t>
            </a:r>
            <a:endParaRPr lang="en-US" sz="1300" dirty="0"/>
          </a:p>
        </p:txBody>
      </p:sp>
      <p:sp>
        <p:nvSpPr>
          <p:cNvPr id="8" name="Shape 6"/>
          <p:cNvSpPr/>
          <p:nvPr/>
        </p:nvSpPr>
        <p:spPr>
          <a:xfrm>
            <a:off x="825500" y="3180011"/>
            <a:ext cx="0" cy="495300"/>
          </a:xfrm>
          <a:prstGeom prst="line">
            <a:avLst/>
          </a:prstGeom>
          <a:noFill/>
          <a:ln w="25400">
            <a:solidFill>
              <a:srgbClr val="157A6E"/>
            </a:solidFill>
            <a:prstDash val="solid"/>
          </a:ln>
        </p:spPr>
      </p:sp>
      <p:sp>
        <p:nvSpPr>
          <p:cNvPr id="9" name="Text 7"/>
          <p:cNvSpPr/>
          <p:nvPr/>
        </p:nvSpPr>
        <p:spPr>
          <a:xfrm>
            <a:off x="990600" y="3180011"/>
            <a:ext cx="4526026"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클릭 한 번 = 페이지 전체 새로고침</a:t>
            </a:r>
            <a:endParaRPr lang="en-US" sz="1300" dirty="0"/>
          </a:p>
          <a:p>
            <a:pPr algn="l" indent="0" marL="0">
              <a:lnSpc>
                <a:spcPts val="1950"/>
              </a:lnSpc>
              <a:buNone/>
            </a:pPr>
            <a:r>
              <a:rPr lang="en-US" sz="1300" dirty="0">
                <a:solidFill>
                  <a:srgbClr val="46566A"/>
                </a:solidFill>
                <a:latin typeface="Noto Sans KR" pitchFamily="34" charset="0"/>
                <a:ea typeface="Noto Sans KR" pitchFamily="34" charset="-122"/>
                <a:cs typeface="Noto Sans KR" pitchFamily="34" charset="-120"/>
              </a:rPr>
              <a:t>작은 변화에도 HTML 전체를 다시 받아 그림</a:t>
            </a:r>
            <a:endParaRPr lang="en-US" sz="1300" dirty="0"/>
          </a:p>
        </p:txBody>
      </p:sp>
      <p:sp>
        <p:nvSpPr>
          <p:cNvPr id="10" name="Shape 8"/>
          <p:cNvSpPr/>
          <p:nvPr/>
        </p:nvSpPr>
        <p:spPr>
          <a:xfrm>
            <a:off x="825500" y="3853111"/>
            <a:ext cx="0" cy="495300"/>
          </a:xfrm>
          <a:prstGeom prst="line">
            <a:avLst/>
          </a:prstGeom>
          <a:noFill/>
          <a:ln w="25400">
            <a:solidFill>
              <a:srgbClr val="157A6E"/>
            </a:solidFill>
            <a:prstDash val="solid"/>
          </a:ln>
        </p:spPr>
      </p:sp>
      <p:sp>
        <p:nvSpPr>
          <p:cNvPr id="11" name="Text 9"/>
          <p:cNvSpPr/>
          <p:nvPr/>
        </p:nvSpPr>
        <p:spPr>
          <a:xfrm>
            <a:off x="990600" y="3853111"/>
            <a:ext cx="4526026"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새 클라이언트 = 로직 재작성</a:t>
            </a:r>
            <a:endParaRPr lang="en-US" sz="1300" dirty="0"/>
          </a:p>
          <a:p>
            <a:pPr algn="l" indent="0" marL="0">
              <a:lnSpc>
                <a:spcPts val="1950"/>
              </a:lnSpc>
              <a:buNone/>
            </a:pPr>
            <a:r>
              <a:rPr lang="en-US" sz="1300" dirty="0">
                <a:solidFill>
                  <a:srgbClr val="46566A"/>
                </a:solidFill>
                <a:latin typeface="Noto Sans KR" pitchFamily="34" charset="0"/>
                <a:ea typeface="Noto Sans KR" pitchFamily="34" charset="-122"/>
                <a:cs typeface="Noto Sans KR" pitchFamily="34" charset="-120"/>
              </a:rPr>
              <a:t>모바일 앱이 생기면 같은 규칙을 또 구현</a:t>
            </a:r>
            <a:endParaRPr lang="en-US" sz="1300" dirty="0"/>
          </a:p>
        </p:txBody>
      </p:sp>
      <p:sp>
        <p:nvSpPr>
          <p:cNvPr id="12" name="Text 10"/>
          <p:cNvSpPr/>
          <p:nvPr/>
        </p:nvSpPr>
        <p:spPr>
          <a:xfrm>
            <a:off x="5791200" y="1833811"/>
            <a:ext cx="5755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66A"/>
                </a:solidFill>
                <a:latin typeface="Noto Sans KR" pitchFamily="34" charset="0"/>
                <a:ea typeface="Noto Sans KR" pitchFamily="34" charset="-122"/>
                <a:cs typeface="Noto Sans KR" pitchFamily="34" charset="-120"/>
              </a:rPr>
              <a:t>전형적인 PHP 페이지 (요약)</a:t>
            </a:r>
            <a:endParaRPr lang="en-US" sz="1200" dirty="0"/>
          </a:p>
        </p:txBody>
      </p:sp>
      <p:sp>
        <p:nvSpPr>
          <p:cNvPr id="13" name="Text 11"/>
          <p:cNvSpPr/>
          <p:nvPr/>
        </p:nvSpPr>
        <p:spPr>
          <a:xfrm>
            <a:off x="5791200" y="2148731"/>
            <a:ext cx="5588000" cy="2567831"/>
          </a:xfrm>
          <a:prstGeom prst="roundRect">
            <a:avLst>
              <a:gd name="adj" fmla="val 3957"/>
            </a:avLst>
          </a:prstGeom>
          <a:solidFill>
            <a:srgbClr val="0E1A2B"/>
          </a:solidFill>
          <a:ln/>
        </p:spPr>
        <p:txBody>
          <a:bodyPr wrap="none" lIns="148042" tIns="122642" rIns="0"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&lt;?php</a:t>
            </a:r>
            <a:endParaRPr lang="en-US" sz="1200" dirty="0"/>
          </a:p>
          <a:p>
            <a:pPr algn="l" indent="0" marL="0">
              <a:lnSpc>
                <a:spcPts val="1620"/>
              </a:lnSpc>
              <a:buNone/>
            </a:pPr>
            <a:r>
              <a:rPr lang="en-US" sz="1200" dirty="0">
                <a:solidFill>
                  <a:srgbClr val="F2A65A"/>
                </a:solidFill>
                <a:latin typeface="JetBrains Mono" pitchFamily="49" charset="0"/>
                <a:ea typeface="JetBrains Mono" pitchFamily="49" charset="-122"/>
                <a:cs typeface="JetBrains Mono" pitchFamily="49" charset="-120"/>
              </a:rPr>
              <a:t>$db = mysqli_connect("localhost", "root", "pw");</a:t>
            </a:r>
            <a:endParaRPr lang="en-US" sz="1200" dirty="0"/>
          </a:p>
          <a:p>
            <a:pPr algn="l" indent="0" marL="0">
              <a:lnSpc>
                <a:spcPts val="1620"/>
              </a:lnSpc>
              <a:buNone/>
            </a:pPr>
            <a:r>
              <a:rPr lang="en-US" sz="1200" dirty="0">
                <a:solidFill>
                  <a:srgbClr val="F2A65A"/>
                </a:solidFill>
                <a:latin typeface="JetBrains Mono" pitchFamily="49" charset="0"/>
                <a:ea typeface="JetBrains Mono" pitchFamily="49" charset="-122"/>
                <a:cs typeface="JetBrains Mono" pitchFamily="49" charset="-120"/>
              </a:rPr>
              <a:t>$rows = mysqli_query($db,</a:t>
            </a:r>
            <a:endParaRPr lang="en-US" sz="1200" dirty="0"/>
          </a:p>
          <a:p>
            <a:pPr algn="l" indent="0" marL="0">
              <a:lnSpc>
                <a:spcPts val="1620"/>
              </a:lnSpc>
              <a:buNone/>
            </a:pPr>
            <a:r>
              <a:rPr lang="en-US" sz="1200" dirty="0">
                <a:solidFill>
                  <a:srgbClr val="F2A65A"/>
                </a:solidFill>
                <a:latin typeface="JetBrains Mono" pitchFamily="49" charset="0"/>
                <a:ea typeface="JetBrains Mono" pitchFamily="49" charset="-122"/>
                <a:cs typeface="JetBrains Mono" pitchFamily="49" charset="-120"/>
              </a:rPr>
              <a:t>  "SELECT * FROM orders WHERE user=" . $_GET['u']);</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&lt;table&gt;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&lt;?php while ($r = mysqli_fetch_assoc($rows)) { ?&gt;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&lt;tr&gt;&lt;td&gt;&lt;?= $r['item'] ?&gt;&lt;/td&gt;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&lt;td&gt;&lt;?= $r['price'] </a:t>
            </a:r>
            <a:r>
              <a:rPr lang="en-US" sz="1200" dirty="0">
                <a:solidFill>
                  <a:srgbClr val="4FD1C1"/>
                </a:solidFill>
                <a:latin typeface="JetBrains Mono" pitchFamily="49" charset="0"/>
                <a:ea typeface="JetBrains Mono" pitchFamily="49" charset="-122"/>
                <a:cs typeface="JetBrains Mono" pitchFamily="49" charset="-120"/>
              </a:rPr>
              <a:t>* 1.1</a:t>
            </a:r>
            <a:r>
              <a:rPr lang="en-US" sz="1200" dirty="0">
                <a:solidFill>
                  <a:srgbClr val="D6E2E0"/>
                </a:solidFill>
                <a:latin typeface="JetBrains Mono" pitchFamily="49" charset="0"/>
                <a:ea typeface="JetBrains Mono" pitchFamily="49" charset="-122"/>
                <a:cs typeface="JetBrains Mono" pitchFamily="49" charset="-120"/>
              </a:rPr>
              <a:t> ?&gt;&lt;/td&gt;&lt;/tr&gt;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&lt;?php } ?&gt;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&lt;/table&gt;</a:t>
            </a:r>
            <a:endParaRPr lang="en-US" sz="1200" dirty="0"/>
          </a:p>
        </p:txBody>
      </p:sp>
      <p:sp>
        <p:nvSpPr>
          <p:cNvPr id="14" name="Text 12"/>
          <p:cNvSpPr/>
          <p:nvPr/>
        </p:nvSpPr>
        <p:spPr>
          <a:xfrm>
            <a:off x="5791200" y="4818162"/>
            <a:ext cx="575564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85A16"/>
                </a:solidFill>
                <a:latin typeface="Noto Sans KR" pitchFamily="34" charset="0"/>
                <a:ea typeface="Noto Sans KR" pitchFamily="34" charset="-122"/>
                <a:cs typeface="Noto Sans KR" pitchFamily="34" charset="-120"/>
              </a:rPr>
              <a:t>주황</a:t>
            </a:r>
            <a:r>
              <a:rPr lang="en-US" sz="1200" dirty="0">
                <a:solidFill>
                  <a:srgbClr val="46566A"/>
                </a:solidFill>
                <a:latin typeface="Noto Sans KR" pitchFamily="34" charset="0"/>
                <a:ea typeface="Noto Sans KR" pitchFamily="34" charset="-122"/>
                <a:cs typeface="Noto Sans KR" pitchFamily="34" charset="-120"/>
              </a:rPr>
              <a:t> = DB 접근 · </a:t>
            </a:r>
            <a:r>
              <a:rPr lang="en-US" sz="1200" dirty="0">
                <a:solidFill>
                  <a:srgbClr val="157A6E"/>
                </a:solidFill>
                <a:latin typeface="Noto Sans KR" pitchFamily="34" charset="0"/>
                <a:ea typeface="Noto Sans KR" pitchFamily="34" charset="-122"/>
                <a:cs typeface="Noto Sans KR" pitchFamily="34" charset="-120"/>
              </a:rPr>
              <a:t>청록</a:t>
            </a:r>
            <a:r>
              <a:rPr lang="en-US" sz="1200" dirty="0">
                <a:solidFill>
                  <a:srgbClr val="46566A"/>
                </a:solidFill>
                <a:latin typeface="Noto Sans KR" pitchFamily="34" charset="0"/>
                <a:ea typeface="Noto Sans KR" pitchFamily="34" charset="-122"/>
                <a:cs typeface="Noto Sans KR" pitchFamily="34" charset="-120"/>
              </a:rPr>
              <a:t> = 업무 규칙(부가세 10%) · 나머지 = 화면</a:t>
            </a:r>
            <a:endParaRPr lang="en-US" sz="1200" dirty="0"/>
          </a:p>
          <a:p>
            <a:pPr algn="l" indent="0" marL="0">
              <a:lnSpc>
                <a:spcPts val="1800"/>
              </a:lnSpc>
              <a:buNone/>
            </a:pPr>
            <a:r>
              <a:rPr lang="en-US" sz="1200" dirty="0">
                <a:solidFill>
                  <a:srgbClr val="46566A"/>
                </a:solidFill>
                <a:latin typeface="Noto Sans KR" pitchFamily="34" charset="0"/>
                <a:ea typeface="Noto Sans KR" pitchFamily="34" charset="-122"/>
                <a:cs typeface="Noto Sans KR" pitchFamily="34" charset="-120"/>
              </a:rPr>
              <a:t>문자열을 이어 붙인 쿼리는 SQL 인젝션 위험까지 안고 있다</a:t>
            </a:r>
            <a:endParaRPr lang="en-US" sz="12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03 / 27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01 · 배경과 역사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전환점: 무엇이 분리를 이끌었나</a:t>
            </a:r>
            <a:endParaRPr lang="en-US" sz="2800" dirty="0"/>
          </a:p>
        </p:txBody>
      </p:sp>
      <p:sp>
        <p:nvSpPr>
          <p:cNvPr id="4" name="Shape 2"/>
          <p:cNvSpPr/>
          <p:nvPr/>
        </p:nvSpPr>
        <p:spPr>
          <a:xfrm>
            <a:off x="812800" y="1846511"/>
            <a:ext cx="1634034" cy="0"/>
          </a:xfrm>
          <a:prstGeom prst="line">
            <a:avLst/>
          </a:prstGeom>
          <a:noFill/>
          <a:ln w="25400">
            <a:solidFill>
              <a:srgbClr val="157A6E"/>
            </a:solidFill>
            <a:prstDash val="solid"/>
          </a:ln>
        </p:spPr>
      </p:sp>
      <p:sp>
        <p:nvSpPr>
          <p:cNvPr id="5" name="Text 3"/>
          <p:cNvSpPr/>
          <p:nvPr/>
        </p:nvSpPr>
        <p:spPr>
          <a:xfrm>
            <a:off x="812800" y="2011611"/>
            <a:ext cx="1684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2000</a:t>
            </a:r>
            <a:endParaRPr lang="en-US" sz="1600" dirty="0"/>
          </a:p>
        </p:txBody>
      </p:sp>
      <p:sp>
        <p:nvSpPr>
          <p:cNvPr id="6" name="Text 4"/>
          <p:cNvSpPr/>
          <p:nvPr/>
        </p:nvSpPr>
        <p:spPr>
          <a:xfrm>
            <a:off x="812800" y="2372271"/>
            <a:ext cx="168483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REST</a:t>
            </a:r>
            <a:endParaRPr lang="en-US" sz="1300" dirty="0"/>
          </a:p>
        </p:txBody>
      </p:sp>
      <p:sp>
        <p:nvSpPr>
          <p:cNvPr id="7" name="Text 5"/>
          <p:cNvSpPr/>
          <p:nvPr/>
        </p:nvSpPr>
        <p:spPr>
          <a:xfrm>
            <a:off x="812800" y="2646561"/>
            <a:ext cx="168483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로이 필딩의 박사 논문 — 자원은 URL로, 동작은 HTTP 메서드로</a:t>
            </a:r>
            <a:endParaRPr lang="en-US" sz="1200" dirty="0"/>
          </a:p>
        </p:txBody>
      </p:sp>
      <p:sp>
        <p:nvSpPr>
          <p:cNvPr id="8" name="Shape 6"/>
          <p:cNvSpPr/>
          <p:nvPr/>
        </p:nvSpPr>
        <p:spPr>
          <a:xfrm>
            <a:off x="2599234" y="1846511"/>
            <a:ext cx="1634083" cy="0"/>
          </a:xfrm>
          <a:prstGeom prst="line">
            <a:avLst/>
          </a:prstGeom>
          <a:noFill/>
          <a:ln w="25400">
            <a:solidFill>
              <a:srgbClr val="157A6E"/>
            </a:solidFill>
            <a:prstDash val="solid"/>
          </a:ln>
        </p:spPr>
      </p:sp>
      <p:sp>
        <p:nvSpPr>
          <p:cNvPr id="9" name="Text 7"/>
          <p:cNvSpPr/>
          <p:nvPr/>
        </p:nvSpPr>
        <p:spPr>
          <a:xfrm>
            <a:off x="2599234" y="2011611"/>
            <a:ext cx="16848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2005</a:t>
            </a:r>
            <a:endParaRPr lang="en-US" sz="1600" dirty="0"/>
          </a:p>
        </p:txBody>
      </p:sp>
      <p:sp>
        <p:nvSpPr>
          <p:cNvPr id="10" name="Text 8"/>
          <p:cNvSpPr/>
          <p:nvPr/>
        </p:nvSpPr>
        <p:spPr>
          <a:xfrm>
            <a:off x="2599234" y="2372271"/>
            <a:ext cx="16848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AJAX</a:t>
            </a:r>
            <a:endParaRPr lang="en-US" sz="1300" dirty="0"/>
          </a:p>
        </p:txBody>
      </p:sp>
      <p:sp>
        <p:nvSpPr>
          <p:cNvPr id="11" name="Text 9"/>
          <p:cNvSpPr/>
          <p:nvPr/>
        </p:nvSpPr>
        <p:spPr>
          <a:xfrm>
            <a:off x="2599234" y="2646561"/>
            <a:ext cx="168488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페이지 이동 없이 데이터만 주고받는 방식에 이름이 붙음</a:t>
            </a:r>
            <a:endParaRPr lang="en-US" sz="1200" dirty="0"/>
          </a:p>
        </p:txBody>
      </p:sp>
      <p:sp>
        <p:nvSpPr>
          <p:cNvPr id="12" name="Shape 10"/>
          <p:cNvSpPr/>
          <p:nvPr/>
        </p:nvSpPr>
        <p:spPr>
          <a:xfrm>
            <a:off x="4385717" y="1846511"/>
            <a:ext cx="1634083" cy="0"/>
          </a:xfrm>
          <a:prstGeom prst="line">
            <a:avLst/>
          </a:prstGeom>
          <a:noFill/>
          <a:ln w="25400">
            <a:solidFill>
              <a:srgbClr val="157A6E"/>
            </a:solidFill>
            <a:prstDash val="solid"/>
          </a:ln>
        </p:spPr>
      </p:sp>
      <p:sp>
        <p:nvSpPr>
          <p:cNvPr id="13" name="Text 11"/>
          <p:cNvSpPr/>
          <p:nvPr/>
        </p:nvSpPr>
        <p:spPr>
          <a:xfrm>
            <a:off x="4385717" y="2011611"/>
            <a:ext cx="16848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2007</a:t>
            </a:r>
            <a:endParaRPr lang="en-US" sz="1600" dirty="0"/>
          </a:p>
        </p:txBody>
      </p:sp>
      <p:sp>
        <p:nvSpPr>
          <p:cNvPr id="14" name="Text 12"/>
          <p:cNvSpPr/>
          <p:nvPr/>
        </p:nvSpPr>
        <p:spPr>
          <a:xfrm>
            <a:off x="4385717" y="2372271"/>
            <a:ext cx="16848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스마트폰</a:t>
            </a:r>
            <a:endParaRPr lang="en-US" sz="1300" dirty="0"/>
          </a:p>
        </p:txBody>
      </p:sp>
      <p:sp>
        <p:nvSpPr>
          <p:cNvPr id="15" name="Text 13"/>
          <p:cNvSpPr/>
          <p:nvPr/>
        </p:nvSpPr>
        <p:spPr>
          <a:xfrm>
            <a:off x="4385717" y="2646561"/>
            <a:ext cx="168488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브라우저 밖 클라이언트 폭증 — 앱도 같은 데이터를 요청</a:t>
            </a:r>
            <a:endParaRPr lang="en-US" sz="1200" dirty="0"/>
          </a:p>
        </p:txBody>
      </p:sp>
      <p:sp>
        <p:nvSpPr>
          <p:cNvPr id="16" name="Shape 14"/>
          <p:cNvSpPr/>
          <p:nvPr/>
        </p:nvSpPr>
        <p:spPr>
          <a:xfrm>
            <a:off x="6172200" y="1846511"/>
            <a:ext cx="1634034" cy="0"/>
          </a:xfrm>
          <a:prstGeom prst="line">
            <a:avLst/>
          </a:prstGeom>
          <a:noFill/>
          <a:ln w="25400">
            <a:solidFill>
              <a:srgbClr val="157A6E"/>
            </a:solidFill>
            <a:prstDash val="solid"/>
          </a:ln>
        </p:spPr>
      </p:sp>
      <p:sp>
        <p:nvSpPr>
          <p:cNvPr id="17" name="Text 15"/>
          <p:cNvSpPr/>
          <p:nvPr/>
        </p:nvSpPr>
        <p:spPr>
          <a:xfrm>
            <a:off x="6172200" y="2011611"/>
            <a:ext cx="1684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2009</a:t>
            </a:r>
            <a:endParaRPr lang="en-US" sz="1600" dirty="0"/>
          </a:p>
        </p:txBody>
      </p:sp>
      <p:sp>
        <p:nvSpPr>
          <p:cNvPr id="18" name="Text 16"/>
          <p:cNvSpPr/>
          <p:nvPr/>
        </p:nvSpPr>
        <p:spPr>
          <a:xfrm>
            <a:off x="6172200" y="2372271"/>
            <a:ext cx="168483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Node.js</a:t>
            </a:r>
            <a:endParaRPr lang="en-US" sz="1300" dirty="0"/>
          </a:p>
        </p:txBody>
      </p:sp>
      <p:sp>
        <p:nvSpPr>
          <p:cNvPr id="19" name="Text 17"/>
          <p:cNvSpPr/>
          <p:nvPr/>
        </p:nvSpPr>
        <p:spPr>
          <a:xfrm>
            <a:off x="6172200" y="2646561"/>
            <a:ext cx="168483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JavaScript로 서버 작성 — JSON API가 표준처럼 확산</a:t>
            </a:r>
            <a:endParaRPr lang="en-US" sz="1200" dirty="0"/>
          </a:p>
        </p:txBody>
      </p:sp>
      <p:sp>
        <p:nvSpPr>
          <p:cNvPr id="20" name="Shape 18"/>
          <p:cNvSpPr/>
          <p:nvPr/>
        </p:nvSpPr>
        <p:spPr>
          <a:xfrm>
            <a:off x="7958634" y="1846511"/>
            <a:ext cx="1634083" cy="0"/>
          </a:xfrm>
          <a:prstGeom prst="line">
            <a:avLst/>
          </a:prstGeom>
          <a:noFill/>
          <a:ln w="25400">
            <a:solidFill>
              <a:srgbClr val="157A6E"/>
            </a:solidFill>
            <a:prstDash val="solid"/>
          </a:ln>
        </p:spPr>
      </p:sp>
      <p:sp>
        <p:nvSpPr>
          <p:cNvPr id="21" name="Text 19"/>
          <p:cNvSpPr/>
          <p:nvPr/>
        </p:nvSpPr>
        <p:spPr>
          <a:xfrm>
            <a:off x="7958634" y="2011611"/>
            <a:ext cx="16848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2010–14</a:t>
            </a:r>
            <a:endParaRPr lang="en-US" sz="1600" dirty="0"/>
          </a:p>
        </p:txBody>
      </p:sp>
      <p:sp>
        <p:nvSpPr>
          <p:cNvPr id="22" name="Text 20"/>
          <p:cNvSpPr/>
          <p:nvPr/>
        </p:nvSpPr>
        <p:spPr>
          <a:xfrm>
            <a:off x="7958634" y="2372271"/>
            <a:ext cx="16848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SPA 프레임워크</a:t>
            </a:r>
            <a:endParaRPr lang="en-US" sz="1300" dirty="0"/>
          </a:p>
        </p:txBody>
      </p:sp>
      <p:sp>
        <p:nvSpPr>
          <p:cNvPr id="23" name="Text 21"/>
          <p:cNvSpPr/>
          <p:nvPr/>
        </p:nvSpPr>
        <p:spPr>
          <a:xfrm>
            <a:off x="7958634" y="2646561"/>
            <a:ext cx="168488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AngularJS · React · Vue — 화면은 브라우저가 직접 그림</a:t>
            </a:r>
            <a:endParaRPr lang="en-US" sz="1200" dirty="0"/>
          </a:p>
        </p:txBody>
      </p:sp>
      <p:sp>
        <p:nvSpPr>
          <p:cNvPr id="24" name="Shape 22"/>
          <p:cNvSpPr/>
          <p:nvPr/>
        </p:nvSpPr>
        <p:spPr>
          <a:xfrm>
            <a:off x="9745117" y="1846511"/>
            <a:ext cx="1634083" cy="0"/>
          </a:xfrm>
          <a:prstGeom prst="line">
            <a:avLst/>
          </a:prstGeom>
          <a:noFill/>
          <a:ln w="25400">
            <a:solidFill>
              <a:srgbClr val="157A6E"/>
            </a:solidFill>
            <a:prstDash val="solid"/>
          </a:ln>
        </p:spPr>
      </p:sp>
      <p:sp>
        <p:nvSpPr>
          <p:cNvPr id="25" name="Text 23"/>
          <p:cNvSpPr/>
          <p:nvPr/>
        </p:nvSpPr>
        <p:spPr>
          <a:xfrm>
            <a:off x="9745117" y="2011611"/>
            <a:ext cx="16848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7A6E"/>
                </a:solidFill>
                <a:latin typeface="JetBrains Mono" pitchFamily="49" charset="0"/>
                <a:ea typeface="JetBrains Mono" pitchFamily="49" charset="-122"/>
                <a:cs typeface="JetBrains Mono" pitchFamily="49" charset="-120"/>
              </a:rPr>
              <a:t>2013–14</a:t>
            </a:r>
            <a:endParaRPr lang="en-US" sz="1600" dirty="0"/>
          </a:p>
        </p:txBody>
      </p:sp>
      <p:sp>
        <p:nvSpPr>
          <p:cNvPr id="26" name="Text 24"/>
          <p:cNvSpPr/>
          <p:nvPr/>
        </p:nvSpPr>
        <p:spPr>
          <a:xfrm>
            <a:off x="9745117" y="2372271"/>
            <a:ext cx="16848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E1A2B"/>
                </a:solidFill>
                <a:latin typeface="Noto Sans KR" pitchFamily="34" charset="0"/>
                <a:ea typeface="Noto Sans KR" pitchFamily="34" charset="-122"/>
                <a:cs typeface="Noto Sans KR" pitchFamily="34" charset="-120"/>
              </a:rPr>
              <a:t>Docker · Compose</a:t>
            </a:r>
            <a:endParaRPr lang="en-US" sz="1300" dirty="0"/>
          </a:p>
        </p:txBody>
      </p:sp>
      <p:sp>
        <p:nvSpPr>
          <p:cNvPr id="27" name="Text 25"/>
          <p:cNvSpPr/>
          <p:nvPr/>
        </p:nvSpPr>
        <p:spPr>
          <a:xfrm>
            <a:off x="9745117" y="2646561"/>
            <a:ext cx="168488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층마다 컨테이너로 묶어 함께 실행하는 길이 열림</a:t>
            </a:r>
            <a:endParaRPr lang="en-US" sz="1200" dirty="0"/>
          </a:p>
        </p:txBody>
      </p:sp>
      <p:sp>
        <p:nvSpPr>
          <p:cNvPr id="28" name="Text 26"/>
          <p:cNvSpPr/>
          <p:nvPr/>
        </p:nvSpPr>
        <p:spPr>
          <a:xfrm>
            <a:off x="812800" y="3614241"/>
            <a:ext cx="10566400" cy="654050"/>
          </a:xfrm>
          <a:prstGeom prst="roundRect">
            <a:avLst>
              <a:gd name="adj" fmla="val 15534"/>
            </a:avLst>
          </a:prstGeom>
          <a:solidFill>
            <a:srgbClr val="DDEFEC"/>
          </a:solidFill>
          <a:ln/>
        </p:spPr>
        <p:txBody>
          <a:bodyPr wrap="square" lIns="224242" tIns="173442" rIns="0" bIns="148042"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결과:</a:t>
            </a:r>
            <a:r>
              <a:rPr lang="en-US" sz="1300" dirty="0">
                <a:solidFill>
                  <a:srgbClr val="0E1A2B"/>
                </a:solidFill>
                <a:latin typeface="Noto Sans KR" pitchFamily="34" charset="0"/>
                <a:ea typeface="Noto Sans KR" pitchFamily="34" charset="-122"/>
                <a:cs typeface="Noto Sans KR" pitchFamily="34" charset="-120"/>
              </a:rPr>
              <a:t> 화면을 그리는 쪽(프런트엔드)과 데이터 · 규칙을 다루는 쪽(백엔드)이 </a:t>
            </a:r>
            <a:r>
              <a:rPr lang="en-US" sz="1300" b="1" dirty="0">
                <a:solidFill>
                  <a:srgbClr val="0E1A2B"/>
                </a:solidFill>
                <a:latin typeface="Noto Sans KR" pitchFamily="34" charset="0"/>
                <a:ea typeface="Noto Sans KR" pitchFamily="34" charset="-122"/>
                <a:cs typeface="Noto Sans KR" pitchFamily="34" charset="-120"/>
              </a:rPr>
              <a:t>HTTP + JSON이라는 계약(API)</a:t>
            </a:r>
            <a:r>
              <a:rPr lang="en-US" sz="1300" dirty="0">
                <a:solidFill>
                  <a:srgbClr val="0E1A2B"/>
                </a:solidFill>
                <a:latin typeface="Noto Sans KR" pitchFamily="34" charset="0"/>
                <a:ea typeface="Noto Sans KR" pitchFamily="34" charset="-122"/>
                <a:cs typeface="Noto Sans KR" pitchFamily="34" charset="-120"/>
              </a:rPr>
              <a:t>으로만 대화하게 되었다.</a:t>
            </a:r>
            <a:endParaRPr lang="en-US" sz="13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04 / 27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01 · 배경과 역사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분리 이후: 무엇이 나아졌나</a:t>
            </a:r>
            <a:endParaRPr lang="en-US" sz="2800" dirty="0"/>
          </a:p>
        </p:txBody>
      </p:sp>
      <p:sp>
        <p:nvSpPr>
          <p:cNvPr id="4" name="Shape 2"/>
          <p:cNvSpPr/>
          <p:nvPr/>
        </p:nvSpPr>
        <p:spPr>
          <a:xfrm>
            <a:off x="815975" y="1836986"/>
            <a:ext cx="3414167" cy="1567111"/>
          </a:xfrm>
          <a:prstGeom prst="roundRect">
            <a:avLst>
              <a:gd name="adj" fmla="val 6281"/>
            </a:avLst>
          </a:prstGeom>
          <a:solidFill>
            <a:srgbClr val="FCFDFC"/>
          </a:solidFill>
          <a:ln w="6350">
            <a:solidFill>
              <a:srgbClr val="D5DEDB"/>
            </a:solidFill>
            <a:prstDash val="solid"/>
          </a:ln>
        </p:spPr>
      </p:sp>
      <p:pic>
        <p:nvPicPr>
          <p:cNvPr id="5" name="Image 0" descr="Users">    </p:cNvPr>
          <p:cNvPicPr>
            <a:picLocks noChangeAspect="1"/>
          </p:cNvPicPr>
          <p:nvPr/>
        </p:nvPicPr>
        <p:blipFill>
          <a:blip r:embed="rId1"/>
          <a:srcRect l="0" r="0" t="0" b="0"/>
          <a:stretch/>
        </p:blipFill>
        <p:spPr>
          <a:xfrm>
            <a:off x="1022350" y="2043361"/>
            <a:ext cx="279400" cy="279400"/>
          </a:xfrm>
          <a:prstGeom prst="rect">
            <a:avLst/>
          </a:prstGeom>
        </p:spPr>
      </p:pic>
      <p:sp>
        <p:nvSpPr>
          <p:cNvPr id="6" name="Text 3"/>
          <p:cNvSpPr/>
          <p:nvPr/>
        </p:nvSpPr>
        <p:spPr>
          <a:xfrm>
            <a:off x="1022350" y="23989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역할 분리</a:t>
            </a:r>
            <a:endParaRPr lang="en-US" sz="1600" dirty="0"/>
          </a:p>
        </p:txBody>
      </p:sp>
      <p:sp>
        <p:nvSpPr>
          <p:cNvPr id="7" name="Text 4"/>
          <p:cNvSpPr/>
          <p:nvPr/>
        </p:nvSpPr>
        <p:spPr>
          <a:xfrm>
            <a:off x="1022350" y="2718991"/>
            <a:ext cx="309145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6566A"/>
                </a:solidFill>
                <a:latin typeface="Noto Sans KR" pitchFamily="34" charset="0"/>
                <a:ea typeface="Noto Sans KR" pitchFamily="34" charset="-122"/>
                <a:cs typeface="Noto Sans KR" pitchFamily="34" charset="-120"/>
              </a:rPr>
              <a:t>화면 담당과 로직 담당이 API 명세만 합의하고 동시에 개발</a:t>
            </a:r>
            <a:endParaRPr lang="en-US" sz="1300" dirty="0"/>
          </a:p>
        </p:txBody>
      </p:sp>
      <p:sp>
        <p:nvSpPr>
          <p:cNvPr id="8" name="Shape 5"/>
          <p:cNvSpPr/>
          <p:nvPr/>
        </p:nvSpPr>
        <p:spPr>
          <a:xfrm>
            <a:off x="4388892" y="1836986"/>
            <a:ext cx="3414167" cy="1567111"/>
          </a:xfrm>
          <a:prstGeom prst="roundRect">
            <a:avLst>
              <a:gd name="adj" fmla="val 6281"/>
            </a:avLst>
          </a:prstGeom>
          <a:solidFill>
            <a:srgbClr val="FCFDFC"/>
          </a:solidFill>
          <a:ln w="6350">
            <a:solidFill>
              <a:srgbClr val="D5DEDB"/>
            </a:solidFill>
            <a:prstDash val="solid"/>
          </a:ln>
        </p:spPr>
      </p:sp>
      <p:pic>
        <p:nvPicPr>
          <p:cNvPr id="9" name="Image 1" descr="Link">    </p:cNvPr>
          <p:cNvPicPr>
            <a:picLocks noChangeAspect="1"/>
          </p:cNvPicPr>
          <p:nvPr/>
        </p:nvPicPr>
        <p:blipFill>
          <a:blip r:embed="rId2"/>
          <a:srcRect l="0" r="0" t="0" b="0"/>
          <a:stretch/>
        </p:blipFill>
        <p:spPr>
          <a:xfrm>
            <a:off x="4595267" y="2043361"/>
            <a:ext cx="279400" cy="279400"/>
          </a:xfrm>
          <a:prstGeom prst="rect">
            <a:avLst/>
          </a:prstGeom>
        </p:spPr>
      </p:pic>
      <p:sp>
        <p:nvSpPr>
          <p:cNvPr id="10" name="Text 6"/>
          <p:cNvSpPr/>
          <p:nvPr/>
        </p:nvSpPr>
        <p:spPr>
          <a:xfrm>
            <a:off x="4595267" y="23989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클라이언트 재사용</a:t>
            </a:r>
            <a:endParaRPr lang="en-US" sz="1600" dirty="0"/>
          </a:p>
        </p:txBody>
      </p:sp>
      <p:sp>
        <p:nvSpPr>
          <p:cNvPr id="11" name="Text 7"/>
          <p:cNvSpPr/>
          <p:nvPr/>
        </p:nvSpPr>
        <p:spPr>
          <a:xfrm>
            <a:off x="4595267" y="2718991"/>
            <a:ext cx="309145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6566A"/>
                </a:solidFill>
                <a:latin typeface="Noto Sans KR" pitchFamily="34" charset="0"/>
                <a:ea typeface="Noto Sans KR" pitchFamily="34" charset="-122"/>
                <a:cs typeface="Noto Sans KR" pitchFamily="34" charset="-120"/>
              </a:rPr>
              <a:t>웹 · 모바일 · n8n · 다른 서버가 같은 API를 호출</a:t>
            </a:r>
            <a:endParaRPr lang="en-US" sz="1300" dirty="0"/>
          </a:p>
        </p:txBody>
      </p:sp>
      <p:sp>
        <p:nvSpPr>
          <p:cNvPr id="12" name="Shape 8"/>
          <p:cNvSpPr/>
          <p:nvPr/>
        </p:nvSpPr>
        <p:spPr>
          <a:xfrm>
            <a:off x="7961809" y="1836986"/>
            <a:ext cx="3414216" cy="1567111"/>
          </a:xfrm>
          <a:prstGeom prst="roundRect">
            <a:avLst>
              <a:gd name="adj" fmla="val 6281"/>
            </a:avLst>
          </a:prstGeom>
          <a:solidFill>
            <a:srgbClr val="FCFDFC"/>
          </a:solidFill>
          <a:ln w="6350">
            <a:solidFill>
              <a:srgbClr val="D5DEDB"/>
            </a:solidFill>
            <a:prstDash val="solid"/>
          </a:ln>
        </p:spPr>
      </p:sp>
      <p:pic>
        <p:nvPicPr>
          <p:cNvPr id="13" name="Image 2" descr="PaperPlane">    </p:cNvPr>
          <p:cNvPicPr>
            <a:picLocks noChangeAspect="1"/>
          </p:cNvPicPr>
          <p:nvPr/>
        </p:nvPicPr>
        <p:blipFill>
          <a:blip r:embed="rId3"/>
          <a:srcRect l="0" r="0" t="0" b="0"/>
          <a:stretch/>
        </p:blipFill>
        <p:spPr>
          <a:xfrm>
            <a:off x="8168184" y="2043361"/>
            <a:ext cx="279400" cy="279400"/>
          </a:xfrm>
          <a:prstGeom prst="rect">
            <a:avLst/>
          </a:prstGeom>
        </p:spPr>
      </p:pic>
      <p:sp>
        <p:nvSpPr>
          <p:cNvPr id="14" name="Text 9"/>
          <p:cNvSpPr/>
          <p:nvPr/>
        </p:nvSpPr>
        <p:spPr>
          <a:xfrm>
            <a:off x="8168184" y="239896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독립 배포</a:t>
            </a:r>
            <a:endParaRPr lang="en-US" sz="1600" dirty="0"/>
          </a:p>
        </p:txBody>
      </p:sp>
      <p:sp>
        <p:nvSpPr>
          <p:cNvPr id="15" name="Text 10"/>
          <p:cNvSpPr/>
          <p:nvPr/>
        </p:nvSpPr>
        <p:spPr>
          <a:xfrm>
            <a:off x="8168184" y="2718991"/>
            <a:ext cx="30915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6566A"/>
                </a:solidFill>
                <a:latin typeface="Noto Sans KR" pitchFamily="34" charset="0"/>
                <a:ea typeface="Noto Sans KR" pitchFamily="34" charset="-122"/>
                <a:cs typeface="Noto Sans KR" pitchFamily="34" charset="-120"/>
              </a:rPr>
              <a:t>화면 문구만 바꿔도 백엔드는 그대로 — 배포 단위가 작아짐</a:t>
            </a:r>
            <a:endParaRPr lang="en-US" sz="1300" dirty="0"/>
          </a:p>
        </p:txBody>
      </p:sp>
      <p:sp>
        <p:nvSpPr>
          <p:cNvPr id="16" name="Shape 11"/>
          <p:cNvSpPr/>
          <p:nvPr/>
        </p:nvSpPr>
        <p:spPr>
          <a:xfrm>
            <a:off x="815975" y="3562846"/>
            <a:ext cx="3414167" cy="1567111"/>
          </a:xfrm>
          <a:prstGeom prst="roundRect">
            <a:avLst>
              <a:gd name="adj" fmla="val 6281"/>
            </a:avLst>
          </a:prstGeom>
          <a:solidFill>
            <a:srgbClr val="FCFDFC"/>
          </a:solidFill>
          <a:ln w="6350">
            <a:solidFill>
              <a:srgbClr val="D5DEDB"/>
            </a:solidFill>
            <a:prstDash val="solid"/>
          </a:ln>
        </p:spPr>
      </p:sp>
      <p:pic>
        <p:nvPicPr>
          <p:cNvPr id="17" name="Image 3" descr="Activity">    </p:cNvPr>
          <p:cNvPicPr>
            <a:picLocks noChangeAspect="1"/>
          </p:cNvPicPr>
          <p:nvPr/>
        </p:nvPicPr>
        <p:blipFill>
          <a:blip r:embed="rId4"/>
          <a:srcRect l="0" r="0" t="0" b="0"/>
          <a:stretch/>
        </p:blipFill>
        <p:spPr>
          <a:xfrm>
            <a:off x="1022350" y="3769221"/>
            <a:ext cx="279400" cy="279400"/>
          </a:xfrm>
          <a:prstGeom prst="rect">
            <a:avLst/>
          </a:prstGeom>
        </p:spPr>
      </p:pic>
      <p:sp>
        <p:nvSpPr>
          <p:cNvPr id="18" name="Text 12"/>
          <p:cNvSpPr/>
          <p:nvPr/>
        </p:nvSpPr>
        <p:spPr>
          <a:xfrm>
            <a:off x="1022350" y="41248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독립 확장</a:t>
            </a:r>
            <a:endParaRPr lang="en-US" sz="1600" dirty="0"/>
          </a:p>
        </p:txBody>
      </p:sp>
      <p:sp>
        <p:nvSpPr>
          <p:cNvPr id="19" name="Text 13"/>
          <p:cNvSpPr/>
          <p:nvPr/>
        </p:nvSpPr>
        <p:spPr>
          <a:xfrm>
            <a:off x="1022350" y="4444851"/>
            <a:ext cx="3091459"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6566A"/>
                </a:solidFill>
                <a:latin typeface="Noto Sans KR" pitchFamily="34" charset="0"/>
                <a:ea typeface="Noto Sans KR" pitchFamily="34" charset="-122"/>
                <a:cs typeface="Noto Sans KR" pitchFamily="34" charset="-120"/>
              </a:rPr>
              <a:t>요청이 몰리는 백엔드만 컨테이너를 늘림</a:t>
            </a:r>
            <a:endParaRPr lang="en-US" sz="1300" dirty="0"/>
          </a:p>
        </p:txBody>
      </p:sp>
      <p:sp>
        <p:nvSpPr>
          <p:cNvPr id="20" name="Shape 14"/>
          <p:cNvSpPr/>
          <p:nvPr/>
        </p:nvSpPr>
        <p:spPr>
          <a:xfrm>
            <a:off x="4388892" y="3562846"/>
            <a:ext cx="3414167" cy="1567111"/>
          </a:xfrm>
          <a:prstGeom prst="roundRect">
            <a:avLst>
              <a:gd name="adj" fmla="val 6281"/>
            </a:avLst>
          </a:prstGeom>
          <a:solidFill>
            <a:srgbClr val="FCFDFC"/>
          </a:solidFill>
          <a:ln w="6350">
            <a:solidFill>
              <a:srgbClr val="D5DEDB"/>
            </a:solidFill>
            <a:prstDash val="solid"/>
          </a:ln>
        </p:spPr>
      </p:sp>
      <p:pic>
        <p:nvPicPr>
          <p:cNvPr id="21" name="Image 4" descr="Code">    </p:cNvPr>
          <p:cNvPicPr>
            <a:picLocks noChangeAspect="1"/>
          </p:cNvPicPr>
          <p:nvPr/>
        </p:nvPicPr>
        <p:blipFill>
          <a:blip r:embed="rId5"/>
          <a:srcRect l="0" r="0" t="0" b="0"/>
          <a:stretch/>
        </p:blipFill>
        <p:spPr>
          <a:xfrm>
            <a:off x="4595267" y="3769221"/>
            <a:ext cx="279400" cy="279400"/>
          </a:xfrm>
          <a:prstGeom prst="rect">
            <a:avLst/>
          </a:prstGeom>
        </p:spPr>
      </p:pic>
      <p:sp>
        <p:nvSpPr>
          <p:cNvPr id="22" name="Text 15"/>
          <p:cNvSpPr/>
          <p:nvPr/>
        </p:nvSpPr>
        <p:spPr>
          <a:xfrm>
            <a:off x="4595267" y="41248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기술 선택의 자유</a:t>
            </a:r>
            <a:endParaRPr lang="en-US" sz="1600" dirty="0"/>
          </a:p>
        </p:txBody>
      </p:sp>
      <p:sp>
        <p:nvSpPr>
          <p:cNvPr id="23" name="Text 16"/>
          <p:cNvSpPr/>
          <p:nvPr/>
        </p:nvSpPr>
        <p:spPr>
          <a:xfrm>
            <a:off x="4595267" y="4444851"/>
            <a:ext cx="3091459"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6566A"/>
                </a:solidFill>
                <a:latin typeface="Noto Sans KR" pitchFamily="34" charset="0"/>
                <a:ea typeface="Noto Sans KR" pitchFamily="34" charset="-122"/>
                <a:cs typeface="Noto Sans KR" pitchFamily="34" charset="-120"/>
              </a:rPr>
              <a:t>화면은 TypeScript, AI 로직은 Python, 수집기는 Go</a:t>
            </a:r>
            <a:endParaRPr lang="en-US" sz="1300" dirty="0"/>
          </a:p>
        </p:txBody>
      </p:sp>
      <p:sp>
        <p:nvSpPr>
          <p:cNvPr id="24" name="Shape 17"/>
          <p:cNvSpPr/>
          <p:nvPr/>
        </p:nvSpPr>
        <p:spPr>
          <a:xfrm>
            <a:off x="7961809" y="3562846"/>
            <a:ext cx="3414216" cy="1567111"/>
          </a:xfrm>
          <a:prstGeom prst="roundRect">
            <a:avLst>
              <a:gd name="adj" fmla="val 6281"/>
            </a:avLst>
          </a:prstGeom>
          <a:solidFill>
            <a:srgbClr val="FBF1E8"/>
          </a:solidFill>
          <a:ln w="6350">
            <a:solidFill>
              <a:srgbClr val="EBC9A8"/>
            </a:solidFill>
            <a:prstDash val="solid"/>
          </a:ln>
        </p:spPr>
      </p:sp>
      <p:pic>
        <p:nvPicPr>
          <p:cNvPr id="25" name="Image 5" descr="Warning">    </p:cNvPr>
          <p:cNvPicPr>
            <a:picLocks noChangeAspect="1"/>
          </p:cNvPicPr>
          <p:nvPr/>
        </p:nvPicPr>
        <p:blipFill>
          <a:blip r:embed="rId6"/>
          <a:srcRect l="0" r="0" t="0" b="0"/>
          <a:stretch/>
        </p:blipFill>
        <p:spPr>
          <a:xfrm>
            <a:off x="8168184" y="3769221"/>
            <a:ext cx="279400" cy="279400"/>
          </a:xfrm>
          <a:prstGeom prst="rect">
            <a:avLst/>
          </a:prstGeom>
        </p:spPr>
      </p:pic>
      <p:sp>
        <p:nvSpPr>
          <p:cNvPr id="26" name="Text 18"/>
          <p:cNvSpPr/>
          <p:nvPr/>
        </p:nvSpPr>
        <p:spPr>
          <a:xfrm>
            <a:off x="8168184" y="41248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04E10"/>
                </a:solidFill>
                <a:latin typeface="Noto Sans KR" pitchFamily="34" charset="0"/>
                <a:ea typeface="Noto Sans KR" pitchFamily="34" charset="-122"/>
                <a:cs typeface="Noto Sans KR" pitchFamily="34" charset="-120"/>
              </a:rPr>
              <a:t>대가도 있다</a:t>
            </a:r>
            <a:endParaRPr lang="en-US" sz="1600" dirty="0"/>
          </a:p>
        </p:txBody>
      </p:sp>
      <p:sp>
        <p:nvSpPr>
          <p:cNvPr id="27" name="Text 19"/>
          <p:cNvSpPr/>
          <p:nvPr/>
        </p:nvSpPr>
        <p:spPr>
          <a:xfrm>
            <a:off x="8168184" y="4444851"/>
            <a:ext cx="30915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A3A20"/>
                </a:solidFill>
                <a:latin typeface="Noto Sans KR" pitchFamily="34" charset="0"/>
                <a:ea typeface="Noto Sans KR" pitchFamily="34" charset="-122"/>
                <a:cs typeface="Noto Sans KR" pitchFamily="34" charset="-120"/>
              </a:rPr>
              <a:t>네트워크 왕복 · CORS · API 버전 관리 · 배포 대상 증가</a:t>
            </a:r>
            <a:endParaRPr lang="en-US" sz="1300" dirty="0"/>
          </a:p>
        </p:txBody>
      </p:sp>
      <p:sp>
        <p:nvSpPr>
          <p:cNvPr id="28" name="Text 20"/>
          <p:cNvSpPr/>
          <p:nvPr/>
        </p:nvSpPr>
        <p:spPr>
          <a:xfrm>
            <a:off x="812800" y="543793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그래서 </a:t>
            </a:r>
            <a:r>
              <a:rPr lang="en-US" sz="1300" b="1" dirty="0">
                <a:solidFill>
                  <a:srgbClr val="0E1A2B"/>
                </a:solidFill>
                <a:latin typeface="Noto Sans KR" pitchFamily="34" charset="0"/>
                <a:ea typeface="Noto Sans KR" pitchFamily="34" charset="-122"/>
                <a:cs typeface="Noto Sans KR" pitchFamily="34" charset="-120"/>
              </a:rPr>
              <a:t>구성도(누가 무엇을 하나)</a:t>
            </a:r>
            <a:r>
              <a:rPr lang="en-US" sz="1300" dirty="0">
                <a:solidFill>
                  <a:srgbClr val="46566A"/>
                </a:solidFill>
                <a:latin typeface="Noto Sans KR" pitchFamily="34" charset="0"/>
                <a:ea typeface="Noto Sans KR" pitchFamily="34" charset="-122"/>
                <a:cs typeface="Noto Sans KR" pitchFamily="34" charset="-120"/>
              </a:rPr>
              <a:t>와 </a:t>
            </a:r>
            <a:r>
              <a:rPr lang="en-US" sz="1300" b="1" dirty="0">
                <a:solidFill>
                  <a:srgbClr val="0E1A2B"/>
                </a:solidFill>
                <a:latin typeface="Noto Sans KR" pitchFamily="34" charset="0"/>
                <a:ea typeface="Noto Sans KR" pitchFamily="34" charset="-122"/>
                <a:cs typeface="Noto Sans KR" pitchFamily="34" charset="-120"/>
              </a:rPr>
              <a:t>배포 도구(어떻게 함께 띄우나)</a:t>
            </a:r>
            <a:r>
              <a:rPr lang="en-US" sz="1300" dirty="0">
                <a:solidFill>
                  <a:srgbClr val="46566A"/>
                </a:solidFill>
                <a:latin typeface="Noto Sans KR" pitchFamily="34" charset="0"/>
                <a:ea typeface="Noto Sans KR" pitchFamily="34" charset="-122"/>
                <a:cs typeface="Noto Sans KR" pitchFamily="34" charset="-120"/>
              </a:rPr>
              <a:t>가 필요해졌다.</a:t>
            </a:r>
            <a:endParaRPr lang="en-US" sz="1300" dirty="0"/>
          </a:p>
        </p:txBody>
      </p:sp>
      <p:sp>
        <p:nvSpPr>
          <p:cNvPr id="29"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0"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05 / 27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02 · 구성도</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세 개의 층, 두 개의 계약</a:t>
            </a:r>
            <a:endParaRPr lang="en-US" sz="2800" dirty="0"/>
          </a:p>
        </p:txBody>
      </p:sp>
      <p:sp>
        <p:nvSpPr>
          <p:cNvPr id="4" name="Shape 2"/>
          <p:cNvSpPr/>
          <p:nvPr/>
        </p:nvSpPr>
        <p:spPr>
          <a:xfrm>
            <a:off x="815975" y="1836986"/>
            <a:ext cx="2796084" cy="2294037"/>
          </a:xfrm>
          <a:prstGeom prst="roundRect">
            <a:avLst>
              <a:gd name="adj" fmla="val 4290"/>
            </a:avLst>
          </a:prstGeom>
          <a:solidFill>
            <a:srgbClr val="FCFDFC"/>
          </a:solidFill>
          <a:ln w="6350">
            <a:solidFill>
              <a:srgbClr val="D5DEDB"/>
            </a:solidFill>
            <a:prstDash val="solid"/>
          </a:ln>
        </p:spPr>
      </p:sp>
      <p:sp>
        <p:nvSpPr>
          <p:cNvPr id="5" name="Shape 3"/>
          <p:cNvSpPr/>
          <p:nvPr/>
        </p:nvSpPr>
        <p:spPr>
          <a:xfrm>
            <a:off x="819150" y="1840161"/>
            <a:ext cx="2789734" cy="736550"/>
          </a:xfrm>
          <a:custGeom>
            <a:avLst/>
            <a:gdLst/>
            <a:ahLst/>
            <a:cxnLst/>
            <a:rect l="l" t="t" r="r" b="b"/>
            <a:pathLst>
              <a:path w="2789734" h="736550">
                <a:moveTo>
                  <a:pt x="0" y="95250"/>
                </a:moveTo>
                <a:arcTo hR="95250" wR="95250" stAng="10800000" swAng="5400000"/>
                <a:lnTo>
                  <a:pt x="2694484" y="0"/>
                </a:lnTo>
                <a:arcTo hR="95250" wR="95250" stAng="16200000" swAng="5400000"/>
                <a:lnTo>
                  <a:pt x="2789734" y="736550"/>
                </a:lnTo>
                <a:lnTo>
                  <a:pt x="0" y="736550"/>
                </a:lnTo>
                <a:close/>
              </a:path>
            </a:pathLst>
          </a:custGeom>
          <a:solidFill>
            <a:srgbClr val="157A6E"/>
          </a:solidFill>
          <a:ln/>
        </p:spPr>
      </p:sp>
      <p:sp>
        <p:nvSpPr>
          <p:cNvPr id="6" name="Text 4"/>
          <p:cNvSpPr/>
          <p:nvPr/>
        </p:nvSpPr>
        <p:spPr>
          <a:xfrm>
            <a:off x="996950" y="1967161"/>
            <a:ext cx="25071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F3EF"/>
                </a:solidFill>
                <a:latin typeface="Noto Sans KR" pitchFamily="34" charset="0"/>
                <a:ea typeface="Noto Sans KR" pitchFamily="34" charset="-122"/>
                <a:cs typeface="Noto Sans KR" pitchFamily="34" charset="-120"/>
              </a:rPr>
              <a:t>Presentation Layer</a:t>
            </a:r>
            <a:endParaRPr lang="en-US" sz="1200" dirty="0"/>
          </a:p>
        </p:txBody>
      </p:sp>
      <p:sp>
        <p:nvSpPr>
          <p:cNvPr id="7" name="Text 5"/>
          <p:cNvSpPr/>
          <p:nvPr/>
        </p:nvSpPr>
        <p:spPr>
          <a:xfrm>
            <a:off x="996950" y="2205881"/>
            <a:ext cx="250715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DFC"/>
                </a:solidFill>
                <a:latin typeface="Noto Sans KR" pitchFamily="34" charset="0"/>
                <a:ea typeface="Noto Sans KR" pitchFamily="34" charset="-122"/>
                <a:cs typeface="Noto Sans KR" pitchFamily="34" charset="-120"/>
              </a:rPr>
              <a:t>프런트엔드</a:t>
            </a:r>
            <a:endParaRPr lang="en-US" sz="1600" dirty="0"/>
          </a:p>
        </p:txBody>
      </p:sp>
      <p:sp>
        <p:nvSpPr>
          <p:cNvPr id="8" name="Text 6"/>
          <p:cNvSpPr/>
          <p:nvPr/>
        </p:nvSpPr>
        <p:spPr>
          <a:xfrm>
            <a:off x="1069594" y="2729111"/>
            <a:ext cx="2426894" cy="743496"/>
          </a:xfrm>
          <a:prstGeom prst="rect">
            <a:avLst/>
          </a:prstGeom>
          <a:noFill/>
          <a:ln/>
        </p:spPr>
        <p:txBody>
          <a:bodyPr wrap="square" lIns="0" tIns="0" rIns="0" bIns="0" rtlCol="0" anchor="t">
            <a:normAutofit/>
          </a:bodyPr>
          <a:lstStyle/>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화면 그리기 · 입력 받기</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입력 형식 1차 검사</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결과 · 로딩 · 오류 표시</a:t>
            </a:r>
            <a:endParaRPr lang="en-US" sz="1300" dirty="0"/>
          </a:p>
        </p:txBody>
      </p:sp>
      <p:sp>
        <p:nvSpPr>
          <p:cNvPr id="9" name="Text 7"/>
          <p:cNvSpPr/>
          <p:nvPr/>
        </p:nvSpPr>
        <p:spPr>
          <a:xfrm>
            <a:off x="996950" y="3548807"/>
            <a:ext cx="25071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예: Streamlit, React(TS)</a:t>
            </a:r>
            <a:endParaRPr lang="en-US" sz="1200" dirty="0"/>
          </a:p>
        </p:txBody>
      </p:sp>
      <p:pic>
        <p:nvPicPr>
          <p:cNvPr id="10" name="Image 0" descr="arrow-right">    </p:cNvPr>
          <p:cNvPicPr>
            <a:picLocks noChangeAspect="1"/>
          </p:cNvPicPr>
          <p:nvPr/>
        </p:nvPicPr>
        <p:blipFill>
          <a:blip r:embed="rId1"/>
          <a:srcRect l="0" r="0" t="0" b="0"/>
          <a:stretch/>
        </p:blipFill>
        <p:spPr>
          <a:xfrm>
            <a:off x="3850184" y="2595414"/>
            <a:ext cx="609600" cy="304800"/>
          </a:xfrm>
          <a:prstGeom prst="rect">
            <a:avLst/>
          </a:prstGeom>
        </p:spPr>
      </p:pic>
      <p:sp>
        <p:nvSpPr>
          <p:cNvPr id="11" name="Text 8"/>
          <p:cNvSpPr/>
          <p:nvPr/>
        </p:nvSpPr>
        <p:spPr>
          <a:xfrm>
            <a:off x="3931741" y="2976414"/>
            <a:ext cx="446484"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HTTP</a:t>
            </a:r>
            <a:endParaRPr lang="en-US" sz="1200" dirty="0"/>
          </a:p>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JSON</a:t>
            </a:r>
            <a:endParaRPr lang="en-US" sz="1200" dirty="0"/>
          </a:p>
        </p:txBody>
      </p:sp>
      <p:sp>
        <p:nvSpPr>
          <p:cNvPr id="12" name="Shape 9"/>
          <p:cNvSpPr/>
          <p:nvPr/>
        </p:nvSpPr>
        <p:spPr>
          <a:xfrm>
            <a:off x="4697909" y="1836986"/>
            <a:ext cx="2796133" cy="2294037"/>
          </a:xfrm>
          <a:prstGeom prst="roundRect">
            <a:avLst>
              <a:gd name="adj" fmla="val 4290"/>
            </a:avLst>
          </a:prstGeom>
          <a:solidFill>
            <a:srgbClr val="FCFDFC"/>
          </a:solidFill>
          <a:ln w="6350">
            <a:solidFill>
              <a:srgbClr val="D5DEDB"/>
            </a:solidFill>
            <a:prstDash val="solid"/>
          </a:ln>
        </p:spPr>
      </p:sp>
      <p:sp>
        <p:nvSpPr>
          <p:cNvPr id="13" name="Shape 10"/>
          <p:cNvSpPr/>
          <p:nvPr/>
        </p:nvSpPr>
        <p:spPr>
          <a:xfrm>
            <a:off x="4701084" y="1840161"/>
            <a:ext cx="2789783" cy="736550"/>
          </a:xfrm>
          <a:custGeom>
            <a:avLst/>
            <a:gdLst/>
            <a:ahLst/>
            <a:cxnLst/>
            <a:rect l="l" t="t" r="r" b="b"/>
            <a:pathLst>
              <a:path w="2789783" h="736550">
                <a:moveTo>
                  <a:pt x="0" y="95250"/>
                </a:moveTo>
                <a:arcTo hR="95250" wR="95250" stAng="10800000" swAng="5400000"/>
                <a:lnTo>
                  <a:pt x="2694533" y="0"/>
                </a:lnTo>
                <a:arcTo hR="95250" wR="95250" stAng="16200000" swAng="5400000"/>
                <a:lnTo>
                  <a:pt x="2789783" y="736550"/>
                </a:lnTo>
                <a:lnTo>
                  <a:pt x="0" y="736550"/>
                </a:lnTo>
                <a:close/>
              </a:path>
            </a:pathLst>
          </a:custGeom>
          <a:solidFill>
            <a:srgbClr val="0E1A2B"/>
          </a:solidFill>
          <a:ln/>
        </p:spPr>
      </p:sp>
      <p:sp>
        <p:nvSpPr>
          <p:cNvPr id="14" name="Text 11"/>
          <p:cNvSpPr/>
          <p:nvPr/>
        </p:nvSpPr>
        <p:spPr>
          <a:xfrm>
            <a:off x="4878884" y="1967161"/>
            <a:ext cx="2507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2D0"/>
                </a:solidFill>
                <a:latin typeface="Noto Sans KR" pitchFamily="34" charset="0"/>
                <a:ea typeface="Noto Sans KR" pitchFamily="34" charset="-122"/>
                <a:cs typeface="Noto Sans KR" pitchFamily="34" charset="-120"/>
              </a:rPr>
              <a:t>Domain Logic</a:t>
            </a:r>
            <a:endParaRPr lang="en-US" sz="1200" dirty="0"/>
          </a:p>
        </p:txBody>
      </p:sp>
      <p:sp>
        <p:nvSpPr>
          <p:cNvPr id="15" name="Text 12"/>
          <p:cNvSpPr/>
          <p:nvPr/>
        </p:nvSpPr>
        <p:spPr>
          <a:xfrm>
            <a:off x="4878884" y="2205881"/>
            <a:ext cx="250720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DFC"/>
                </a:solidFill>
                <a:latin typeface="Noto Sans KR" pitchFamily="34" charset="0"/>
                <a:ea typeface="Noto Sans KR" pitchFamily="34" charset="-122"/>
                <a:cs typeface="Noto Sans KR" pitchFamily="34" charset="-120"/>
              </a:rPr>
              <a:t>백엔드</a:t>
            </a:r>
            <a:endParaRPr lang="en-US" sz="1600" dirty="0"/>
          </a:p>
        </p:txBody>
      </p:sp>
      <p:sp>
        <p:nvSpPr>
          <p:cNvPr id="16" name="Text 13"/>
          <p:cNvSpPr/>
          <p:nvPr/>
        </p:nvSpPr>
        <p:spPr>
          <a:xfrm>
            <a:off x="4951528" y="2729111"/>
            <a:ext cx="2426945" cy="743496"/>
          </a:xfrm>
          <a:prstGeom prst="rect">
            <a:avLst/>
          </a:prstGeom>
          <a:noFill/>
          <a:ln/>
        </p:spPr>
        <p:txBody>
          <a:bodyPr wrap="square" lIns="0" tIns="0" rIns="0" bIns="0" rtlCol="0" anchor="t">
            <a:normAutofit/>
          </a:bodyPr>
          <a:lstStyle/>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업무 규칙 · 계산 · 권한</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입력 재검증 · 트랜잭션</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LLM · 외부 API 호출</a:t>
            </a:r>
            <a:endParaRPr lang="en-US" sz="1300" dirty="0"/>
          </a:p>
        </p:txBody>
      </p:sp>
      <p:sp>
        <p:nvSpPr>
          <p:cNvPr id="17" name="Text 14"/>
          <p:cNvSpPr/>
          <p:nvPr/>
        </p:nvSpPr>
        <p:spPr>
          <a:xfrm>
            <a:off x="4878884" y="3548807"/>
            <a:ext cx="250720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예: FastAPI, Go, n8n</a:t>
            </a:r>
            <a:endParaRPr lang="en-US" sz="1200" dirty="0"/>
          </a:p>
        </p:txBody>
      </p:sp>
      <p:pic>
        <p:nvPicPr>
          <p:cNvPr id="18" name="Image 1" descr="arrow-right">    </p:cNvPr>
          <p:cNvPicPr>
            <a:picLocks noChangeAspect="1"/>
          </p:cNvPicPr>
          <p:nvPr/>
        </p:nvPicPr>
        <p:blipFill>
          <a:blip r:embed="rId2"/>
          <a:srcRect l="0" r="0" t="0" b="0"/>
          <a:stretch/>
        </p:blipFill>
        <p:spPr>
          <a:xfrm>
            <a:off x="7732167" y="2595414"/>
            <a:ext cx="609600" cy="304800"/>
          </a:xfrm>
          <a:prstGeom prst="rect">
            <a:avLst/>
          </a:prstGeom>
        </p:spPr>
      </p:pic>
      <p:sp>
        <p:nvSpPr>
          <p:cNvPr id="19" name="Text 15"/>
          <p:cNvSpPr/>
          <p:nvPr/>
        </p:nvSpPr>
        <p:spPr>
          <a:xfrm>
            <a:off x="7731125" y="2976414"/>
            <a:ext cx="611634"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SQL</a:t>
            </a:r>
            <a:endParaRPr lang="en-US" sz="1200" dirty="0"/>
          </a:p>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드라이버</a:t>
            </a:r>
            <a:endParaRPr lang="en-US" sz="1200" dirty="0"/>
          </a:p>
        </p:txBody>
      </p:sp>
      <p:sp>
        <p:nvSpPr>
          <p:cNvPr id="20" name="Shape 16"/>
          <p:cNvSpPr/>
          <p:nvPr/>
        </p:nvSpPr>
        <p:spPr>
          <a:xfrm>
            <a:off x="8579892" y="1836986"/>
            <a:ext cx="2796133" cy="2294037"/>
          </a:xfrm>
          <a:prstGeom prst="roundRect">
            <a:avLst>
              <a:gd name="adj" fmla="val 4290"/>
            </a:avLst>
          </a:prstGeom>
          <a:solidFill>
            <a:srgbClr val="FCFDFC"/>
          </a:solidFill>
          <a:ln w="6350">
            <a:solidFill>
              <a:srgbClr val="D5DEDB"/>
            </a:solidFill>
            <a:prstDash val="solid"/>
          </a:ln>
        </p:spPr>
      </p:sp>
      <p:sp>
        <p:nvSpPr>
          <p:cNvPr id="21" name="Shape 17"/>
          <p:cNvSpPr/>
          <p:nvPr/>
        </p:nvSpPr>
        <p:spPr>
          <a:xfrm>
            <a:off x="8583067" y="1840161"/>
            <a:ext cx="2789783" cy="736550"/>
          </a:xfrm>
          <a:custGeom>
            <a:avLst/>
            <a:gdLst/>
            <a:ahLst/>
            <a:cxnLst/>
            <a:rect l="l" t="t" r="r" b="b"/>
            <a:pathLst>
              <a:path w="2789783" h="736550">
                <a:moveTo>
                  <a:pt x="0" y="95250"/>
                </a:moveTo>
                <a:arcTo hR="95250" wR="95250" stAng="10800000" swAng="5400000"/>
                <a:lnTo>
                  <a:pt x="2694533" y="0"/>
                </a:lnTo>
                <a:arcTo hR="95250" wR="95250" stAng="16200000" swAng="5400000"/>
                <a:lnTo>
                  <a:pt x="2789783" y="736550"/>
                </a:lnTo>
                <a:lnTo>
                  <a:pt x="0" y="736550"/>
                </a:lnTo>
                <a:close/>
              </a:path>
            </a:pathLst>
          </a:custGeom>
          <a:solidFill>
            <a:srgbClr val="A04E10"/>
          </a:solidFill>
          <a:ln/>
        </p:spPr>
      </p:sp>
      <p:sp>
        <p:nvSpPr>
          <p:cNvPr id="22" name="Text 18"/>
          <p:cNvSpPr/>
          <p:nvPr/>
        </p:nvSpPr>
        <p:spPr>
          <a:xfrm>
            <a:off x="8760867" y="1967161"/>
            <a:ext cx="2507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E3CF"/>
                </a:solidFill>
                <a:latin typeface="Noto Sans KR" pitchFamily="34" charset="0"/>
                <a:ea typeface="Noto Sans KR" pitchFamily="34" charset="-122"/>
                <a:cs typeface="Noto Sans KR" pitchFamily="34" charset="-120"/>
              </a:rPr>
              <a:t>Storage</a:t>
            </a:r>
            <a:endParaRPr lang="en-US" sz="1200" dirty="0"/>
          </a:p>
        </p:txBody>
      </p:sp>
      <p:sp>
        <p:nvSpPr>
          <p:cNvPr id="23" name="Text 19"/>
          <p:cNvSpPr/>
          <p:nvPr/>
        </p:nvSpPr>
        <p:spPr>
          <a:xfrm>
            <a:off x="8760867" y="2205881"/>
            <a:ext cx="250720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DFC"/>
                </a:solidFill>
                <a:latin typeface="Noto Sans KR" pitchFamily="34" charset="0"/>
                <a:ea typeface="Noto Sans KR" pitchFamily="34" charset="-122"/>
                <a:cs typeface="Noto Sans KR" pitchFamily="34" charset="-120"/>
              </a:rPr>
              <a:t>저장소</a:t>
            </a:r>
            <a:endParaRPr lang="en-US" sz="1600" dirty="0"/>
          </a:p>
        </p:txBody>
      </p:sp>
      <p:sp>
        <p:nvSpPr>
          <p:cNvPr id="24" name="Text 20"/>
          <p:cNvSpPr/>
          <p:nvPr/>
        </p:nvSpPr>
        <p:spPr>
          <a:xfrm>
            <a:off x="8833511" y="2729111"/>
            <a:ext cx="2426945" cy="743496"/>
          </a:xfrm>
          <a:prstGeom prst="rect">
            <a:avLst/>
          </a:prstGeom>
          <a:noFill/>
          <a:ln/>
        </p:spPr>
        <p:txBody>
          <a:bodyPr wrap="square" lIns="0" tIns="0" rIns="0" bIns="0" rtlCol="0" anchor="t">
            <a:normAutofit/>
          </a:bodyPr>
          <a:lstStyle/>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데이터 영속화</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데이터 모양별 DB 선택</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백업 · 보존 정책</a:t>
            </a:r>
            <a:endParaRPr lang="en-US" sz="1300" dirty="0"/>
          </a:p>
        </p:txBody>
      </p:sp>
      <p:sp>
        <p:nvSpPr>
          <p:cNvPr id="25" name="Text 21"/>
          <p:cNvSpPr/>
          <p:nvPr/>
        </p:nvSpPr>
        <p:spPr>
          <a:xfrm>
            <a:off x="8760867" y="3548807"/>
            <a:ext cx="250720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예: PostgreSQL, InfluxDB, MongoDB</a:t>
            </a:r>
            <a:endParaRPr lang="en-US" sz="1200" dirty="0"/>
          </a:p>
        </p:txBody>
      </p:sp>
      <p:sp>
        <p:nvSpPr>
          <p:cNvPr id="26" name="Shape 22"/>
          <p:cNvSpPr/>
          <p:nvPr/>
        </p:nvSpPr>
        <p:spPr>
          <a:xfrm>
            <a:off x="812800" y="4438997"/>
            <a:ext cx="10566400" cy="609600"/>
          </a:xfrm>
          <a:prstGeom prst="roundRect">
            <a:avLst>
              <a:gd name="adj" fmla="val 16667"/>
            </a:avLst>
          </a:prstGeom>
          <a:solidFill>
            <a:srgbClr val="0E1A2B"/>
          </a:solidFill>
          <a:ln/>
        </p:spPr>
      </p:sp>
      <p:pic>
        <p:nvPicPr>
          <p:cNvPr id="27" name="Image 2" descr="Lock">    </p:cNvPr>
          <p:cNvPicPr>
            <a:picLocks noChangeAspect="1"/>
          </p:cNvPicPr>
          <p:nvPr/>
        </p:nvPicPr>
        <p:blipFill>
          <a:blip r:embed="rId3"/>
          <a:srcRect l="0" r="0" t="0" b="0"/>
          <a:stretch/>
        </p:blipFill>
        <p:spPr>
          <a:xfrm>
            <a:off x="1041400" y="4616797"/>
            <a:ext cx="254000" cy="254000"/>
          </a:xfrm>
          <a:prstGeom prst="rect">
            <a:avLst/>
          </a:prstGeom>
        </p:spPr>
      </p:pic>
      <p:sp>
        <p:nvSpPr>
          <p:cNvPr id="28" name="Text 23"/>
          <p:cNvSpPr/>
          <p:nvPr/>
        </p:nvSpPr>
        <p:spPr>
          <a:xfrm>
            <a:off x="1422400" y="4628207"/>
            <a:ext cx="706499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D1C1"/>
                </a:solidFill>
                <a:latin typeface="Noto Sans KR" pitchFamily="34" charset="0"/>
                <a:ea typeface="Noto Sans KR" pitchFamily="34" charset="-122"/>
                <a:cs typeface="Noto Sans KR" pitchFamily="34" charset="-120"/>
              </a:rPr>
              <a:t>규칙 하나:</a:t>
            </a:r>
            <a:r>
              <a:rPr lang="en-US" sz="1300" dirty="0">
                <a:solidFill>
                  <a:srgbClr val="E5ECEB"/>
                </a:solidFill>
                <a:latin typeface="Noto Sans KR" pitchFamily="34" charset="0"/>
                <a:ea typeface="Noto Sans KR" pitchFamily="34" charset="-122"/>
                <a:cs typeface="Noto Sans KR" pitchFamily="34" charset="-120"/>
              </a:rPr>
              <a:t> 프런트엔드는 DB를 직접 만지지 않는다. 모든 데이터는 백엔드 API를 지난다.</a:t>
            </a:r>
            <a:endParaRPr lang="en-US" sz="1300" dirty="0"/>
          </a:p>
        </p:txBody>
      </p:sp>
      <p:sp>
        <p:nvSpPr>
          <p:cNvPr id="29"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0"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06 / 27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02 · 구성도</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층별 책임: 해야 할 일과 하지 말아야 할 일</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10553700" cy="2410321"/>
        </p:xfrm>
        <a:graphic>
          <a:graphicData uri="http://schemas.openxmlformats.org/drawingml/2006/table">
            <a:tbl>
              <a:tblPr/>
              <a:tblGrid>
                <a:gridCol w="1477518"/>
                <a:gridCol w="3060573"/>
                <a:gridCol w="2849499"/>
                <a:gridCol w="3166110"/>
              </a:tblGrid>
              <a:tr h="436860">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층</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4C5C4"/>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해야 할 일</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하지 말아야 할 일</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AI에게 줄 한 줄</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657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프런트엔드</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화면 상태 관리, 입력 형식 검사, 로딩 · 오류 표시</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DB 접속 정보 보관, 가격 · 권한 계산, API 키 노출</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“DB에는 접근하지 말고 백엔드 API만 호출해”</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657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백엔드</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업무 규칙, 권한 확인, 입력 재검증, 트랜잭션, LLM 호출</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화면 문구 · 레이아웃 결정, 프런트엔드 검증만 믿기</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“엔드포인트별 요청 · 응답 스키마를 Pydantic으로 먼저 정의해”</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657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저장소</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제약조건으로 정합성 보장, 인덱스, 백업</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업무 로직을 저장 프로시저에 몰아넣기, 비밀번호 평문 저장</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“스키마와 마이그레이션 파일을 분리하고 초기 데이터를 넣어줘”</a:t>
                      </a:r>
                      <a:endParaRPr lang="en-US" sz="1200" dirty="0">
                        <a:latin typeface="Noto Sans KR" charset="0"/>
                        <a:ea typeface="Noto Sans KR" charset="0"/>
                        <a:cs typeface="Noto Sans KR" charset="0"/>
                      </a:endParaRPr>
                    </a:p>
                  </a:txBody>
                  <a:tcPr marL="127000" marR="127000" marT="101600" marB="1016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07 / 27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03 · 구성 환경 — 프런트엔드</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Python Streamlit, 또는 TypeScript</a:t>
            </a:r>
            <a:endParaRPr lang="en-US" sz="2800" dirty="0"/>
          </a:p>
        </p:txBody>
      </p:sp>
      <p:sp>
        <p:nvSpPr>
          <p:cNvPr id="4" name="Text 2"/>
          <p:cNvSpPr/>
          <p:nvPr/>
        </p:nvSpPr>
        <p:spPr>
          <a:xfrm>
            <a:off x="812800" y="1833811"/>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7A6E"/>
                </a:solidFill>
                <a:latin typeface="Noto Sans KR" pitchFamily="34" charset="0"/>
                <a:ea typeface="Noto Sans KR" pitchFamily="34" charset="-122"/>
                <a:cs typeface="Noto Sans KR" pitchFamily="34" charset="-120"/>
              </a:rPr>
              <a:t>Streamlit · Python</a:t>
            </a:r>
            <a:endParaRPr lang="en-US" sz="1600" dirty="0"/>
          </a:p>
        </p:txBody>
      </p:sp>
      <p:sp>
        <p:nvSpPr>
          <p:cNvPr id="5" name="Text 3"/>
          <p:cNvSpPr/>
          <p:nvPr/>
        </p:nvSpPr>
        <p:spPr>
          <a:xfrm>
            <a:off x="885444" y="2230041"/>
            <a:ext cx="5204460" cy="982861"/>
          </a:xfrm>
          <a:prstGeom prst="rect">
            <a:avLst/>
          </a:prstGeom>
          <a:noFill/>
          <a:ln/>
        </p:spPr>
        <p:txBody>
          <a:bodyPr wrap="square" lIns="0" tIns="0" rIns="0" bIns="0" rtlCol="0" anchor="t">
            <a:normAutofit/>
          </a:bodyPr>
          <a:lstStyle/>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Python 한 언어로 화면까지 — 백엔드 개발자가 바로 UI 작성</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상호작용마다 스크립트를 위에서 아래로 다시 실행하는 단순한 모델</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적합: 사내 대시보드 · AI 데모 · PoC / 한계: 세밀한 UI, 대규모 공개 서비스</a:t>
            </a:r>
            <a:endParaRPr lang="en-US" sz="1300" dirty="0"/>
          </a:p>
        </p:txBody>
      </p:sp>
      <p:sp>
        <p:nvSpPr>
          <p:cNvPr id="6" name="Text 4"/>
          <p:cNvSpPr/>
          <p:nvPr/>
        </p:nvSpPr>
        <p:spPr>
          <a:xfrm>
            <a:off x="812800" y="3339902"/>
            <a:ext cx="5130800" cy="1744911"/>
          </a:xfrm>
          <a:prstGeom prst="roundRect">
            <a:avLst>
              <a:gd name="adj" fmla="val 5823"/>
            </a:avLst>
          </a:prstGeom>
          <a:solidFill>
            <a:srgbClr val="0E1A2B"/>
          </a:solidFill>
          <a:ln/>
        </p:spPr>
        <p:txBody>
          <a:bodyPr wrap="none" lIns="148042" tIns="122642" rIns="4786"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import requests</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import streamlit as st</a:t>
            </a:r>
            <a:endParaRPr lang="en-US" sz="1200" dirty="0"/>
          </a:p>
          <a:p>
            <a:pPr algn="l" indent="0" marL="0">
              <a:lnSpc>
                <a:spcPts val="1620"/>
              </a:lnSpc>
              <a:buNone/>
            </a:pP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q = st.text_input("질문")</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if st.button("보내기"):</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 = requests.post(f"{API}/ask", json={"q": q})</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st.write(r.json()["answer"])</a:t>
            </a:r>
            <a:endParaRPr lang="en-US" sz="1200" dirty="0"/>
          </a:p>
        </p:txBody>
      </p:sp>
      <p:sp>
        <p:nvSpPr>
          <p:cNvPr id="7" name="Text 5"/>
          <p:cNvSpPr/>
          <p:nvPr/>
        </p:nvSpPr>
        <p:spPr>
          <a:xfrm>
            <a:off x="6248400" y="1833811"/>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7A6E"/>
                </a:solidFill>
                <a:latin typeface="Noto Sans KR" pitchFamily="34" charset="0"/>
                <a:ea typeface="Noto Sans KR" pitchFamily="34" charset="-122"/>
                <a:cs typeface="Noto Sans KR" pitchFamily="34" charset="-120"/>
              </a:rPr>
              <a:t>React · Next.js · TypeScript</a:t>
            </a:r>
            <a:endParaRPr lang="en-US" sz="1600" dirty="0"/>
          </a:p>
        </p:txBody>
      </p:sp>
      <p:sp>
        <p:nvSpPr>
          <p:cNvPr id="8" name="Text 6"/>
          <p:cNvSpPr/>
          <p:nvPr/>
        </p:nvSpPr>
        <p:spPr>
          <a:xfrm>
            <a:off x="6321044" y="2230041"/>
            <a:ext cx="5204460" cy="743496"/>
          </a:xfrm>
          <a:prstGeom prst="rect">
            <a:avLst/>
          </a:prstGeom>
          <a:noFill/>
          <a:ln/>
        </p:spPr>
        <p:txBody>
          <a:bodyPr wrap="square" lIns="0" tIns="0" rIns="0" bIns="0" rtlCol="0" anchor="t">
            <a:normAutofit/>
          </a:bodyPr>
          <a:lstStyle/>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React + Vite(SPA) 또는 Next.js(서버 렌더링 포함)</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컴포넌트 · 상태로 복잡한 화면을 쪼개고, 타입으로 API 응답 구조를 검사</a:t>
            </a:r>
            <a:endParaRPr lang="en-US" sz="1300" dirty="0"/>
          </a:p>
          <a:p>
            <a:pPr algn="l" marL="181356" indent="-181356">
              <a:lnSpc>
                <a:spcPts val="1885"/>
              </a:lnSpc>
              <a:buSzPct val="100000"/>
              <a:buChar char="•"/>
            </a:pPr>
            <a:r>
              <a:rPr lang="en-US" sz="1300" dirty="0">
                <a:solidFill>
                  <a:srgbClr val="46566A"/>
                </a:solidFill>
                <a:latin typeface="Noto Sans KR" pitchFamily="34" charset="0"/>
                <a:ea typeface="Noto Sans KR" pitchFamily="34" charset="-122"/>
                <a:cs typeface="Noto Sans KR" pitchFamily="34" charset="-120"/>
              </a:rPr>
              <a:t>적합: 대외 서비스 · 복잡한 UI / 한계: 빌드 도구 · 학습량</a:t>
            </a:r>
            <a:endParaRPr lang="en-US" sz="1300" dirty="0"/>
          </a:p>
        </p:txBody>
      </p:sp>
      <p:sp>
        <p:nvSpPr>
          <p:cNvPr id="9" name="Text 7"/>
          <p:cNvSpPr/>
          <p:nvPr/>
        </p:nvSpPr>
        <p:spPr>
          <a:xfrm>
            <a:off x="6248400" y="3100536"/>
            <a:ext cx="5130800" cy="1744911"/>
          </a:xfrm>
          <a:prstGeom prst="roundRect">
            <a:avLst>
              <a:gd name="adj" fmla="val 5823"/>
            </a:avLst>
          </a:prstGeom>
          <a:solidFill>
            <a:srgbClr val="0E1A2B"/>
          </a:solidFill>
          <a:ln/>
        </p:spPr>
        <p:txBody>
          <a:bodyPr wrap="none" lIns="148042" tIns="122642" rIns="4786"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const res = await fetch(`${API}/ask`, {</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method: "POST",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headers: { "Content-Type": "application/json" },</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body: JSON.stringify({ q }),</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const { answer } = await res.json();</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setAnswer(answer);</a:t>
            </a:r>
            <a:endParaRPr lang="en-US" sz="12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08 / 27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03 · 구성 환경 — 백엔드</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백엔드: 로직을 무엇으로 만들까</a:t>
            </a:r>
            <a:endParaRPr lang="en-US" sz="2800" dirty="0"/>
          </a:p>
        </p:txBody>
      </p:sp>
      <p:sp>
        <p:nvSpPr>
          <p:cNvPr id="4" name="Shape 2"/>
          <p:cNvSpPr/>
          <p:nvPr/>
        </p:nvSpPr>
        <p:spPr>
          <a:xfrm>
            <a:off x="815975" y="1836986"/>
            <a:ext cx="3414167" cy="2525861"/>
          </a:xfrm>
          <a:prstGeom prst="roundRect">
            <a:avLst>
              <a:gd name="adj" fmla="val 3897"/>
            </a:avLst>
          </a:prstGeom>
          <a:solidFill>
            <a:srgbClr val="FCFDFC"/>
          </a:solidFill>
          <a:ln w="6350">
            <a:solidFill>
              <a:srgbClr val="D5DEDB"/>
            </a:solidFill>
            <a:prstDash val="solid"/>
          </a:ln>
        </p:spPr>
      </p:sp>
      <p:sp>
        <p:nvSpPr>
          <p:cNvPr id="5" name="Text 3"/>
          <p:cNvSpPr/>
          <p:nvPr/>
        </p:nvSpPr>
        <p:spPr>
          <a:xfrm>
            <a:off x="1022350" y="20433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FastAPI</a:t>
            </a:r>
            <a:endParaRPr lang="en-US" sz="1600" dirty="0"/>
          </a:p>
        </p:txBody>
      </p:sp>
      <p:sp>
        <p:nvSpPr>
          <p:cNvPr id="6" name="Text 4"/>
          <p:cNvSpPr/>
          <p:nvPr/>
        </p:nvSpPr>
        <p:spPr>
          <a:xfrm>
            <a:off x="1022350" y="231259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Python</a:t>
            </a:r>
            <a:endParaRPr lang="en-US" sz="1200" dirty="0"/>
          </a:p>
        </p:txBody>
      </p:sp>
      <p:sp>
        <p:nvSpPr>
          <p:cNvPr id="7" name="Text 5"/>
          <p:cNvSpPr/>
          <p:nvPr/>
        </p:nvSpPr>
        <p:spPr>
          <a:xfrm>
            <a:off x="1022350" y="2627511"/>
            <a:ext cx="309145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강점</a:t>
            </a:r>
            <a:r>
              <a:rPr lang="en-US" sz="1200" dirty="0">
                <a:solidFill>
                  <a:srgbClr val="46566A"/>
                </a:solidFill>
                <a:latin typeface="Noto Sans KR" pitchFamily="34" charset="0"/>
                <a:ea typeface="Noto Sans KR" pitchFamily="34" charset="-122"/>
                <a:cs typeface="Noto Sans KR" pitchFamily="34" charset="-120"/>
              </a:rPr>
              <a:t> 타입 힌트 → Pydantic 자동 검증, /docs에 OpenAPI 문서 자동 생성, async 지원</a:t>
            </a:r>
            <a:endParaRPr lang="en-US" sz="1200" dirty="0"/>
          </a:p>
        </p:txBody>
      </p:sp>
      <p:sp>
        <p:nvSpPr>
          <p:cNvPr id="8" name="Text 6"/>
          <p:cNvSpPr/>
          <p:nvPr/>
        </p:nvSpPr>
        <p:spPr>
          <a:xfrm>
            <a:off x="1022350" y="3171031"/>
            <a:ext cx="3091459" cy="68828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적합</a:t>
            </a:r>
            <a:r>
              <a:rPr lang="en-US" sz="1200" dirty="0">
                <a:solidFill>
                  <a:srgbClr val="46566A"/>
                </a:solidFill>
                <a:latin typeface="Noto Sans KR" pitchFamily="34" charset="0"/>
                <a:ea typeface="Noto Sans KR" pitchFamily="34" charset="-122"/>
                <a:cs typeface="Noto Sans KR" pitchFamily="34" charset="-120"/>
              </a:rPr>
              <a:t> AI · RAG · 데이터 처리 API — LangChain, LiteLLM 등 Python 생태계와 직결</a:t>
            </a:r>
            <a:endParaRPr lang="en-US" sz="1200" dirty="0"/>
          </a:p>
        </p:txBody>
      </p:sp>
      <p:sp>
        <p:nvSpPr>
          <p:cNvPr id="9" name="Text 7"/>
          <p:cNvSpPr/>
          <p:nvPr/>
        </p:nvSpPr>
        <p:spPr>
          <a:xfrm>
            <a:off x="1022350" y="3935512"/>
            <a:ext cx="3091459"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주의</a:t>
            </a:r>
            <a:r>
              <a:rPr lang="en-US" sz="1200" dirty="0">
                <a:solidFill>
                  <a:srgbClr val="46566A"/>
                </a:solidFill>
                <a:latin typeface="Noto Sans KR" pitchFamily="34" charset="0"/>
                <a:ea typeface="Noto Sans KR" pitchFamily="34" charset="-122"/>
                <a:cs typeface="Noto Sans KR" pitchFamily="34" charset="-120"/>
              </a:rPr>
              <a:t> CPU를 오래 쓰는 작업은 워커 · 큐로 분리</a:t>
            </a:r>
            <a:endParaRPr lang="en-US" sz="1200" dirty="0"/>
          </a:p>
        </p:txBody>
      </p:sp>
      <p:sp>
        <p:nvSpPr>
          <p:cNvPr id="10" name="Shape 8"/>
          <p:cNvSpPr/>
          <p:nvPr/>
        </p:nvSpPr>
        <p:spPr>
          <a:xfrm>
            <a:off x="4388892" y="1836986"/>
            <a:ext cx="3414167" cy="2525861"/>
          </a:xfrm>
          <a:prstGeom prst="roundRect">
            <a:avLst>
              <a:gd name="adj" fmla="val 3897"/>
            </a:avLst>
          </a:prstGeom>
          <a:solidFill>
            <a:srgbClr val="FCFDFC"/>
          </a:solidFill>
          <a:ln w="6350">
            <a:solidFill>
              <a:srgbClr val="D5DEDB"/>
            </a:solidFill>
            <a:prstDash val="solid"/>
          </a:ln>
        </p:spPr>
      </p:sp>
      <p:sp>
        <p:nvSpPr>
          <p:cNvPr id="11" name="Text 9"/>
          <p:cNvSpPr/>
          <p:nvPr/>
        </p:nvSpPr>
        <p:spPr>
          <a:xfrm>
            <a:off x="4595267" y="204336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Go</a:t>
            </a:r>
            <a:endParaRPr lang="en-US" sz="1600" dirty="0"/>
          </a:p>
        </p:txBody>
      </p:sp>
      <p:sp>
        <p:nvSpPr>
          <p:cNvPr id="12" name="Text 10"/>
          <p:cNvSpPr/>
          <p:nvPr/>
        </p:nvSpPr>
        <p:spPr>
          <a:xfrm>
            <a:off x="4595267" y="231259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Gin · Echo · 표준 net/http</a:t>
            </a:r>
            <a:endParaRPr lang="en-US" sz="1200" dirty="0"/>
          </a:p>
        </p:txBody>
      </p:sp>
      <p:sp>
        <p:nvSpPr>
          <p:cNvPr id="13" name="Text 11"/>
          <p:cNvSpPr/>
          <p:nvPr/>
        </p:nvSpPr>
        <p:spPr>
          <a:xfrm>
            <a:off x="4595267" y="2627511"/>
            <a:ext cx="309145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강점</a:t>
            </a:r>
            <a:r>
              <a:rPr lang="en-US" sz="1200" dirty="0">
                <a:solidFill>
                  <a:srgbClr val="46566A"/>
                </a:solidFill>
                <a:latin typeface="Noto Sans KR" pitchFamily="34" charset="0"/>
                <a:ea typeface="Noto Sans KR" pitchFamily="34" charset="-122"/>
                <a:cs typeface="Noto Sans KR" pitchFamily="34" charset="-120"/>
              </a:rPr>
              <a:t> 단일 실행 파일 배포, 고루틴 기반 높은 동시성, 적은 메모리</a:t>
            </a:r>
            <a:endParaRPr lang="en-US" sz="1200" dirty="0"/>
          </a:p>
        </p:txBody>
      </p:sp>
      <p:sp>
        <p:nvSpPr>
          <p:cNvPr id="14" name="Text 12"/>
          <p:cNvSpPr/>
          <p:nvPr/>
        </p:nvSpPr>
        <p:spPr>
          <a:xfrm>
            <a:off x="4595267" y="3171031"/>
            <a:ext cx="309145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적합</a:t>
            </a:r>
            <a:r>
              <a:rPr lang="en-US" sz="1200" dirty="0">
                <a:solidFill>
                  <a:srgbClr val="46566A"/>
                </a:solidFill>
                <a:latin typeface="Noto Sans KR" pitchFamily="34" charset="0"/>
                <a:ea typeface="Noto Sans KR" pitchFamily="34" charset="-122"/>
                <a:cs typeface="Noto Sans KR" pitchFamily="34" charset="-120"/>
              </a:rPr>
              <a:t> API 게이트웨이, 센서 · 로그 수집기, 트래픽 많은 API</a:t>
            </a:r>
            <a:endParaRPr lang="en-US" sz="1200" dirty="0"/>
          </a:p>
        </p:txBody>
      </p:sp>
      <p:sp>
        <p:nvSpPr>
          <p:cNvPr id="15" name="Text 13"/>
          <p:cNvSpPr/>
          <p:nvPr/>
        </p:nvSpPr>
        <p:spPr>
          <a:xfrm>
            <a:off x="4595267" y="3714552"/>
            <a:ext cx="3091459"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주의</a:t>
            </a:r>
            <a:r>
              <a:rPr lang="en-US" sz="1200" dirty="0">
                <a:solidFill>
                  <a:srgbClr val="46566A"/>
                </a:solidFill>
                <a:latin typeface="Noto Sans KR" pitchFamily="34" charset="0"/>
                <a:ea typeface="Noto Sans KR" pitchFamily="34" charset="-122"/>
                <a:cs typeface="Noto Sans KR" pitchFamily="34" charset="-120"/>
              </a:rPr>
              <a:t> AI 라이브러리는 Python보다 적음 → AI 처리는 Python 서비스에 맡기기</a:t>
            </a:r>
            <a:endParaRPr lang="en-US" sz="1200" dirty="0"/>
          </a:p>
        </p:txBody>
      </p:sp>
      <p:sp>
        <p:nvSpPr>
          <p:cNvPr id="16" name="Shape 14"/>
          <p:cNvSpPr/>
          <p:nvPr/>
        </p:nvSpPr>
        <p:spPr>
          <a:xfrm>
            <a:off x="7961809" y="1836986"/>
            <a:ext cx="3414216" cy="2525861"/>
          </a:xfrm>
          <a:prstGeom prst="roundRect">
            <a:avLst>
              <a:gd name="adj" fmla="val 3897"/>
            </a:avLst>
          </a:prstGeom>
          <a:solidFill>
            <a:srgbClr val="FCFDFC"/>
          </a:solidFill>
          <a:ln w="6350">
            <a:solidFill>
              <a:srgbClr val="D5DEDB"/>
            </a:solidFill>
            <a:prstDash val="solid"/>
          </a:ln>
        </p:spPr>
      </p:sp>
      <p:sp>
        <p:nvSpPr>
          <p:cNvPr id="17" name="Text 15"/>
          <p:cNvSpPr/>
          <p:nvPr/>
        </p:nvSpPr>
        <p:spPr>
          <a:xfrm>
            <a:off x="8168184" y="204336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n8n</a:t>
            </a:r>
            <a:endParaRPr lang="en-US" sz="1600" dirty="0"/>
          </a:p>
        </p:txBody>
      </p:sp>
      <p:sp>
        <p:nvSpPr>
          <p:cNvPr id="18" name="Text 16"/>
          <p:cNvSpPr/>
          <p:nvPr/>
        </p:nvSpPr>
        <p:spPr>
          <a:xfrm>
            <a:off x="8168184" y="231259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AI 워크플로우</a:t>
            </a:r>
            <a:endParaRPr lang="en-US" sz="1200" dirty="0"/>
          </a:p>
        </p:txBody>
      </p:sp>
      <p:sp>
        <p:nvSpPr>
          <p:cNvPr id="19" name="Text 17"/>
          <p:cNvSpPr/>
          <p:nvPr/>
        </p:nvSpPr>
        <p:spPr>
          <a:xfrm>
            <a:off x="8168184" y="2627511"/>
            <a:ext cx="309151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강점</a:t>
            </a:r>
            <a:r>
              <a:rPr lang="en-US" sz="1200" dirty="0">
                <a:solidFill>
                  <a:srgbClr val="46566A"/>
                </a:solidFill>
                <a:latin typeface="Noto Sans KR" pitchFamily="34" charset="0"/>
                <a:ea typeface="Noto Sans KR" pitchFamily="34" charset="-122"/>
                <a:cs typeface="Noto Sans KR" pitchFamily="34" charset="-120"/>
              </a:rPr>
              <a:t> 노드 연결로 LLM · RAG · SaaS 연동, Webhook 노드로 API처럼 호출</a:t>
            </a:r>
            <a:endParaRPr lang="en-US" sz="1200" dirty="0"/>
          </a:p>
        </p:txBody>
      </p:sp>
      <p:sp>
        <p:nvSpPr>
          <p:cNvPr id="20" name="Text 18"/>
          <p:cNvSpPr/>
          <p:nvPr/>
        </p:nvSpPr>
        <p:spPr>
          <a:xfrm>
            <a:off x="8168184" y="3171031"/>
            <a:ext cx="309151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적합</a:t>
            </a:r>
            <a:r>
              <a:rPr lang="en-US" sz="1200" dirty="0">
                <a:solidFill>
                  <a:srgbClr val="46566A"/>
                </a:solidFill>
                <a:latin typeface="Noto Sans KR" pitchFamily="34" charset="0"/>
                <a:ea typeface="Noto Sans KR" pitchFamily="34" charset="-122"/>
                <a:cs typeface="Noto Sans KR" pitchFamily="34" charset="-120"/>
              </a:rPr>
              <a:t> 자주 바뀌는 AI 흐름, 알림 · 연동 자동화, 비개발자와 협업</a:t>
            </a:r>
            <a:endParaRPr lang="en-US" sz="1200" dirty="0"/>
          </a:p>
        </p:txBody>
      </p:sp>
      <p:sp>
        <p:nvSpPr>
          <p:cNvPr id="21" name="Text 19"/>
          <p:cNvSpPr/>
          <p:nvPr/>
        </p:nvSpPr>
        <p:spPr>
          <a:xfrm>
            <a:off x="8168184" y="3714552"/>
            <a:ext cx="309151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0E1A2B"/>
                </a:solidFill>
                <a:latin typeface="Noto Sans KR" pitchFamily="34" charset="0"/>
                <a:ea typeface="Noto Sans KR" pitchFamily="34" charset="-122"/>
                <a:cs typeface="Noto Sans KR" pitchFamily="34" charset="-120"/>
              </a:rPr>
              <a:t>주의</a:t>
            </a:r>
            <a:r>
              <a:rPr lang="en-US" sz="1200" dirty="0">
                <a:solidFill>
                  <a:srgbClr val="46566A"/>
                </a:solidFill>
                <a:latin typeface="Noto Sans KR" pitchFamily="34" charset="0"/>
                <a:ea typeface="Noto Sans KR" pitchFamily="34" charset="-122"/>
                <a:cs typeface="Noto Sans KR" pitchFamily="34" charset="-120"/>
              </a:rPr>
              <a:t> 권한 · 결제 같은 핵심 로직은 코드 백엔드에 두기</a:t>
            </a:r>
            <a:endParaRPr lang="en-US" sz="1200" dirty="0"/>
          </a:p>
        </p:txBody>
      </p:sp>
      <p:sp>
        <p:nvSpPr>
          <p:cNvPr id="22" name="Text 20"/>
          <p:cNvSpPr/>
          <p:nvPr/>
        </p:nvSpPr>
        <p:spPr>
          <a:xfrm>
            <a:off x="812800" y="467082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조합이 일반적이다: </a:t>
            </a:r>
            <a:r>
              <a:rPr lang="en-US" sz="1300" b="1" dirty="0">
                <a:solidFill>
                  <a:srgbClr val="0E1A2B"/>
                </a:solidFill>
                <a:latin typeface="Noto Sans KR" pitchFamily="34" charset="0"/>
                <a:ea typeface="Noto Sans KR" pitchFamily="34" charset="-122"/>
                <a:cs typeface="Noto Sans KR" pitchFamily="34" charset="-120"/>
              </a:rPr>
              <a:t>FastAPI가 관문</a:t>
            </a:r>
            <a:r>
              <a:rPr lang="en-US" sz="1300" dirty="0">
                <a:solidFill>
                  <a:srgbClr val="46566A"/>
                </a:solidFill>
                <a:latin typeface="Noto Sans KR" pitchFamily="34" charset="0"/>
                <a:ea typeface="Noto Sans KR" pitchFamily="34" charset="-122"/>
                <a:cs typeface="Noto Sans KR" pitchFamily="34" charset="-120"/>
              </a:rPr>
              <a:t>이 되고, 자주 바뀌는 AI 흐름은 n8n에, 고성능 수집은 Go에 맡긴다.</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09 / 27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03 · 구성 환경 — 백엔드</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백엔드 로직 안에서 n8n AI 워크플로우 쓰기</a:t>
            </a:r>
            <a:endParaRPr lang="en-US" sz="2800" dirty="0"/>
          </a:p>
        </p:txBody>
      </p:sp>
      <p:sp>
        <p:nvSpPr>
          <p:cNvPr id="4" name="Text 2"/>
          <p:cNvSpPr/>
          <p:nvPr/>
        </p:nvSpPr>
        <p:spPr>
          <a:xfrm>
            <a:off x="815975" y="1836986"/>
            <a:ext cx="4438650" cy="440680"/>
          </a:xfrm>
          <a:prstGeom prst="roundRect">
            <a:avLst>
              <a:gd name="adj" fmla="val 16571"/>
            </a:avLst>
          </a:prstGeom>
          <a:solidFill>
            <a:srgbClr val="FCFDFC"/>
          </a:solidFill>
          <a:ln w="6350">
            <a:solidFill>
              <a:srgbClr val="D5DEDB"/>
            </a:solidFill>
            <a:prstDash val="solid"/>
          </a:ln>
        </p:spPr>
        <p:txBody>
          <a:bodyPr wrap="square" lIns="134187" tIns="83387" rIns="10362" bIns="57987"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① 프런트엔드</a:t>
            </a:r>
            <a:r>
              <a:rPr lang="en-US" sz="1300" dirty="0">
                <a:solidFill>
                  <a:srgbClr val="46566A"/>
                </a:solidFill>
                <a:latin typeface="Noto Sans KR" pitchFamily="34" charset="0"/>
                <a:ea typeface="Noto Sans KR" pitchFamily="34" charset="-122"/>
                <a:cs typeface="Noto Sans KR" pitchFamily="34" charset="-120"/>
              </a:rPr>
              <a:t> · POST /ask 요청</a:t>
            </a:r>
            <a:endParaRPr lang="en-US" sz="1300" dirty="0"/>
          </a:p>
        </p:txBody>
      </p:sp>
      <p:pic>
        <p:nvPicPr>
          <p:cNvPr id="5" name="Image 0" descr="arrow-down">    </p:cNvPr>
          <p:cNvPicPr>
            <a:picLocks noChangeAspect="1"/>
          </p:cNvPicPr>
          <p:nvPr/>
        </p:nvPicPr>
        <p:blipFill>
          <a:blip r:embed="rId1"/>
          <a:srcRect l="0" r="0" t="0" b="0"/>
          <a:stretch/>
        </p:blipFill>
        <p:spPr>
          <a:xfrm>
            <a:off x="2959100" y="2331641"/>
            <a:ext cx="152400" cy="203200"/>
          </a:xfrm>
          <a:prstGeom prst="rect">
            <a:avLst/>
          </a:prstGeom>
        </p:spPr>
      </p:pic>
      <p:sp>
        <p:nvSpPr>
          <p:cNvPr id="6" name="Text 3"/>
          <p:cNvSpPr/>
          <p:nvPr/>
        </p:nvSpPr>
        <p:spPr>
          <a:xfrm>
            <a:off x="815975" y="2588816"/>
            <a:ext cx="4438650" cy="440680"/>
          </a:xfrm>
          <a:prstGeom prst="roundRect">
            <a:avLst>
              <a:gd name="adj" fmla="val 16571"/>
            </a:avLst>
          </a:prstGeom>
          <a:solidFill>
            <a:srgbClr val="FCFDFC"/>
          </a:solidFill>
          <a:ln w="6350">
            <a:solidFill>
              <a:srgbClr val="D5DEDB"/>
            </a:solidFill>
            <a:prstDash val="solid"/>
          </a:ln>
        </p:spPr>
        <p:txBody>
          <a:bodyPr wrap="square" lIns="134187" tIns="83387" rIns="10362" bIns="57987"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② FastAPI</a:t>
            </a:r>
            <a:r>
              <a:rPr lang="en-US" sz="1300" dirty="0">
                <a:solidFill>
                  <a:srgbClr val="46566A"/>
                </a:solidFill>
                <a:latin typeface="Noto Sans KR" pitchFamily="34" charset="0"/>
                <a:ea typeface="Noto Sans KR" pitchFamily="34" charset="-122"/>
                <a:cs typeface="Noto Sans KR" pitchFamily="34" charset="-120"/>
              </a:rPr>
              <a:t> · 인증 · 입력 검증 · 비용 한도</a:t>
            </a:r>
            <a:endParaRPr lang="en-US" sz="1300" dirty="0"/>
          </a:p>
        </p:txBody>
      </p:sp>
      <p:pic>
        <p:nvPicPr>
          <p:cNvPr id="7" name="Image 1" descr="arrow-down">    </p:cNvPr>
          <p:cNvPicPr>
            <a:picLocks noChangeAspect="1"/>
          </p:cNvPicPr>
          <p:nvPr/>
        </p:nvPicPr>
        <p:blipFill>
          <a:blip r:embed="rId2"/>
          <a:srcRect l="0" r="0" t="0" b="0"/>
          <a:stretch/>
        </p:blipFill>
        <p:spPr>
          <a:xfrm>
            <a:off x="2959100" y="3083471"/>
            <a:ext cx="152400" cy="203200"/>
          </a:xfrm>
          <a:prstGeom prst="rect">
            <a:avLst/>
          </a:prstGeom>
        </p:spPr>
      </p:pic>
      <p:sp>
        <p:nvSpPr>
          <p:cNvPr id="8" name="Text 4"/>
          <p:cNvSpPr/>
          <p:nvPr/>
        </p:nvSpPr>
        <p:spPr>
          <a:xfrm>
            <a:off x="815975" y="3340646"/>
            <a:ext cx="4438650" cy="440680"/>
          </a:xfrm>
          <a:prstGeom prst="roundRect">
            <a:avLst>
              <a:gd name="adj" fmla="val 16571"/>
            </a:avLst>
          </a:prstGeom>
          <a:solidFill>
            <a:srgbClr val="E3F2EF"/>
          </a:solidFill>
          <a:ln w="6350">
            <a:solidFill>
              <a:srgbClr val="9FD3CB"/>
            </a:solidFill>
            <a:prstDash val="solid"/>
          </a:ln>
        </p:spPr>
        <p:txBody>
          <a:bodyPr wrap="square" lIns="134187" tIns="83387" rIns="10362" bIns="57987"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③ n8n Webhook 노드</a:t>
            </a:r>
            <a:r>
              <a:rPr lang="en-US" sz="1300" dirty="0">
                <a:solidFill>
                  <a:srgbClr val="2E4A47"/>
                </a:solidFill>
                <a:latin typeface="Noto Sans KR" pitchFamily="34" charset="0"/>
                <a:ea typeface="Noto Sans KR" pitchFamily="34" charset="-122"/>
                <a:cs typeface="Noto Sans KR" pitchFamily="34" charset="-120"/>
              </a:rPr>
              <a:t> · 요청 수신</a:t>
            </a:r>
            <a:endParaRPr lang="en-US" sz="1300" dirty="0"/>
          </a:p>
        </p:txBody>
      </p:sp>
      <p:pic>
        <p:nvPicPr>
          <p:cNvPr id="9" name="Image 2" descr="arrow-down">    </p:cNvPr>
          <p:cNvPicPr>
            <a:picLocks noChangeAspect="1"/>
          </p:cNvPicPr>
          <p:nvPr/>
        </p:nvPicPr>
        <p:blipFill>
          <a:blip r:embed="rId3"/>
          <a:srcRect l="0" r="0" t="0" b="0"/>
          <a:stretch/>
        </p:blipFill>
        <p:spPr>
          <a:xfrm>
            <a:off x="2959100" y="3835301"/>
            <a:ext cx="152400" cy="203200"/>
          </a:xfrm>
          <a:prstGeom prst="rect">
            <a:avLst/>
          </a:prstGeom>
        </p:spPr>
      </p:pic>
      <p:sp>
        <p:nvSpPr>
          <p:cNvPr id="10" name="Text 5"/>
          <p:cNvSpPr/>
          <p:nvPr/>
        </p:nvSpPr>
        <p:spPr>
          <a:xfrm>
            <a:off x="815975" y="4092476"/>
            <a:ext cx="4438650" cy="440680"/>
          </a:xfrm>
          <a:prstGeom prst="roundRect">
            <a:avLst>
              <a:gd name="adj" fmla="val 16571"/>
            </a:avLst>
          </a:prstGeom>
          <a:solidFill>
            <a:srgbClr val="E3F2EF"/>
          </a:solidFill>
          <a:ln w="6350">
            <a:solidFill>
              <a:srgbClr val="9FD3CB"/>
            </a:solidFill>
            <a:prstDash val="solid"/>
          </a:ln>
        </p:spPr>
        <p:txBody>
          <a:bodyPr wrap="square" lIns="134187" tIns="83387" rIns="10362" bIns="57987"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④ AI Agent 노드</a:t>
            </a:r>
            <a:r>
              <a:rPr lang="en-US" sz="1300" dirty="0">
                <a:solidFill>
                  <a:srgbClr val="2E4A47"/>
                </a:solidFill>
                <a:latin typeface="Noto Sans KR" pitchFamily="34" charset="0"/>
                <a:ea typeface="Noto Sans KR" pitchFamily="34" charset="-122"/>
                <a:cs typeface="Noto Sans KR" pitchFamily="34" charset="-120"/>
              </a:rPr>
              <a:t> · LLM + RAG + 도구</a:t>
            </a:r>
            <a:endParaRPr lang="en-US" sz="1300" dirty="0"/>
          </a:p>
        </p:txBody>
      </p:sp>
      <p:pic>
        <p:nvPicPr>
          <p:cNvPr id="11" name="Image 3" descr="arrow-down">    </p:cNvPr>
          <p:cNvPicPr>
            <a:picLocks noChangeAspect="1"/>
          </p:cNvPicPr>
          <p:nvPr/>
        </p:nvPicPr>
        <p:blipFill>
          <a:blip r:embed="rId4"/>
          <a:srcRect l="0" r="0" t="0" b="0"/>
          <a:stretch/>
        </p:blipFill>
        <p:spPr>
          <a:xfrm>
            <a:off x="2959100" y="4587131"/>
            <a:ext cx="152400" cy="203200"/>
          </a:xfrm>
          <a:prstGeom prst="rect">
            <a:avLst/>
          </a:prstGeom>
        </p:spPr>
      </p:pic>
      <p:sp>
        <p:nvSpPr>
          <p:cNvPr id="12" name="Text 6"/>
          <p:cNvSpPr/>
          <p:nvPr/>
        </p:nvSpPr>
        <p:spPr>
          <a:xfrm>
            <a:off x="815975" y="4844306"/>
            <a:ext cx="4438650" cy="440680"/>
          </a:xfrm>
          <a:prstGeom prst="roundRect">
            <a:avLst>
              <a:gd name="adj" fmla="val 16571"/>
            </a:avLst>
          </a:prstGeom>
          <a:solidFill>
            <a:srgbClr val="FCFDFC"/>
          </a:solidFill>
          <a:ln w="6350">
            <a:solidFill>
              <a:srgbClr val="D5DEDB"/>
            </a:solidFill>
            <a:prstDash val="solid"/>
          </a:ln>
        </p:spPr>
        <p:txBody>
          <a:bodyPr wrap="square" lIns="134187" tIns="83387" rIns="10362" bIns="57987"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⑤ Respond to Webhook</a:t>
            </a:r>
            <a:r>
              <a:rPr lang="en-US" sz="1300" dirty="0">
                <a:solidFill>
                  <a:srgbClr val="46566A"/>
                </a:solidFill>
                <a:latin typeface="Noto Sans KR" pitchFamily="34" charset="0"/>
                <a:ea typeface="Noto Sans KR" pitchFamily="34" charset="-122"/>
                <a:cs typeface="Noto Sans KR" pitchFamily="34" charset="-120"/>
              </a:rPr>
              <a:t> → FastAPI 저장 · 응답</a:t>
            </a:r>
            <a:endParaRPr lang="en-US" sz="1300" dirty="0"/>
          </a:p>
        </p:txBody>
      </p:sp>
      <p:sp>
        <p:nvSpPr>
          <p:cNvPr id="13" name="Text 7"/>
          <p:cNvSpPr/>
          <p:nvPr/>
        </p:nvSpPr>
        <p:spPr>
          <a:xfrm>
            <a:off x="5562600" y="1833811"/>
            <a:ext cx="5816600" cy="2156371"/>
          </a:xfrm>
          <a:prstGeom prst="roundRect">
            <a:avLst>
              <a:gd name="adj" fmla="val 4712"/>
            </a:avLst>
          </a:prstGeom>
          <a:solidFill>
            <a:srgbClr val="0E1A2B"/>
          </a:solidFill>
          <a:ln/>
        </p:spPr>
        <p:txBody>
          <a:bodyPr wrap="none" lIns="148042" tIns="122642" rIns="0"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@app.post("/ask")</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async def ask(req: AskReq, user=Depends(auth)):</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async with httpx.AsyncClient(timeout=60) as c:</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 = await c.post(f"{N8N_URL}/webhook/ask",</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json={"q": req.q, "user": user.id})</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r.raise_for_status()</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result = r.json()</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await save_log(user.id, req.q, result)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return result</a:t>
            </a:r>
            <a:endParaRPr lang="en-US" sz="1200" dirty="0"/>
          </a:p>
        </p:txBody>
      </p:sp>
      <p:sp>
        <p:nvSpPr>
          <p:cNvPr id="14" name="Text 8"/>
          <p:cNvSpPr/>
          <p:nvPr/>
        </p:nvSpPr>
        <p:spPr>
          <a:xfrm>
            <a:off x="5562600" y="4142581"/>
            <a:ext cx="5991098"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왜 백엔드를 거칠까?</a:t>
            </a:r>
            <a:r>
              <a:rPr lang="en-US" sz="1300" dirty="0">
                <a:solidFill>
                  <a:srgbClr val="46566A"/>
                </a:solidFill>
                <a:latin typeface="Noto Sans KR" pitchFamily="34" charset="0"/>
                <a:ea typeface="Noto Sans KR" pitchFamily="34" charset="-122"/>
                <a:cs typeface="Noto Sans KR" pitchFamily="34" charset="-120"/>
              </a:rPr>
              <a:t> n8n 주소와 LLM 키를 숨기고, 권한 · 비용 한도 · 로그를 한 곳에서 관리하기 위해서.</a:t>
            </a:r>
            <a:endParaRPr lang="en-US" sz="1300" dirty="0"/>
          </a:p>
        </p:txBody>
      </p:sp>
      <p:sp>
        <p:nvSpPr>
          <p:cNvPr id="15" name="Text 9"/>
          <p:cNvSpPr/>
          <p:nvPr/>
        </p:nvSpPr>
        <p:spPr>
          <a:xfrm>
            <a:off x="5562600" y="4790281"/>
            <a:ext cx="599109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E"/>
                </a:solidFill>
                <a:latin typeface="Noto Sans KR" pitchFamily="34" charset="0"/>
                <a:ea typeface="Noto Sans KR" pitchFamily="34" charset="-122"/>
                <a:cs typeface="Noto Sans KR" pitchFamily="34" charset="-120"/>
              </a:rPr>
              <a:t>참고: 편집기 테스트 주소는 /webhook-test/…, 운영 주소 /webhook/…는 워크플로우를 활성화해야 동작</a:t>
            </a:r>
            <a:endParaRPr lang="en-US" sz="1200" dirty="0"/>
          </a:p>
        </p:txBody>
      </p:sp>
      <p:sp>
        <p:nvSpPr>
          <p:cNvPr id="16"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7"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10 / 27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C1"/>
                </a:solidFill>
                <a:latin typeface="Noto Sans KR" pitchFamily="34" charset="0"/>
                <a:ea typeface="Noto Sans KR" pitchFamily="34" charset="-122"/>
                <a:cs typeface="Noto Sans KR" pitchFamily="34" charset="-120"/>
              </a:rPr>
              <a:t>03 · 구성 환경 — 저장소</a:t>
            </a:r>
            <a:endParaRPr lang="en-US" sz="1200" dirty="0"/>
          </a:p>
        </p:txBody>
      </p:sp>
      <p:sp>
        <p:nvSpPr>
          <p:cNvPr id="3" name="Text 1"/>
          <p:cNvSpPr/>
          <p:nvPr>
            <p:ph type="title"/>
          </p:nvPr>
        </p:nvSpPr>
        <p:spPr>
          <a:xfrm>
            <a:off x="812800" y="1153120"/>
            <a:ext cx="10883392" cy="87878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2F5F4"/>
                </a:solidFill>
                <a:latin typeface="Noto Sans KR" pitchFamily="34" charset="0"/>
                <a:ea typeface="Noto Sans KR" pitchFamily="34" charset="-122"/>
                <a:cs typeface="Noto Sans KR" pitchFamily="34" charset="-120"/>
              </a:rPr>
              <a:t>데이터의 모양과 쓰임이 다르면,</a:t>
            </a:r>
            <a:endParaRPr lang="en-US" sz="2800" dirty="0"/>
          </a:p>
          <a:p>
            <a:pPr algn="l" indent="0" marL="0">
              <a:lnSpc>
                <a:spcPts val="3360"/>
              </a:lnSpc>
              <a:buNone/>
            </a:pPr>
            <a:r>
              <a:rPr lang="en-US" sz="2800" b="1" i="0" dirty="0">
                <a:solidFill>
                  <a:srgbClr val="F2F5F4"/>
                </a:solidFill>
                <a:latin typeface="Noto Sans KR" pitchFamily="34" charset="0"/>
                <a:ea typeface="Noto Sans KR" pitchFamily="34" charset="-122"/>
                <a:cs typeface="Noto Sans KR" pitchFamily="34" charset="-120"/>
              </a:rPr>
              <a:t>맞는 저장소도 다르다</a:t>
            </a:r>
            <a:endParaRPr lang="en-US" sz="2800" dirty="0"/>
          </a:p>
        </p:txBody>
      </p:sp>
      <p:sp>
        <p:nvSpPr>
          <p:cNvPr id="4" name="Text 2"/>
          <p:cNvSpPr/>
          <p:nvPr/>
        </p:nvSpPr>
        <p:spPr>
          <a:xfrm>
            <a:off x="812800" y="2133501"/>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2D0"/>
                </a:solidFill>
                <a:latin typeface="Noto Sans KR" pitchFamily="34" charset="0"/>
                <a:ea typeface="Noto Sans KR" pitchFamily="34" charset="-122"/>
                <a:cs typeface="Noto Sans KR" pitchFamily="34" charset="-120"/>
              </a:rPr>
              <a:t>DB 하나로 모든 것을 해결하려 하면 어딘가에서 성능이나 유연성을 잃는다 — 이를 폴리글랏 퍼시스턴스(Polyglot Persistence)라 부른다.</a:t>
            </a:r>
            <a:endParaRPr lang="en-US" sz="1300" dirty="0"/>
          </a:p>
        </p:txBody>
      </p:sp>
      <p:sp>
        <p:nvSpPr>
          <p:cNvPr id="5" name="Shape 3"/>
          <p:cNvSpPr/>
          <p:nvPr/>
        </p:nvSpPr>
        <p:spPr>
          <a:xfrm>
            <a:off x="812800" y="2685951"/>
            <a:ext cx="3420517" cy="1494681"/>
          </a:xfrm>
          <a:prstGeom prst="roundRect">
            <a:avLst>
              <a:gd name="adj" fmla="val 6797"/>
            </a:avLst>
          </a:prstGeom>
          <a:solidFill>
            <a:srgbClr val="16263A"/>
          </a:solidFill>
          <a:ln/>
        </p:spPr>
      </p:sp>
      <p:sp>
        <p:nvSpPr>
          <p:cNvPr id="6" name="Text 4"/>
          <p:cNvSpPr/>
          <p:nvPr/>
        </p:nvSpPr>
        <p:spPr>
          <a:xfrm>
            <a:off x="1016000" y="288915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Noto Sans KR" pitchFamily="34" charset="0"/>
                <a:ea typeface="Noto Sans KR" pitchFamily="34" charset="-122"/>
                <a:cs typeface="Noto Sans KR" pitchFamily="34" charset="-120"/>
              </a:rPr>
              <a:t>구조가 고정된 레코드</a:t>
            </a:r>
            <a:endParaRPr lang="en-US" sz="1200" dirty="0"/>
          </a:p>
        </p:txBody>
      </p:sp>
      <p:sp>
        <p:nvSpPr>
          <p:cNvPr id="7" name="Text 5"/>
          <p:cNvSpPr/>
          <p:nvPr/>
        </p:nvSpPr>
        <p:spPr>
          <a:xfrm>
            <a:off x="1016000" y="317867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4"/>
                </a:solidFill>
                <a:latin typeface="Noto Sans KR" pitchFamily="34" charset="0"/>
                <a:ea typeface="Noto Sans KR" pitchFamily="34" charset="-122"/>
                <a:cs typeface="Noto Sans KR" pitchFamily="34" charset="-120"/>
              </a:rPr>
              <a:t>RDB · PostgreSQL</a:t>
            </a:r>
            <a:endParaRPr lang="en-US" sz="1600" dirty="0"/>
          </a:p>
        </p:txBody>
      </p:sp>
      <p:sp>
        <p:nvSpPr>
          <p:cNvPr id="8" name="Text 6"/>
          <p:cNvSpPr/>
          <p:nvPr/>
        </p:nvSpPr>
        <p:spPr>
          <a:xfrm>
            <a:off x="1016000" y="3498701"/>
            <a:ext cx="310454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6D4"/>
                </a:solidFill>
                <a:latin typeface="Noto Sans KR" pitchFamily="34" charset="0"/>
                <a:ea typeface="Noto Sans KR" pitchFamily="34" charset="-122"/>
                <a:cs typeface="Noto Sans KR" pitchFamily="34" charset="-120"/>
              </a:rPr>
              <a:t>회원 · 설비 · 주문처럼 관계가 있고, 정확한 수정(CRUD)과 트랜잭션이 중요</a:t>
            </a:r>
            <a:endParaRPr lang="en-US" sz="1300" dirty="0"/>
          </a:p>
        </p:txBody>
      </p:sp>
      <p:sp>
        <p:nvSpPr>
          <p:cNvPr id="9" name="Shape 7"/>
          <p:cNvSpPr/>
          <p:nvPr/>
        </p:nvSpPr>
        <p:spPr>
          <a:xfrm>
            <a:off x="4385717" y="2685951"/>
            <a:ext cx="3420517" cy="1494681"/>
          </a:xfrm>
          <a:prstGeom prst="roundRect">
            <a:avLst>
              <a:gd name="adj" fmla="val 6797"/>
            </a:avLst>
          </a:prstGeom>
          <a:solidFill>
            <a:srgbClr val="16263A"/>
          </a:solidFill>
          <a:ln/>
        </p:spPr>
      </p:sp>
      <p:sp>
        <p:nvSpPr>
          <p:cNvPr id="10" name="Text 8"/>
          <p:cNvSpPr/>
          <p:nvPr/>
        </p:nvSpPr>
        <p:spPr>
          <a:xfrm>
            <a:off x="4588917" y="288915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Noto Sans KR" pitchFamily="34" charset="0"/>
                <a:ea typeface="Noto Sans KR" pitchFamily="34" charset="-122"/>
                <a:cs typeface="Noto Sans KR" pitchFamily="34" charset="-120"/>
              </a:rPr>
              <a:t>시간 + 숫자</a:t>
            </a:r>
            <a:endParaRPr lang="en-US" sz="1200" dirty="0"/>
          </a:p>
        </p:txBody>
      </p:sp>
      <p:sp>
        <p:nvSpPr>
          <p:cNvPr id="11" name="Text 9"/>
          <p:cNvSpPr/>
          <p:nvPr/>
        </p:nvSpPr>
        <p:spPr>
          <a:xfrm>
            <a:off x="4588917" y="317867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4"/>
                </a:solidFill>
                <a:latin typeface="Noto Sans KR" pitchFamily="34" charset="0"/>
                <a:ea typeface="Noto Sans KR" pitchFamily="34" charset="-122"/>
                <a:cs typeface="Noto Sans KR" pitchFamily="34" charset="-120"/>
              </a:rPr>
              <a:t>시계열 DB · InfluxDB</a:t>
            </a:r>
            <a:endParaRPr lang="en-US" sz="1600" dirty="0"/>
          </a:p>
        </p:txBody>
      </p:sp>
      <p:sp>
        <p:nvSpPr>
          <p:cNvPr id="12" name="Text 10"/>
          <p:cNvSpPr/>
          <p:nvPr/>
        </p:nvSpPr>
        <p:spPr>
          <a:xfrm>
            <a:off x="4588917" y="3498701"/>
            <a:ext cx="310454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6D4"/>
                </a:solidFill>
                <a:latin typeface="Noto Sans KR" pitchFamily="34" charset="0"/>
                <a:ea typeface="Noto Sans KR" pitchFamily="34" charset="-122"/>
                <a:cs typeface="Noto Sans KR" pitchFamily="34" charset="-120"/>
              </a:rPr>
              <a:t>센서 · 메트릭처럼 초 단위로 계속 쌓이고, 기간별 평균 · 최대로 조회</a:t>
            </a:r>
            <a:endParaRPr lang="en-US" sz="1300" dirty="0"/>
          </a:p>
        </p:txBody>
      </p:sp>
      <p:sp>
        <p:nvSpPr>
          <p:cNvPr id="13" name="Shape 11"/>
          <p:cNvSpPr/>
          <p:nvPr/>
        </p:nvSpPr>
        <p:spPr>
          <a:xfrm>
            <a:off x="7958634" y="2685951"/>
            <a:ext cx="3420566" cy="1494681"/>
          </a:xfrm>
          <a:prstGeom prst="roundRect">
            <a:avLst>
              <a:gd name="adj" fmla="val 6797"/>
            </a:avLst>
          </a:prstGeom>
          <a:solidFill>
            <a:srgbClr val="16263A"/>
          </a:solidFill>
          <a:ln/>
        </p:spPr>
      </p:sp>
      <p:sp>
        <p:nvSpPr>
          <p:cNvPr id="14" name="Text 12"/>
          <p:cNvSpPr/>
          <p:nvPr/>
        </p:nvSpPr>
        <p:spPr>
          <a:xfrm>
            <a:off x="8161834" y="288915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Noto Sans KR" pitchFamily="34" charset="0"/>
                <a:ea typeface="Noto Sans KR" pitchFamily="34" charset="-122"/>
                <a:cs typeface="Noto Sans KR" pitchFamily="34" charset="-120"/>
              </a:rPr>
              <a:t>자주 바뀌는 구조</a:t>
            </a:r>
            <a:endParaRPr lang="en-US" sz="1200" dirty="0"/>
          </a:p>
        </p:txBody>
      </p:sp>
      <p:sp>
        <p:nvSpPr>
          <p:cNvPr id="15" name="Text 13"/>
          <p:cNvSpPr/>
          <p:nvPr/>
        </p:nvSpPr>
        <p:spPr>
          <a:xfrm>
            <a:off x="8161834" y="3178671"/>
            <a:ext cx="3104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4"/>
                </a:solidFill>
                <a:latin typeface="Noto Sans KR" pitchFamily="34" charset="0"/>
                <a:ea typeface="Noto Sans KR" pitchFamily="34" charset="-122"/>
                <a:cs typeface="Noto Sans KR" pitchFamily="34" charset="-120"/>
              </a:rPr>
              <a:t>NoSQL 문서 · MongoDB</a:t>
            </a:r>
            <a:endParaRPr lang="en-US" sz="1600" dirty="0"/>
          </a:p>
        </p:txBody>
      </p:sp>
      <p:sp>
        <p:nvSpPr>
          <p:cNvPr id="16" name="Text 14"/>
          <p:cNvSpPr/>
          <p:nvPr/>
        </p:nvSpPr>
        <p:spPr>
          <a:xfrm>
            <a:off x="8161834" y="3498701"/>
            <a:ext cx="310459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6D4"/>
                </a:solidFill>
                <a:latin typeface="Noto Sans KR" pitchFamily="34" charset="0"/>
                <a:ea typeface="Noto Sans KR" pitchFamily="34" charset="-122"/>
                <a:cs typeface="Noto Sans KR" pitchFamily="34" charset="-120"/>
              </a:rPr>
              <a:t>설정 · 메타데이터처럼 키가 수시로 추가 · 변경되는 JSON 문서</a:t>
            </a:r>
            <a:endParaRPr lang="en-US" sz="13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6A4"/>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6A4"/>
                </a:solidFill>
                <a:latin typeface="Noto Sans KR" pitchFamily="34" charset="0"/>
                <a:ea typeface="Noto Sans KR" pitchFamily="34" charset="-122"/>
                <a:cs typeface="Noto Sans KR" pitchFamily="34" charset="-120"/>
              </a:rPr>
              <a:t>11 / 27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03 · 구성 환경 — 저장소</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세 저장소 비교: 무엇을, 왜</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10553700" cy="2422922"/>
        </p:xfrm>
        <a:graphic>
          <a:graphicData uri="http://schemas.openxmlformats.org/drawingml/2006/table">
            <a:tbl>
              <a:tblPr/>
              <a:tblGrid>
                <a:gridCol w="1477518"/>
                <a:gridCol w="2955036"/>
                <a:gridCol w="3166110"/>
                <a:gridCol w="2955036"/>
              </a:tblGrid>
              <a:tr h="403820">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구분</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PostgreSQL · RDB</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InfluxDB · 시계열</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MongoDB · 문서 NoSQL</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데이터 모양</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고정 스키마 테이블 + 관계(외래 키)</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시간 + 태그 + 정수 · 실수 필드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JSON 문서, 문서마다 키가 달라도 됨</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주된 작업</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레코드 CRUD · JOIN · 트랜잭션</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계속 추가(append) · 기간 집계</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문서 단위 읽기 · 쓰기, 중첩 구조 저장</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왜 이 DB인가</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ACID 트랜잭션 · 제약조건으로 정합성</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시간순 압축, 보존 정책으로 자동 삭제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ALTER 없이 새 키를 바로 추가</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예시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설비 마스터 · 사용자 · 작업 지시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센서 온도 · 진동, API 응답 시간</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장비별 임계값, 프롬프트 템플릿</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403820">
                <a:tc>
                  <a:txBody>
                    <a:bodyPr/>
                    <a:lstStyle/>
                    <a:p>
                      <a:pPr indent="0" marL="0">
                        <a:lnSpc>
                          <a:spcPts val="1680"/>
                        </a:lnSpc>
                        <a:buNone/>
                      </a:pPr>
                      <a:r>
                        <a:rPr lang="en-US" sz="1200" dirty="0">
                          <a:solidFill>
                            <a:srgbClr val="A04E10"/>
                          </a:solidFill>
                          <a:latin typeface="Noto Sans KR" pitchFamily="34" charset="0"/>
                          <a:ea typeface="Noto Sans KR" pitchFamily="34" charset="-122"/>
                          <a:cs typeface="Noto Sans KR" pitchFamily="34" charset="-120"/>
                        </a:rPr>
                        <a:t>주의</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초당 수천 건 시계열 적재엔 부담</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행 수정 · JOIN 같은 관계 연산에 약함</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스키마 검증 책임이 앱으로 이동</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12 / 27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03 · 구성 환경 — 들여다보기</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설비 “press-01”을 세 저장소에 담으면</a:t>
            </a:r>
            <a:endParaRPr lang="en-US" sz="2800" dirty="0"/>
          </a:p>
        </p:txBody>
      </p:sp>
      <p:sp>
        <p:nvSpPr>
          <p:cNvPr id="4" name="Text 2"/>
          <p:cNvSpPr/>
          <p:nvPr/>
        </p:nvSpPr>
        <p:spPr>
          <a:xfrm>
            <a:off x="812800" y="1833811"/>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PostgreSQL · 설비 마스터</a:t>
            </a:r>
            <a:endParaRPr lang="en-US" sz="1200" dirty="0"/>
          </a:p>
        </p:txBody>
      </p:sp>
      <p:sp>
        <p:nvSpPr>
          <p:cNvPr id="5" name="Text 3"/>
          <p:cNvSpPr/>
          <p:nvPr/>
        </p:nvSpPr>
        <p:spPr>
          <a:xfrm>
            <a:off x="812800" y="2148731"/>
            <a:ext cx="3098800" cy="1950641"/>
          </a:xfrm>
          <a:prstGeom prst="roundRect">
            <a:avLst>
              <a:gd name="adj" fmla="val 5209"/>
            </a:avLst>
          </a:prstGeom>
          <a:solidFill>
            <a:srgbClr val="0E1A2B"/>
          </a:solidFill>
          <a:ln/>
        </p:spPr>
        <p:txBody>
          <a:bodyPr wrap="none" lIns="122642" tIns="122642" rIns="38822"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CREATE TABLE equipment (</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id   SERIAL PRIMARY KEY,</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name TEXT NOT NULL,</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line TEXT NOT NULL</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INSERT INTO equipment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(name, line)</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VALUES ('press-01', 'A');</a:t>
            </a:r>
            <a:endParaRPr lang="en-US" sz="1200" dirty="0"/>
          </a:p>
        </p:txBody>
      </p:sp>
      <p:sp>
        <p:nvSpPr>
          <p:cNvPr id="6" name="Text 4"/>
          <p:cNvSpPr/>
          <p:nvPr/>
        </p:nvSpPr>
        <p:spPr>
          <a:xfrm>
            <a:off x="812800" y="4200971"/>
            <a:ext cx="31917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스키마가 먼저 — 규칙에 어긋난 값은 DB가 거절한다(NOT NULL)</a:t>
            </a:r>
            <a:endParaRPr lang="en-US" sz="1200" dirty="0"/>
          </a:p>
        </p:txBody>
      </p:sp>
      <p:sp>
        <p:nvSpPr>
          <p:cNvPr id="7" name="Text 5"/>
          <p:cNvSpPr/>
          <p:nvPr/>
        </p:nvSpPr>
        <p:spPr>
          <a:xfrm>
            <a:off x="4064000" y="183381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InfluxDB · 센서 값 (Line Protocol)</a:t>
            </a:r>
            <a:endParaRPr lang="en-US" sz="1200" dirty="0"/>
          </a:p>
        </p:txBody>
      </p:sp>
      <p:sp>
        <p:nvSpPr>
          <p:cNvPr id="8" name="Text 6"/>
          <p:cNvSpPr/>
          <p:nvPr/>
        </p:nvSpPr>
        <p:spPr>
          <a:xfrm>
            <a:off x="4064000" y="2148731"/>
            <a:ext cx="4064000" cy="1950641"/>
          </a:xfrm>
          <a:prstGeom prst="roundRect">
            <a:avLst>
              <a:gd name="adj" fmla="val 5209"/>
            </a:avLst>
          </a:prstGeom>
          <a:solidFill>
            <a:srgbClr val="0E1A2B"/>
          </a:solidFill>
          <a:ln/>
        </p:spPr>
        <p:txBody>
          <a:bodyPr wrap="none" lIns="122642" tIns="122642" rIns="9866" bIns="97242" rtlCol="0" anchor="t">
            <a:normAutofit/>
          </a:bodyPr>
          <a:lstStyle/>
          <a:p>
            <a:pPr algn="l" indent="0" marL="0">
              <a:lnSpc>
                <a:spcPts val="1620"/>
              </a:lnSpc>
              <a:buNone/>
            </a:pPr>
            <a:r>
              <a:rPr lang="en-US" sz="1200" dirty="0">
                <a:solidFill>
                  <a:srgbClr val="8FB5B0"/>
                </a:solidFill>
                <a:latin typeface="JetBrains Mono" pitchFamily="49" charset="0"/>
                <a:ea typeface="JetBrains Mono" pitchFamily="49" charset="-122"/>
                <a:cs typeface="JetBrains Mono" pitchFamily="49" charset="-120"/>
              </a:rPr>
              <a:t># 측정이름,태그 필드 [타임스탬프]</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machine,eq=press-01 temp=71.3,vib=0.42</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machine,eq=press-01 temp=71.9,vib=0.45</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machine,eq=press-01 temp=72.4,vib=0.51</a:t>
            </a:r>
            <a:endParaRPr lang="en-US" sz="1200" dirty="0"/>
          </a:p>
          <a:p>
            <a:pPr algn="l" indent="0" marL="0">
              <a:lnSpc>
                <a:spcPts val="1620"/>
              </a:lnSpc>
              <a:buNone/>
            </a:pPr>
            <a:endParaRPr lang="en-US" sz="1200" dirty="0"/>
          </a:p>
          <a:p>
            <a:pPr algn="l" indent="0" marL="0">
              <a:lnSpc>
                <a:spcPts val="1620"/>
              </a:lnSpc>
              <a:buNone/>
            </a:pPr>
            <a:r>
              <a:rPr lang="en-US" sz="1200" dirty="0">
                <a:solidFill>
                  <a:srgbClr val="8FB5B0"/>
                </a:solidFill>
                <a:latin typeface="JetBrains Mono" pitchFamily="49" charset="0"/>
                <a:ea typeface="JetBrains Mono" pitchFamily="49" charset="-122"/>
                <a:cs typeface="JetBrains Mono" pitchFamily="49" charset="-120"/>
              </a:rPr>
              <a:t># 최근 1시간, 5분 평균 (Flux 일부)</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|&gt; range(start: -1h)</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|&gt; aggregateWindow(every: 5m, fn: mean)</a:t>
            </a:r>
            <a:endParaRPr lang="en-US" sz="1200" dirty="0"/>
          </a:p>
        </p:txBody>
      </p:sp>
      <p:sp>
        <p:nvSpPr>
          <p:cNvPr id="9" name="Text 7"/>
          <p:cNvSpPr/>
          <p:nvPr/>
        </p:nvSpPr>
        <p:spPr>
          <a:xfrm>
            <a:off x="4064000" y="4200971"/>
            <a:ext cx="41859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한 줄 = 한 시점의 측정값. 타임스탬프를 생략하면 서버 수신 시각이 들어간다</a:t>
            </a:r>
            <a:endParaRPr lang="en-US" sz="1200" dirty="0"/>
          </a:p>
        </p:txBody>
      </p:sp>
      <p:sp>
        <p:nvSpPr>
          <p:cNvPr id="10" name="Text 8"/>
          <p:cNvSpPr/>
          <p:nvPr/>
        </p:nvSpPr>
        <p:spPr>
          <a:xfrm>
            <a:off x="8280400" y="1833811"/>
            <a:ext cx="31917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MongoDB · 장비 설정</a:t>
            </a:r>
            <a:endParaRPr lang="en-US" sz="1200" dirty="0"/>
          </a:p>
        </p:txBody>
      </p:sp>
      <p:sp>
        <p:nvSpPr>
          <p:cNvPr id="11" name="Text 9"/>
          <p:cNvSpPr/>
          <p:nvPr/>
        </p:nvSpPr>
        <p:spPr>
          <a:xfrm>
            <a:off x="8280400" y="2148731"/>
            <a:ext cx="3098800" cy="1950641"/>
          </a:xfrm>
          <a:prstGeom prst="roundRect">
            <a:avLst>
              <a:gd name="adj" fmla="val 5209"/>
            </a:avLst>
          </a:prstGeom>
          <a:solidFill>
            <a:srgbClr val="0E1A2B"/>
          </a:solidFill>
          <a:ln/>
        </p:spPr>
        <p:txBody>
          <a:bodyPr wrap="none" lIns="122642" tIns="122642" rIns="38822"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db.config.insertOne({</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eq: "press-01",</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threshold: { temp: 85 },</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model: "lstm-v3",</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alerts: ["slack", "sms"]</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a:t>
            </a:r>
            <a:endParaRPr lang="en-US" sz="1200" dirty="0"/>
          </a:p>
          <a:p>
            <a:pPr algn="l" indent="0" marL="0">
              <a:lnSpc>
                <a:spcPts val="1620"/>
              </a:lnSpc>
              <a:buNone/>
            </a:pP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t>
            </a:r>
            <a:endParaRPr lang="en-US" sz="1200" dirty="0"/>
          </a:p>
        </p:txBody>
      </p:sp>
      <p:sp>
        <p:nvSpPr>
          <p:cNvPr id="12" name="Text 10"/>
          <p:cNvSpPr/>
          <p:nvPr/>
        </p:nvSpPr>
        <p:spPr>
          <a:xfrm>
            <a:off x="8280400" y="4200971"/>
            <a:ext cx="31917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문서마다 구조가 달라도 됨 — 새 키(alerts)는 그냥 넣으면 끝</a:t>
            </a:r>
            <a:endParaRPr lang="en-US" sz="12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13 / 27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04 · 모니터링</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수집 → 저장 → 시각화</a:t>
            </a:r>
            <a:endParaRPr lang="en-US" sz="2800" dirty="0"/>
          </a:p>
        </p:txBody>
      </p:sp>
      <p:sp>
        <p:nvSpPr>
          <p:cNvPr id="4" name="Shape 2"/>
          <p:cNvSpPr/>
          <p:nvPr/>
        </p:nvSpPr>
        <p:spPr>
          <a:xfrm>
            <a:off x="815975" y="1786186"/>
            <a:ext cx="2660650" cy="641300"/>
          </a:xfrm>
          <a:prstGeom prst="roundRect">
            <a:avLst>
              <a:gd name="adj" fmla="val 11387"/>
            </a:avLst>
          </a:prstGeom>
          <a:solidFill>
            <a:srgbClr val="FCFDFC"/>
          </a:solidFill>
          <a:ln w="6350">
            <a:solidFill>
              <a:srgbClr val="D5DEDB"/>
            </a:solidFill>
            <a:prstDash val="solid"/>
          </a:ln>
        </p:spPr>
      </p:sp>
      <p:sp>
        <p:nvSpPr>
          <p:cNvPr id="5" name="Text 3"/>
          <p:cNvSpPr/>
          <p:nvPr/>
        </p:nvSpPr>
        <p:spPr>
          <a:xfrm>
            <a:off x="971550" y="1878261"/>
            <a:ext cx="241998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FastAPI 백엔드</a:t>
            </a:r>
            <a:endParaRPr lang="en-US" sz="1300" dirty="0"/>
          </a:p>
        </p:txBody>
      </p:sp>
      <p:sp>
        <p:nvSpPr>
          <p:cNvPr id="6" name="Text 4"/>
          <p:cNvSpPr/>
          <p:nvPr/>
        </p:nvSpPr>
        <p:spPr>
          <a:xfrm>
            <a:off x="971550" y="2122091"/>
            <a:ext cx="2419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/metrics · 요청 수 · 응답 시간</a:t>
            </a:r>
            <a:endParaRPr lang="en-US" sz="1200" dirty="0"/>
          </a:p>
        </p:txBody>
      </p:sp>
      <p:sp>
        <p:nvSpPr>
          <p:cNvPr id="7" name="Shape 5"/>
          <p:cNvSpPr/>
          <p:nvPr/>
        </p:nvSpPr>
        <p:spPr>
          <a:xfrm>
            <a:off x="815975" y="2535436"/>
            <a:ext cx="2660650" cy="641300"/>
          </a:xfrm>
          <a:prstGeom prst="roundRect">
            <a:avLst>
              <a:gd name="adj" fmla="val 11387"/>
            </a:avLst>
          </a:prstGeom>
          <a:solidFill>
            <a:srgbClr val="FCFDFC"/>
          </a:solidFill>
          <a:ln w="6350">
            <a:solidFill>
              <a:srgbClr val="D5DEDB"/>
            </a:solidFill>
            <a:prstDash val="solid"/>
          </a:ln>
        </p:spPr>
      </p:sp>
      <p:sp>
        <p:nvSpPr>
          <p:cNvPr id="8" name="Text 6"/>
          <p:cNvSpPr/>
          <p:nvPr/>
        </p:nvSpPr>
        <p:spPr>
          <a:xfrm>
            <a:off x="971550" y="2627511"/>
            <a:ext cx="241998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Go 수집 서비스</a:t>
            </a:r>
            <a:endParaRPr lang="en-US" sz="1300" dirty="0"/>
          </a:p>
        </p:txBody>
      </p:sp>
      <p:sp>
        <p:nvSpPr>
          <p:cNvPr id="9" name="Text 7"/>
          <p:cNvSpPr/>
          <p:nvPr/>
        </p:nvSpPr>
        <p:spPr>
          <a:xfrm>
            <a:off x="971550" y="2871341"/>
            <a:ext cx="2419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/metrics · 처리량 · 큐 길이</a:t>
            </a:r>
            <a:endParaRPr lang="en-US" sz="1200" dirty="0"/>
          </a:p>
        </p:txBody>
      </p:sp>
      <p:sp>
        <p:nvSpPr>
          <p:cNvPr id="10" name="Shape 8"/>
          <p:cNvSpPr/>
          <p:nvPr/>
        </p:nvSpPr>
        <p:spPr>
          <a:xfrm>
            <a:off x="815975" y="3284686"/>
            <a:ext cx="2660650" cy="641300"/>
          </a:xfrm>
          <a:prstGeom prst="roundRect">
            <a:avLst>
              <a:gd name="adj" fmla="val 11387"/>
            </a:avLst>
          </a:prstGeom>
          <a:solidFill>
            <a:srgbClr val="FCFDFC"/>
          </a:solidFill>
          <a:ln w="6350">
            <a:solidFill>
              <a:srgbClr val="D5DEDB"/>
            </a:solidFill>
            <a:prstDash val="solid"/>
          </a:ln>
        </p:spPr>
      </p:sp>
      <p:sp>
        <p:nvSpPr>
          <p:cNvPr id="11" name="Text 9"/>
          <p:cNvSpPr/>
          <p:nvPr/>
        </p:nvSpPr>
        <p:spPr>
          <a:xfrm>
            <a:off x="971550" y="3376761"/>
            <a:ext cx="241998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node_exporter</a:t>
            </a:r>
            <a:endParaRPr lang="en-US" sz="1300" dirty="0"/>
          </a:p>
        </p:txBody>
      </p:sp>
      <p:sp>
        <p:nvSpPr>
          <p:cNvPr id="12" name="Text 10"/>
          <p:cNvSpPr/>
          <p:nvPr/>
        </p:nvSpPr>
        <p:spPr>
          <a:xfrm>
            <a:off x="971550" y="3620591"/>
            <a:ext cx="2419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서버 CPU · 메모리 · 디스크</a:t>
            </a:r>
            <a:endParaRPr lang="en-US" sz="1200" dirty="0"/>
          </a:p>
        </p:txBody>
      </p:sp>
      <p:sp>
        <p:nvSpPr>
          <p:cNvPr id="13" name="Shape 11"/>
          <p:cNvSpPr/>
          <p:nvPr/>
        </p:nvSpPr>
        <p:spPr>
          <a:xfrm>
            <a:off x="815975" y="4033937"/>
            <a:ext cx="2660650" cy="641300"/>
          </a:xfrm>
          <a:prstGeom prst="roundRect">
            <a:avLst>
              <a:gd name="adj" fmla="val 11387"/>
            </a:avLst>
          </a:prstGeom>
          <a:solidFill>
            <a:srgbClr val="FBF1E8"/>
          </a:solidFill>
          <a:ln w="6350">
            <a:solidFill>
              <a:srgbClr val="EBC9A8"/>
            </a:solidFill>
            <a:prstDash val="solid"/>
          </a:ln>
        </p:spPr>
      </p:sp>
      <p:sp>
        <p:nvSpPr>
          <p:cNvPr id="14" name="Text 12"/>
          <p:cNvSpPr/>
          <p:nvPr/>
        </p:nvSpPr>
        <p:spPr>
          <a:xfrm>
            <a:off x="971550" y="4126012"/>
            <a:ext cx="241998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센서 게이트웨이 · Telegraf</a:t>
            </a:r>
            <a:endParaRPr lang="en-US" sz="1300" dirty="0"/>
          </a:p>
        </p:txBody>
      </p:sp>
      <p:sp>
        <p:nvSpPr>
          <p:cNvPr id="15" name="Text 13"/>
          <p:cNvSpPr/>
          <p:nvPr/>
        </p:nvSpPr>
        <p:spPr>
          <a:xfrm>
            <a:off x="971550" y="4369842"/>
            <a:ext cx="2419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3A20"/>
                </a:solidFill>
                <a:latin typeface="Noto Sans KR" pitchFamily="34" charset="0"/>
                <a:ea typeface="Noto Sans KR" pitchFamily="34" charset="-122"/>
                <a:cs typeface="Noto Sans KR" pitchFamily="34" charset="-120"/>
              </a:rPr>
              <a:t>설비 온도 · 진동 값</a:t>
            </a:r>
            <a:endParaRPr lang="en-US" sz="1200" dirty="0"/>
          </a:p>
        </p:txBody>
      </p:sp>
      <p:pic>
        <p:nvPicPr>
          <p:cNvPr id="16" name="Image 0" descr="arrow-right">    </p:cNvPr>
          <p:cNvPicPr>
            <a:picLocks noChangeAspect="1"/>
          </p:cNvPicPr>
          <p:nvPr/>
        </p:nvPicPr>
        <p:blipFill>
          <a:blip r:embed="rId1"/>
          <a:srcRect l="0" r="0" t="0" b="0"/>
          <a:stretch/>
        </p:blipFill>
        <p:spPr>
          <a:xfrm>
            <a:off x="3702050" y="2286546"/>
            <a:ext cx="508000" cy="254000"/>
          </a:xfrm>
          <a:prstGeom prst="rect">
            <a:avLst/>
          </a:prstGeom>
        </p:spPr>
      </p:pic>
      <p:sp>
        <p:nvSpPr>
          <p:cNvPr id="17" name="Text 14"/>
          <p:cNvSpPr/>
          <p:nvPr/>
        </p:nvSpPr>
        <p:spPr>
          <a:xfrm>
            <a:off x="3779183" y="2591346"/>
            <a:ext cx="35373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Pull</a:t>
            </a:r>
            <a:endParaRPr lang="en-US" sz="1200" dirty="0"/>
          </a:p>
        </p:txBody>
      </p:sp>
      <p:pic>
        <p:nvPicPr>
          <p:cNvPr id="18" name="Image 1" descr="arrow-right">    </p:cNvPr>
          <p:cNvPicPr>
            <a:picLocks noChangeAspect="1"/>
          </p:cNvPicPr>
          <p:nvPr/>
        </p:nvPicPr>
        <p:blipFill>
          <a:blip r:embed="rId2"/>
          <a:srcRect l="0" r="0" t="0" b="0"/>
          <a:stretch/>
        </p:blipFill>
        <p:spPr>
          <a:xfrm>
            <a:off x="3702050" y="3811736"/>
            <a:ext cx="508000" cy="254000"/>
          </a:xfrm>
          <a:prstGeom prst="rect">
            <a:avLst/>
          </a:prstGeom>
        </p:spPr>
      </p:pic>
      <p:sp>
        <p:nvSpPr>
          <p:cNvPr id="19" name="Text 15"/>
          <p:cNvSpPr/>
          <p:nvPr/>
        </p:nvSpPr>
        <p:spPr>
          <a:xfrm>
            <a:off x="3732991" y="4116536"/>
            <a:ext cx="44606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04E10"/>
                </a:solidFill>
                <a:latin typeface="Noto Sans KR" pitchFamily="34" charset="0"/>
                <a:ea typeface="Noto Sans KR" pitchFamily="34" charset="-122"/>
                <a:cs typeface="Noto Sans KR" pitchFamily="34" charset="-120"/>
              </a:rPr>
              <a:t>Push</a:t>
            </a:r>
            <a:endParaRPr lang="en-US" sz="1200" dirty="0"/>
          </a:p>
        </p:txBody>
      </p:sp>
      <p:sp>
        <p:nvSpPr>
          <p:cNvPr id="20" name="Shape 16"/>
          <p:cNvSpPr/>
          <p:nvPr/>
        </p:nvSpPr>
        <p:spPr>
          <a:xfrm>
            <a:off x="4438650" y="1789361"/>
            <a:ext cx="2781300" cy="1546771"/>
          </a:xfrm>
          <a:prstGeom prst="roundRect">
            <a:avLst>
              <a:gd name="adj" fmla="val 6158"/>
            </a:avLst>
          </a:prstGeom>
          <a:solidFill>
            <a:srgbClr val="FCFDFC"/>
          </a:solidFill>
          <a:ln w="12700">
            <a:solidFill>
              <a:srgbClr val="157A6E"/>
            </a:solidFill>
            <a:prstDash val="solid"/>
          </a:ln>
        </p:spPr>
      </p:sp>
      <p:sp>
        <p:nvSpPr>
          <p:cNvPr id="21" name="Text 17"/>
          <p:cNvSpPr/>
          <p:nvPr/>
        </p:nvSpPr>
        <p:spPr>
          <a:xfrm>
            <a:off x="4622800" y="1948111"/>
            <a:ext cx="24853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Prometheus</a:t>
            </a:r>
            <a:endParaRPr lang="en-US" sz="1600" dirty="0"/>
          </a:p>
        </p:txBody>
      </p:sp>
      <p:sp>
        <p:nvSpPr>
          <p:cNvPr id="22" name="Text 18"/>
          <p:cNvSpPr/>
          <p:nvPr/>
        </p:nvSpPr>
        <p:spPr>
          <a:xfrm>
            <a:off x="4622800" y="2242741"/>
            <a:ext cx="248539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설정한 주기(예: 15초)마다 대상의 /metrics를 가져감</a:t>
            </a:r>
            <a:endParaRPr lang="en-US" sz="1200" dirty="0"/>
          </a:p>
        </p:txBody>
      </p:sp>
      <p:sp>
        <p:nvSpPr>
          <p:cNvPr id="23" name="Text 19"/>
          <p:cNvSpPr/>
          <p:nvPr/>
        </p:nvSpPr>
        <p:spPr>
          <a:xfrm>
            <a:off x="4622800" y="2735461"/>
            <a:ext cx="248539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서비스 · 시스템 메트릭, 보존 기간 짧게(기본 15일)</a:t>
            </a:r>
            <a:endParaRPr lang="en-US" sz="1200" dirty="0"/>
          </a:p>
        </p:txBody>
      </p:sp>
      <p:sp>
        <p:nvSpPr>
          <p:cNvPr id="24" name="Shape 20"/>
          <p:cNvSpPr/>
          <p:nvPr/>
        </p:nvSpPr>
        <p:spPr>
          <a:xfrm>
            <a:off x="4438650" y="3501231"/>
            <a:ext cx="2781300" cy="1325811"/>
          </a:xfrm>
          <a:prstGeom prst="roundRect">
            <a:avLst>
              <a:gd name="adj" fmla="val 7184"/>
            </a:avLst>
          </a:prstGeom>
          <a:solidFill>
            <a:srgbClr val="FCFDFC"/>
          </a:solidFill>
          <a:ln w="12700">
            <a:solidFill>
              <a:srgbClr val="A04E10"/>
            </a:solidFill>
            <a:prstDash val="solid"/>
          </a:ln>
        </p:spPr>
      </p:sp>
      <p:sp>
        <p:nvSpPr>
          <p:cNvPr id="25" name="Text 21"/>
          <p:cNvSpPr/>
          <p:nvPr/>
        </p:nvSpPr>
        <p:spPr>
          <a:xfrm>
            <a:off x="4622800" y="3659981"/>
            <a:ext cx="24853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InfluxDB</a:t>
            </a:r>
            <a:endParaRPr lang="en-US" sz="1600" dirty="0"/>
          </a:p>
        </p:txBody>
      </p:sp>
      <p:sp>
        <p:nvSpPr>
          <p:cNvPr id="26" name="Text 22"/>
          <p:cNvSpPr/>
          <p:nvPr/>
        </p:nvSpPr>
        <p:spPr>
          <a:xfrm>
            <a:off x="4622800" y="3954611"/>
            <a:ext cx="248539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앱 · Telegraf가 직접 써 넣음</a:t>
            </a:r>
            <a:endParaRPr lang="en-US" sz="1200" dirty="0"/>
          </a:p>
        </p:txBody>
      </p:sp>
      <p:sp>
        <p:nvSpPr>
          <p:cNvPr id="27" name="Text 23"/>
          <p:cNvSpPr/>
          <p:nvPr/>
        </p:nvSpPr>
        <p:spPr>
          <a:xfrm>
            <a:off x="4622800" y="4226371"/>
            <a:ext cx="248539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센서 · 비즈니스 시계열, 보존 정책으로 장기 보관</a:t>
            </a:r>
            <a:endParaRPr lang="en-US" sz="1200" dirty="0"/>
          </a:p>
        </p:txBody>
      </p:sp>
      <p:pic>
        <p:nvPicPr>
          <p:cNvPr id="28" name="Image 2" descr="arrow-right">    </p:cNvPr>
          <p:cNvPicPr>
            <a:picLocks noChangeAspect="1"/>
          </p:cNvPicPr>
          <p:nvPr/>
        </p:nvPicPr>
        <p:blipFill>
          <a:blip r:embed="rId3"/>
          <a:srcRect l="0" r="0" t="0" b="0"/>
          <a:stretch/>
        </p:blipFill>
        <p:spPr>
          <a:xfrm>
            <a:off x="7448550" y="2957711"/>
            <a:ext cx="508000" cy="254000"/>
          </a:xfrm>
          <a:prstGeom prst="rect">
            <a:avLst/>
          </a:prstGeom>
        </p:spPr>
      </p:pic>
      <p:sp>
        <p:nvSpPr>
          <p:cNvPr id="29" name="Text 24"/>
          <p:cNvSpPr/>
          <p:nvPr/>
        </p:nvSpPr>
        <p:spPr>
          <a:xfrm>
            <a:off x="7356029" y="3262511"/>
            <a:ext cx="693043"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PromQL</a:t>
            </a:r>
            <a:endParaRPr lang="en-US" sz="1200" dirty="0"/>
          </a:p>
          <a:p>
            <a:pPr algn="ctr" indent="0" marL="0">
              <a:lnSpc>
                <a:spcPts val="1560"/>
              </a:lnSpc>
              <a:buNone/>
            </a:pPr>
            <a:r>
              <a:rPr lang="en-US" sz="1200" dirty="0">
                <a:solidFill>
                  <a:srgbClr val="46566A"/>
                </a:solidFill>
                <a:latin typeface="Noto Sans KR" pitchFamily="34" charset="0"/>
                <a:ea typeface="Noto Sans KR" pitchFamily="34" charset="-122"/>
                <a:cs typeface="Noto Sans KR" pitchFamily="34" charset="-120"/>
              </a:rPr>
              <a:t>Flux/SQL</a:t>
            </a:r>
            <a:endParaRPr lang="en-US" sz="1200" dirty="0"/>
          </a:p>
        </p:txBody>
      </p:sp>
      <p:sp>
        <p:nvSpPr>
          <p:cNvPr id="30" name="Shape 25"/>
          <p:cNvSpPr/>
          <p:nvPr/>
        </p:nvSpPr>
        <p:spPr>
          <a:xfrm>
            <a:off x="8178800" y="2386161"/>
            <a:ext cx="3200400" cy="1844030"/>
          </a:xfrm>
          <a:prstGeom prst="roundRect">
            <a:avLst>
              <a:gd name="adj" fmla="val 5510"/>
            </a:avLst>
          </a:prstGeom>
          <a:solidFill>
            <a:srgbClr val="0E1A2B"/>
          </a:solidFill>
          <a:ln/>
        </p:spPr>
      </p:sp>
      <p:pic>
        <p:nvPicPr>
          <p:cNvPr id="31" name="Image 3" descr="Chart">    </p:cNvPr>
          <p:cNvPicPr>
            <a:picLocks noChangeAspect="1"/>
          </p:cNvPicPr>
          <p:nvPr/>
        </p:nvPicPr>
        <p:blipFill>
          <a:blip r:embed="rId4"/>
          <a:srcRect l="0" r="0" t="0" b="0"/>
          <a:stretch/>
        </p:blipFill>
        <p:spPr>
          <a:xfrm>
            <a:off x="8382000" y="2589361"/>
            <a:ext cx="304800" cy="304800"/>
          </a:xfrm>
          <a:prstGeom prst="rect">
            <a:avLst/>
          </a:prstGeom>
        </p:spPr>
      </p:pic>
      <p:sp>
        <p:nvSpPr>
          <p:cNvPr id="32" name="Text 26"/>
          <p:cNvSpPr/>
          <p:nvPr/>
        </p:nvSpPr>
        <p:spPr>
          <a:xfrm>
            <a:off x="8382000" y="2995761"/>
            <a:ext cx="28778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5F4"/>
                </a:solidFill>
                <a:latin typeface="Noto Sans KR" pitchFamily="34" charset="0"/>
                <a:ea typeface="Noto Sans KR" pitchFamily="34" charset="-122"/>
                <a:cs typeface="Noto Sans KR" pitchFamily="34" charset="-120"/>
              </a:rPr>
              <a:t>Grafana</a:t>
            </a:r>
            <a:endParaRPr lang="en-US" sz="1600" dirty="0"/>
          </a:p>
        </p:txBody>
      </p:sp>
      <p:sp>
        <p:nvSpPr>
          <p:cNvPr id="33" name="Text 27"/>
          <p:cNvSpPr/>
          <p:nvPr/>
        </p:nvSpPr>
        <p:spPr>
          <a:xfrm>
            <a:off x="8468106" y="3341191"/>
            <a:ext cx="2784094" cy="711200"/>
          </a:xfrm>
          <a:prstGeom prst="rect">
            <a:avLst/>
          </a:prstGeom>
          <a:noFill/>
          <a:ln/>
        </p:spPr>
        <p:txBody>
          <a:bodyPr wrap="square" lIns="0" tIns="0" rIns="0" bIns="0" rtlCol="0" anchor="t">
            <a:normAutofit/>
          </a:bodyPr>
          <a:lstStyle/>
          <a:p>
            <a:pPr algn="l" marL="167894" indent="-167894">
              <a:lnSpc>
                <a:spcPts val="1800"/>
              </a:lnSpc>
              <a:buSzPct val="100000"/>
              <a:buChar char="•"/>
            </a:pPr>
            <a:r>
              <a:rPr lang="en-US" sz="1200" dirty="0">
                <a:solidFill>
                  <a:srgbClr val="C9D6D4"/>
                </a:solidFill>
                <a:latin typeface="Noto Sans KR" pitchFamily="34" charset="0"/>
                <a:ea typeface="Noto Sans KR" pitchFamily="34" charset="-122"/>
                <a:cs typeface="Noto Sans KR" pitchFamily="34" charset="-120"/>
              </a:rPr>
              <a:t>두 저장소를 데이터 소스로 연결</a:t>
            </a:r>
            <a:endParaRPr lang="en-US" sz="1200" dirty="0"/>
          </a:p>
          <a:p>
            <a:pPr algn="l" marL="167894" indent="-167894">
              <a:lnSpc>
                <a:spcPts val="1800"/>
              </a:lnSpc>
              <a:buSzPct val="100000"/>
              <a:buChar char="•"/>
            </a:pPr>
            <a:r>
              <a:rPr lang="en-US" sz="1200" dirty="0">
                <a:solidFill>
                  <a:srgbClr val="C9D6D4"/>
                </a:solidFill>
                <a:latin typeface="Noto Sans KR" pitchFamily="34" charset="0"/>
                <a:ea typeface="Noto Sans KR" pitchFamily="34" charset="-122"/>
                <a:cs typeface="Noto Sans KR" pitchFamily="34" charset="-120"/>
              </a:rPr>
              <a:t>대시보드 · 패널 구성</a:t>
            </a:r>
            <a:endParaRPr lang="en-US" sz="1200" dirty="0"/>
          </a:p>
          <a:p>
            <a:pPr algn="l" marL="167894" indent="-167894">
              <a:lnSpc>
                <a:spcPts val="1800"/>
              </a:lnSpc>
              <a:buSzPct val="100000"/>
              <a:buChar char="•"/>
            </a:pPr>
            <a:r>
              <a:rPr lang="en-US" sz="1200" dirty="0">
                <a:solidFill>
                  <a:srgbClr val="C9D6D4"/>
                </a:solidFill>
                <a:latin typeface="Noto Sans KR" pitchFamily="34" charset="0"/>
                <a:ea typeface="Noto Sans KR" pitchFamily="34" charset="-122"/>
                <a:cs typeface="Noto Sans KR" pitchFamily="34" charset="-120"/>
              </a:rPr>
              <a:t>임계값 알림 → Slack · 메일</a:t>
            </a:r>
            <a:endParaRPr lang="en-US" sz="1200" dirty="0"/>
          </a:p>
        </p:txBody>
      </p:sp>
      <p:sp>
        <p:nvSpPr>
          <p:cNvPr id="34" name="Text 28"/>
          <p:cNvSpPr/>
          <p:nvPr/>
        </p:nvSpPr>
        <p:spPr>
          <a:xfrm>
            <a:off x="812800" y="508739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66A"/>
                </a:solidFill>
                <a:latin typeface="Noto Sans KR" pitchFamily="34" charset="0"/>
                <a:ea typeface="Noto Sans KR" pitchFamily="34" charset="-122"/>
                <a:cs typeface="Noto Sans KR" pitchFamily="34" charset="-120"/>
              </a:rPr>
              <a:t>Prometheus는 </a:t>
            </a:r>
            <a:r>
              <a:rPr lang="en-US" sz="1300" b="1" dirty="0">
                <a:solidFill>
                  <a:srgbClr val="157A6E"/>
                </a:solidFill>
                <a:latin typeface="Noto Sans KR" pitchFamily="34" charset="0"/>
                <a:ea typeface="Noto Sans KR" pitchFamily="34" charset="-122"/>
                <a:cs typeface="Noto Sans KR" pitchFamily="34" charset="-120"/>
              </a:rPr>
              <a:t>“서버가 아픈가”</a:t>
            </a:r>
            <a:r>
              <a:rPr lang="en-US" sz="1300" dirty="0">
                <a:solidFill>
                  <a:srgbClr val="46566A"/>
                </a:solidFill>
                <a:latin typeface="Noto Sans KR" pitchFamily="34" charset="0"/>
                <a:ea typeface="Noto Sans KR" pitchFamily="34" charset="-122"/>
                <a:cs typeface="Noto Sans KR" pitchFamily="34" charset="-120"/>
              </a:rPr>
              <a:t>, InfluxDB는 </a:t>
            </a:r>
            <a:r>
              <a:rPr lang="en-US" sz="1300" b="1" dirty="0">
                <a:solidFill>
                  <a:srgbClr val="A04E10"/>
                </a:solidFill>
                <a:latin typeface="Noto Sans KR" pitchFamily="34" charset="0"/>
                <a:ea typeface="Noto Sans KR" pitchFamily="34" charset="-122"/>
                <a:cs typeface="Noto Sans KR" pitchFamily="34" charset="-120"/>
              </a:rPr>
              <a:t>“설비가 아픈가”</a:t>
            </a:r>
            <a:r>
              <a:rPr lang="en-US" sz="1300" dirty="0">
                <a:solidFill>
                  <a:srgbClr val="46566A"/>
                </a:solidFill>
                <a:latin typeface="Noto Sans KR" pitchFamily="34" charset="0"/>
                <a:ea typeface="Noto Sans KR" pitchFamily="34" charset="-122"/>
                <a:cs typeface="Noto Sans KR" pitchFamily="34" charset="-120"/>
              </a:rPr>
              <a:t>를 본다 — Grafana는 둘을 한 화면에.</a:t>
            </a:r>
            <a:endParaRPr lang="en-US" sz="1300" dirty="0"/>
          </a:p>
        </p:txBody>
      </p:sp>
      <p:sp>
        <p:nvSpPr>
          <p:cNvPr id="35"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6"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14 / 27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04 · 모니터링</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어떤 메트릭을 구할까: RED와 USE</a:t>
            </a:r>
            <a:endParaRPr lang="en-US" sz="2800" dirty="0"/>
          </a:p>
        </p:txBody>
      </p:sp>
      <p:sp>
        <p:nvSpPr>
          <p:cNvPr id="4" name="Shape 2"/>
          <p:cNvSpPr/>
          <p:nvPr/>
        </p:nvSpPr>
        <p:spPr>
          <a:xfrm>
            <a:off x="815975" y="1836986"/>
            <a:ext cx="4311650" cy="1424930"/>
          </a:xfrm>
          <a:prstGeom prst="roundRect">
            <a:avLst>
              <a:gd name="adj" fmla="val 6907"/>
            </a:avLst>
          </a:prstGeom>
          <a:solidFill>
            <a:srgbClr val="FCFDFC"/>
          </a:solidFill>
          <a:ln w="6350">
            <a:solidFill>
              <a:srgbClr val="D5DEDB"/>
            </a:solidFill>
            <a:prstDash val="solid"/>
          </a:ln>
        </p:spPr>
      </p:sp>
      <p:sp>
        <p:nvSpPr>
          <p:cNvPr id="5" name="Text 3"/>
          <p:cNvSpPr/>
          <p:nvPr/>
        </p:nvSpPr>
        <p:spPr>
          <a:xfrm>
            <a:off x="1022350" y="2017961"/>
            <a:ext cx="40158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7A6E"/>
                </a:solidFill>
                <a:latin typeface="Noto Sans KR" pitchFamily="34" charset="0"/>
                <a:ea typeface="Noto Sans KR" pitchFamily="34" charset="-122"/>
                <a:cs typeface="Noto Sans KR" pitchFamily="34" charset="-120"/>
              </a:rPr>
              <a:t>RED · 서비스(API) 관점</a:t>
            </a:r>
            <a:endParaRPr lang="en-US" sz="1600" dirty="0"/>
          </a:p>
        </p:txBody>
      </p:sp>
      <p:sp>
        <p:nvSpPr>
          <p:cNvPr id="6" name="Text 4"/>
          <p:cNvSpPr/>
          <p:nvPr/>
        </p:nvSpPr>
        <p:spPr>
          <a:xfrm>
            <a:off x="1022350" y="2337991"/>
            <a:ext cx="4015867"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R</a:t>
            </a:r>
            <a:r>
              <a:rPr lang="en-US" sz="1300" dirty="0">
                <a:solidFill>
                  <a:srgbClr val="46566A"/>
                </a:solidFill>
                <a:latin typeface="Noto Sans KR" pitchFamily="34" charset="0"/>
                <a:ea typeface="Noto Sans KR" pitchFamily="34" charset="-122"/>
                <a:cs typeface="Noto Sans KR" pitchFamily="34" charset="-120"/>
              </a:rPr>
              <a:t>ate — 초당 요청 수</a:t>
            </a:r>
            <a:endParaRPr lang="en-US" sz="1300" dirty="0"/>
          </a:p>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E</a:t>
            </a:r>
            <a:r>
              <a:rPr lang="en-US" sz="1300" dirty="0">
                <a:solidFill>
                  <a:srgbClr val="46566A"/>
                </a:solidFill>
                <a:latin typeface="Noto Sans KR" pitchFamily="34" charset="0"/>
                <a:ea typeface="Noto Sans KR" pitchFamily="34" charset="-122"/>
                <a:cs typeface="Noto Sans KR" pitchFamily="34" charset="-120"/>
              </a:rPr>
              <a:t>rrors — 오류 비율</a:t>
            </a:r>
            <a:endParaRPr lang="en-US" sz="1300" dirty="0"/>
          </a:p>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D</a:t>
            </a:r>
            <a:r>
              <a:rPr lang="en-US" sz="1300" dirty="0">
                <a:solidFill>
                  <a:srgbClr val="46566A"/>
                </a:solidFill>
                <a:latin typeface="Noto Sans KR" pitchFamily="34" charset="0"/>
                <a:ea typeface="Noto Sans KR" pitchFamily="34" charset="-122"/>
                <a:cs typeface="Noto Sans KR" pitchFamily="34" charset="-120"/>
              </a:rPr>
              <a:t>uration — 응답 시간(p95 · p99)</a:t>
            </a:r>
            <a:endParaRPr lang="en-US" sz="1300" dirty="0"/>
          </a:p>
        </p:txBody>
      </p:sp>
      <p:sp>
        <p:nvSpPr>
          <p:cNvPr id="7" name="Shape 5"/>
          <p:cNvSpPr/>
          <p:nvPr/>
        </p:nvSpPr>
        <p:spPr>
          <a:xfrm>
            <a:off x="815975" y="3420666"/>
            <a:ext cx="4311650" cy="1424930"/>
          </a:xfrm>
          <a:prstGeom prst="roundRect">
            <a:avLst>
              <a:gd name="adj" fmla="val 6907"/>
            </a:avLst>
          </a:prstGeom>
          <a:solidFill>
            <a:srgbClr val="FCFDFC"/>
          </a:solidFill>
          <a:ln w="6350">
            <a:solidFill>
              <a:srgbClr val="D5DEDB"/>
            </a:solidFill>
            <a:prstDash val="solid"/>
          </a:ln>
        </p:spPr>
      </p:sp>
      <p:sp>
        <p:nvSpPr>
          <p:cNvPr id="8" name="Text 6"/>
          <p:cNvSpPr/>
          <p:nvPr/>
        </p:nvSpPr>
        <p:spPr>
          <a:xfrm>
            <a:off x="1022350" y="3601641"/>
            <a:ext cx="40158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04E10"/>
                </a:solidFill>
                <a:latin typeface="Noto Sans KR" pitchFamily="34" charset="0"/>
                <a:ea typeface="Noto Sans KR" pitchFamily="34" charset="-122"/>
                <a:cs typeface="Noto Sans KR" pitchFamily="34" charset="-120"/>
              </a:rPr>
              <a:t>USE · 자원(서버) 관점</a:t>
            </a:r>
            <a:endParaRPr lang="en-US" sz="1600" dirty="0"/>
          </a:p>
        </p:txBody>
      </p:sp>
      <p:sp>
        <p:nvSpPr>
          <p:cNvPr id="9" name="Text 7"/>
          <p:cNvSpPr/>
          <p:nvPr/>
        </p:nvSpPr>
        <p:spPr>
          <a:xfrm>
            <a:off x="1022350" y="3921671"/>
            <a:ext cx="4015867"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U</a:t>
            </a:r>
            <a:r>
              <a:rPr lang="en-US" sz="1300" dirty="0">
                <a:solidFill>
                  <a:srgbClr val="46566A"/>
                </a:solidFill>
                <a:latin typeface="Noto Sans KR" pitchFamily="34" charset="0"/>
                <a:ea typeface="Noto Sans KR" pitchFamily="34" charset="-122"/>
                <a:cs typeface="Noto Sans KR" pitchFamily="34" charset="-120"/>
              </a:rPr>
              <a:t>tilization — CPU · 메모리 사용률</a:t>
            </a:r>
            <a:endParaRPr lang="en-US" sz="1300" dirty="0"/>
          </a:p>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S</a:t>
            </a:r>
            <a:r>
              <a:rPr lang="en-US" sz="1300" dirty="0">
                <a:solidFill>
                  <a:srgbClr val="46566A"/>
                </a:solidFill>
                <a:latin typeface="Noto Sans KR" pitchFamily="34" charset="0"/>
                <a:ea typeface="Noto Sans KR" pitchFamily="34" charset="-122"/>
                <a:cs typeface="Noto Sans KR" pitchFamily="34" charset="-120"/>
              </a:rPr>
              <a:t>aturation — 포화(대기열 · 부하)</a:t>
            </a:r>
            <a:endParaRPr lang="en-US" sz="1300" dirty="0"/>
          </a:p>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E</a:t>
            </a:r>
            <a:r>
              <a:rPr lang="en-US" sz="1300" dirty="0">
                <a:solidFill>
                  <a:srgbClr val="46566A"/>
                </a:solidFill>
                <a:latin typeface="Noto Sans KR" pitchFamily="34" charset="0"/>
                <a:ea typeface="Noto Sans KR" pitchFamily="34" charset="-122"/>
                <a:cs typeface="Noto Sans KR" pitchFamily="34" charset="-120"/>
              </a:rPr>
              <a:t>rrors — 디스크 · 네트워크 오류</a:t>
            </a:r>
            <a:endParaRPr lang="en-US" sz="1300" dirty="0"/>
          </a:p>
        </p:txBody>
      </p:sp>
      <p:sp>
        <p:nvSpPr>
          <p:cNvPr id="10" name="Text 8"/>
          <p:cNvSpPr/>
          <p:nvPr/>
        </p:nvSpPr>
        <p:spPr>
          <a:xfrm>
            <a:off x="5435600" y="1833811"/>
            <a:ext cx="5943600" cy="2362101"/>
          </a:xfrm>
          <a:prstGeom prst="roundRect">
            <a:avLst>
              <a:gd name="adj" fmla="val 4301"/>
            </a:avLst>
          </a:prstGeom>
          <a:solidFill>
            <a:srgbClr val="0E1A2B"/>
          </a:solidFill>
          <a:ln/>
        </p:spPr>
        <p:txBody>
          <a:bodyPr wrap="none" lIns="148042" tIns="122642" rIns="0" bIns="97242" rtlCol="0" anchor="t">
            <a:normAutofit/>
          </a:bodyPr>
          <a:lstStyle/>
          <a:p>
            <a:pPr algn="l" indent="0" marL="0">
              <a:lnSpc>
                <a:spcPts val="1620"/>
              </a:lnSpc>
              <a:buNone/>
            </a:pPr>
            <a:r>
              <a:rPr lang="en-US" sz="1200" dirty="0">
                <a:solidFill>
                  <a:srgbClr val="8FB5B0"/>
                </a:solidFill>
                <a:latin typeface="JetBrains Mono" pitchFamily="49" charset="0"/>
                <a:ea typeface="JetBrains Mono" pitchFamily="49" charset="-122"/>
                <a:cs typeface="JetBrains Mono" pitchFamily="49" charset="-120"/>
              </a:rPr>
              <a:t># 초당 요청 수 (최근 5분 기준)</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sum(rate(http_requests_total[5m]))</a:t>
            </a:r>
            <a:endParaRPr lang="en-US" sz="1200" dirty="0"/>
          </a:p>
          <a:p>
            <a:pPr algn="l" indent="0" marL="0">
              <a:lnSpc>
                <a:spcPts val="1620"/>
              </a:lnSpc>
              <a:buNone/>
            </a:pPr>
            <a:endParaRPr lang="en-US" sz="1200" dirty="0"/>
          </a:p>
          <a:p>
            <a:pPr algn="l" indent="0" marL="0">
              <a:lnSpc>
                <a:spcPts val="1620"/>
              </a:lnSpc>
              <a:buNone/>
            </a:pPr>
            <a:r>
              <a:rPr lang="en-US" sz="1200" dirty="0">
                <a:solidFill>
                  <a:srgbClr val="8FB5B0"/>
                </a:solidFill>
                <a:latin typeface="JetBrains Mono" pitchFamily="49" charset="0"/>
                <a:ea typeface="JetBrains Mono" pitchFamily="49" charset="-122"/>
                <a:cs typeface="JetBrains Mono" pitchFamily="49" charset="-120"/>
              </a:rPr>
              <a:t># 5xx 오류 비율</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sum(rate(http_requests_total{status=~"5.."}[5m]))</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 sum(rate(http_requests_total[5m]))</a:t>
            </a:r>
            <a:endParaRPr lang="en-US" sz="1200" dirty="0"/>
          </a:p>
          <a:p>
            <a:pPr algn="l" indent="0" marL="0">
              <a:lnSpc>
                <a:spcPts val="1620"/>
              </a:lnSpc>
              <a:buNone/>
            </a:pPr>
            <a:endParaRPr lang="en-US" sz="1200" dirty="0"/>
          </a:p>
          <a:p>
            <a:pPr algn="l" indent="0" marL="0">
              <a:lnSpc>
                <a:spcPts val="1620"/>
              </a:lnSpc>
              <a:buNone/>
            </a:pPr>
            <a:r>
              <a:rPr lang="en-US" sz="1200" dirty="0">
                <a:solidFill>
                  <a:srgbClr val="8FB5B0"/>
                </a:solidFill>
                <a:latin typeface="JetBrains Mono" pitchFamily="49" charset="0"/>
                <a:ea typeface="JetBrains Mono" pitchFamily="49" charset="-122"/>
                <a:cs typeface="JetBrains Mono" pitchFamily="49" charset="-120"/>
              </a:rPr>
              <a:t># p95 응답 시간(초)</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histogram_quantile(0.95, sum by (le)</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(rate(http_request_duration_seconds_bucket[5m])))</a:t>
            </a:r>
            <a:endParaRPr lang="en-US" sz="1200" dirty="0"/>
          </a:p>
        </p:txBody>
      </p:sp>
      <p:sp>
        <p:nvSpPr>
          <p:cNvPr id="11" name="Text 9"/>
          <p:cNvSpPr/>
          <p:nvPr/>
        </p:nvSpPr>
        <p:spPr>
          <a:xfrm>
            <a:off x="5435600" y="4322911"/>
            <a:ext cx="612190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6566A"/>
                </a:solidFill>
                <a:latin typeface="Noto Sans KR" pitchFamily="34" charset="0"/>
                <a:ea typeface="Noto Sans KR" pitchFamily="34" charset="-122"/>
                <a:cs typeface="Noto Sans KR" pitchFamily="34" charset="-120"/>
              </a:rPr>
              <a:t>FastAPI에 prometheus-fastapi-instrumentator를 붙이면 /metrics가 열리고 위 지표들이 자동으로 생긴다.</a:t>
            </a:r>
            <a:endParaRPr lang="en-US" sz="12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15 / 27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05 · 배포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왜 Docker Compose인가</a:t>
            </a:r>
            <a:endParaRPr lang="en-US" sz="2800" dirty="0"/>
          </a:p>
        </p:txBody>
      </p:sp>
      <p:sp>
        <p:nvSpPr>
          <p:cNvPr id="4" name="Shape 2"/>
          <p:cNvSpPr/>
          <p:nvPr/>
        </p:nvSpPr>
        <p:spPr>
          <a:xfrm>
            <a:off x="815975" y="1836986"/>
            <a:ext cx="4311650" cy="1424930"/>
          </a:xfrm>
          <a:prstGeom prst="roundRect">
            <a:avLst>
              <a:gd name="adj" fmla="val 6907"/>
            </a:avLst>
          </a:prstGeom>
          <a:solidFill>
            <a:srgbClr val="FBF1E8"/>
          </a:solidFill>
          <a:ln w="6350">
            <a:solidFill>
              <a:srgbClr val="EBC9A8"/>
            </a:solidFill>
            <a:prstDash val="solid"/>
          </a:ln>
        </p:spPr>
      </p:sp>
      <p:sp>
        <p:nvSpPr>
          <p:cNvPr id="5" name="Text 3"/>
          <p:cNvSpPr/>
          <p:nvPr/>
        </p:nvSpPr>
        <p:spPr>
          <a:xfrm>
            <a:off x="1022350" y="2017961"/>
            <a:ext cx="40158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04E10"/>
                </a:solidFill>
                <a:latin typeface="Noto Sans KR" pitchFamily="34" charset="0"/>
                <a:ea typeface="Noto Sans KR" pitchFamily="34" charset="-122"/>
                <a:cs typeface="Noto Sans KR" pitchFamily="34" charset="-120"/>
              </a:rPr>
              <a:t>직접 하나씩 실행하면</a:t>
            </a:r>
            <a:endParaRPr lang="en-US" sz="1600" dirty="0"/>
          </a:p>
        </p:txBody>
      </p:sp>
      <p:sp>
        <p:nvSpPr>
          <p:cNvPr id="6" name="Text 4"/>
          <p:cNvSpPr/>
          <p:nvPr/>
        </p:nvSpPr>
        <p:spPr>
          <a:xfrm>
            <a:off x="1094994" y="2337991"/>
            <a:ext cx="3935603" cy="768350"/>
          </a:xfrm>
          <a:prstGeom prst="rect">
            <a:avLst/>
          </a:prstGeom>
          <a:noFill/>
          <a:ln/>
        </p:spPr>
        <p:txBody>
          <a:bodyPr wrap="square" lIns="0" tIns="0" rIns="0" bIns="0" rtlCol="0" anchor="t">
            <a:normAutofit/>
          </a:bodyPr>
          <a:lstStyle/>
          <a:p>
            <a:pPr algn="l" marL="181356" indent="-181356">
              <a:lnSpc>
                <a:spcPts val="1950"/>
              </a:lnSpc>
              <a:buSzPct val="100000"/>
              <a:buChar char="•"/>
            </a:pPr>
            <a:r>
              <a:rPr lang="en-US" sz="1300" dirty="0">
                <a:solidFill>
                  <a:srgbClr val="5A3A20"/>
                </a:solidFill>
                <a:latin typeface="Noto Sans KR" pitchFamily="34" charset="0"/>
                <a:ea typeface="Noto Sans KR" pitchFamily="34" charset="-122"/>
                <a:cs typeface="Noto Sans KR" pitchFamily="34" charset="-120"/>
              </a:rPr>
              <a:t>서비스 8개를 각각 설치 · 실행</a:t>
            </a:r>
            <a:endParaRPr lang="en-US" sz="1300" dirty="0"/>
          </a:p>
          <a:p>
            <a:pPr algn="l" marL="181356" indent="-181356">
              <a:lnSpc>
                <a:spcPts val="1950"/>
              </a:lnSpc>
              <a:buSzPct val="100000"/>
              <a:buChar char="•"/>
            </a:pPr>
            <a:r>
              <a:rPr lang="en-US" sz="1300" dirty="0">
                <a:solidFill>
                  <a:srgbClr val="5A3A20"/>
                </a:solidFill>
                <a:latin typeface="Noto Sans KR" pitchFamily="34" charset="0"/>
                <a:ea typeface="Noto Sans KR" pitchFamily="34" charset="-122"/>
                <a:cs typeface="Noto Sans KR" pitchFamily="34" charset="-120"/>
              </a:rPr>
              <a:t>포트 · 환경변수 · 버전을 사람이 기억</a:t>
            </a:r>
            <a:endParaRPr lang="en-US" sz="1300" dirty="0"/>
          </a:p>
          <a:p>
            <a:pPr algn="l" marL="181356" indent="-181356">
              <a:lnSpc>
                <a:spcPts val="1950"/>
              </a:lnSpc>
              <a:buSzPct val="100000"/>
              <a:buChar char="•"/>
            </a:pPr>
            <a:r>
              <a:rPr lang="en-US" sz="1300" dirty="0">
                <a:solidFill>
                  <a:srgbClr val="5A3A20"/>
                </a:solidFill>
                <a:latin typeface="Noto Sans KR" pitchFamily="34" charset="0"/>
                <a:ea typeface="Noto Sans KR" pitchFamily="34" charset="-122"/>
                <a:cs typeface="Noto Sans KR" pitchFamily="34" charset="-120"/>
              </a:rPr>
              <a:t>“내 PC에선 되는데 서버에선 안 돼요”</a:t>
            </a:r>
            <a:endParaRPr lang="en-US" sz="1300" dirty="0"/>
          </a:p>
        </p:txBody>
      </p:sp>
      <p:sp>
        <p:nvSpPr>
          <p:cNvPr id="7" name="Shape 5"/>
          <p:cNvSpPr/>
          <p:nvPr/>
        </p:nvSpPr>
        <p:spPr>
          <a:xfrm>
            <a:off x="815975" y="3420666"/>
            <a:ext cx="4311650" cy="1424930"/>
          </a:xfrm>
          <a:prstGeom prst="roundRect">
            <a:avLst>
              <a:gd name="adj" fmla="val 6907"/>
            </a:avLst>
          </a:prstGeom>
          <a:solidFill>
            <a:srgbClr val="E3F2EF"/>
          </a:solidFill>
          <a:ln w="6350">
            <a:solidFill>
              <a:srgbClr val="9FD3CB"/>
            </a:solidFill>
            <a:prstDash val="solid"/>
          </a:ln>
        </p:spPr>
      </p:sp>
      <p:sp>
        <p:nvSpPr>
          <p:cNvPr id="8" name="Text 6"/>
          <p:cNvSpPr/>
          <p:nvPr/>
        </p:nvSpPr>
        <p:spPr>
          <a:xfrm>
            <a:off x="1022350" y="3601641"/>
            <a:ext cx="40158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7A6E"/>
                </a:solidFill>
                <a:latin typeface="Noto Sans KR" pitchFamily="34" charset="0"/>
                <a:ea typeface="Noto Sans KR" pitchFamily="34" charset="-122"/>
                <a:cs typeface="Noto Sans KR" pitchFamily="34" charset="-120"/>
              </a:rPr>
              <a:t>compose.yaml 하나로</a:t>
            </a:r>
            <a:endParaRPr lang="en-US" sz="1600" dirty="0"/>
          </a:p>
        </p:txBody>
      </p:sp>
      <p:sp>
        <p:nvSpPr>
          <p:cNvPr id="9" name="Text 7"/>
          <p:cNvSpPr/>
          <p:nvPr/>
        </p:nvSpPr>
        <p:spPr>
          <a:xfrm>
            <a:off x="1094994" y="3921671"/>
            <a:ext cx="3935603" cy="768350"/>
          </a:xfrm>
          <a:prstGeom prst="rect">
            <a:avLst/>
          </a:prstGeom>
          <a:noFill/>
          <a:ln/>
        </p:spPr>
        <p:txBody>
          <a:bodyPr wrap="square" lIns="0" tIns="0" rIns="0" bIns="0" rtlCol="0" anchor="t">
            <a:normAutofit/>
          </a:bodyPr>
          <a:lstStyle/>
          <a:p>
            <a:pPr algn="l" marL="181356" indent="-181356">
              <a:lnSpc>
                <a:spcPts val="1950"/>
              </a:lnSpc>
              <a:buSzPct val="100000"/>
              <a:buChar char="•"/>
            </a:pPr>
            <a:r>
              <a:rPr lang="en-US" sz="1300" dirty="0">
                <a:solidFill>
                  <a:srgbClr val="2E4A47"/>
                </a:solidFill>
                <a:latin typeface="Noto Sans KR" pitchFamily="34" charset="0"/>
                <a:ea typeface="Noto Sans KR" pitchFamily="34" charset="-122"/>
                <a:cs typeface="Noto Sans KR" pitchFamily="34" charset="-120"/>
              </a:rPr>
              <a:t>서비스 · 네트워크 · 볼륨을 한 파일에 선언</a:t>
            </a:r>
            <a:endParaRPr lang="en-US" sz="1300" dirty="0"/>
          </a:p>
          <a:p>
            <a:pPr algn="l" marL="181356" indent="-181356">
              <a:lnSpc>
                <a:spcPts val="1950"/>
              </a:lnSpc>
              <a:buSzPct val="100000"/>
              <a:buChar char="•"/>
            </a:pPr>
            <a:r>
              <a:rPr lang="en-US" sz="1300" dirty="0">
                <a:solidFill>
                  <a:srgbClr val="2E4A47"/>
                </a:solidFill>
                <a:latin typeface="Noto Sans KR" pitchFamily="34" charset="0"/>
                <a:ea typeface="Noto Sans KR" pitchFamily="34" charset="-122"/>
                <a:cs typeface="Noto Sans KR" pitchFamily="34" charset="-120"/>
              </a:rPr>
              <a:t>노트북 · 사내 서버 어디서나 같은 결과</a:t>
            </a:r>
            <a:endParaRPr lang="en-US" sz="1300" dirty="0"/>
          </a:p>
          <a:p>
            <a:pPr algn="l" marL="181356" indent="-181356">
              <a:lnSpc>
                <a:spcPts val="1950"/>
              </a:lnSpc>
              <a:buSzPct val="100000"/>
              <a:buChar char="•"/>
            </a:pPr>
            <a:r>
              <a:rPr lang="en-US" sz="1300" dirty="0">
                <a:solidFill>
                  <a:srgbClr val="2E4A47"/>
                </a:solidFill>
                <a:latin typeface="Noto Sans KR" pitchFamily="34" charset="0"/>
                <a:ea typeface="Noto Sans KR" pitchFamily="34" charset="-122"/>
                <a:cs typeface="Noto Sans KR" pitchFamily="34" charset="-120"/>
              </a:rPr>
              <a:t>서비스 이름으로 서로 통신(내부 DNS)</a:t>
            </a:r>
            <a:endParaRPr lang="en-US" sz="1300" dirty="0"/>
          </a:p>
        </p:txBody>
      </p:sp>
      <p:sp>
        <p:nvSpPr>
          <p:cNvPr id="10" name="Shape 8"/>
          <p:cNvSpPr/>
          <p:nvPr/>
        </p:nvSpPr>
        <p:spPr>
          <a:xfrm>
            <a:off x="5435600" y="2253506"/>
            <a:ext cx="5943600" cy="0"/>
          </a:xfrm>
          <a:prstGeom prst="line">
            <a:avLst/>
          </a:prstGeom>
          <a:noFill/>
          <a:ln w="6350">
            <a:solidFill>
              <a:srgbClr val="D5DEDB"/>
            </a:solidFill>
            <a:prstDash val="solid"/>
          </a:ln>
        </p:spPr>
      </p:sp>
      <p:sp>
        <p:nvSpPr>
          <p:cNvPr id="11" name="Text 9"/>
          <p:cNvSpPr/>
          <p:nvPr/>
        </p:nvSpPr>
        <p:spPr>
          <a:xfrm>
            <a:off x="5435600" y="193541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JetBrains Mono" pitchFamily="49" charset="0"/>
                <a:ea typeface="JetBrains Mono" pitchFamily="49" charset="-122"/>
                <a:cs typeface="JetBrains Mono" pitchFamily="49" charset="-120"/>
              </a:rPr>
              <a:t>docker compose up -d</a:t>
            </a:r>
            <a:endParaRPr lang="en-US" sz="1200" dirty="0"/>
          </a:p>
        </p:txBody>
      </p:sp>
      <p:sp>
        <p:nvSpPr>
          <p:cNvPr id="12" name="Text 10"/>
          <p:cNvSpPr/>
          <p:nvPr/>
        </p:nvSpPr>
        <p:spPr>
          <a:xfrm>
            <a:off x="9144000" y="1935411"/>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전체를 백그라운드로 기동</a:t>
            </a:r>
            <a:endParaRPr lang="en-US" sz="1200" dirty="0"/>
          </a:p>
        </p:txBody>
      </p:sp>
      <p:sp>
        <p:nvSpPr>
          <p:cNvPr id="13" name="Shape 11"/>
          <p:cNvSpPr/>
          <p:nvPr/>
        </p:nvSpPr>
        <p:spPr>
          <a:xfrm>
            <a:off x="5435600" y="2676376"/>
            <a:ext cx="5943600" cy="0"/>
          </a:xfrm>
          <a:prstGeom prst="line">
            <a:avLst/>
          </a:prstGeom>
          <a:noFill/>
          <a:ln w="6350">
            <a:solidFill>
              <a:srgbClr val="D5DEDB"/>
            </a:solidFill>
            <a:prstDash val="solid"/>
          </a:ln>
        </p:spPr>
      </p:sp>
      <p:sp>
        <p:nvSpPr>
          <p:cNvPr id="14" name="Text 12"/>
          <p:cNvSpPr/>
          <p:nvPr/>
        </p:nvSpPr>
        <p:spPr>
          <a:xfrm>
            <a:off x="5435600" y="235828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JetBrains Mono" pitchFamily="49" charset="0"/>
                <a:ea typeface="JetBrains Mono" pitchFamily="49" charset="-122"/>
                <a:cs typeface="JetBrains Mono" pitchFamily="49" charset="-120"/>
              </a:rPr>
              <a:t>docker compose ps</a:t>
            </a:r>
            <a:endParaRPr lang="en-US" sz="1200" dirty="0"/>
          </a:p>
        </p:txBody>
      </p:sp>
      <p:sp>
        <p:nvSpPr>
          <p:cNvPr id="15" name="Text 13"/>
          <p:cNvSpPr/>
          <p:nvPr/>
        </p:nvSpPr>
        <p:spPr>
          <a:xfrm>
            <a:off x="9144000" y="2358281"/>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상태 · 헬스체크 확인</a:t>
            </a:r>
            <a:endParaRPr lang="en-US" sz="1200" dirty="0"/>
          </a:p>
        </p:txBody>
      </p:sp>
      <p:sp>
        <p:nvSpPr>
          <p:cNvPr id="16" name="Shape 14"/>
          <p:cNvSpPr/>
          <p:nvPr/>
        </p:nvSpPr>
        <p:spPr>
          <a:xfrm>
            <a:off x="5435600" y="3099246"/>
            <a:ext cx="5943600" cy="0"/>
          </a:xfrm>
          <a:prstGeom prst="line">
            <a:avLst/>
          </a:prstGeom>
          <a:noFill/>
          <a:ln w="6350">
            <a:solidFill>
              <a:srgbClr val="D5DEDB"/>
            </a:solidFill>
            <a:prstDash val="solid"/>
          </a:ln>
        </p:spPr>
      </p:sp>
      <p:sp>
        <p:nvSpPr>
          <p:cNvPr id="17" name="Text 15"/>
          <p:cNvSpPr/>
          <p:nvPr/>
        </p:nvSpPr>
        <p:spPr>
          <a:xfrm>
            <a:off x="5435600" y="278115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JetBrains Mono" pitchFamily="49" charset="0"/>
                <a:ea typeface="JetBrains Mono" pitchFamily="49" charset="-122"/>
                <a:cs typeface="JetBrains Mono" pitchFamily="49" charset="-120"/>
              </a:rPr>
              <a:t>docker compose logs -f backend</a:t>
            </a:r>
            <a:endParaRPr lang="en-US" sz="1200" dirty="0"/>
          </a:p>
        </p:txBody>
      </p:sp>
      <p:sp>
        <p:nvSpPr>
          <p:cNvPr id="18" name="Text 16"/>
          <p:cNvSpPr/>
          <p:nvPr/>
        </p:nvSpPr>
        <p:spPr>
          <a:xfrm>
            <a:off x="9144000" y="2781151"/>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백엔드 로그 따라가기</a:t>
            </a:r>
            <a:endParaRPr lang="en-US" sz="1200" dirty="0"/>
          </a:p>
        </p:txBody>
      </p:sp>
      <p:sp>
        <p:nvSpPr>
          <p:cNvPr id="19" name="Shape 17"/>
          <p:cNvSpPr/>
          <p:nvPr/>
        </p:nvSpPr>
        <p:spPr>
          <a:xfrm>
            <a:off x="5435600" y="3522117"/>
            <a:ext cx="5943600" cy="0"/>
          </a:xfrm>
          <a:prstGeom prst="line">
            <a:avLst/>
          </a:prstGeom>
          <a:noFill/>
          <a:ln w="6350">
            <a:solidFill>
              <a:srgbClr val="D5DEDB"/>
            </a:solidFill>
            <a:prstDash val="solid"/>
          </a:ln>
        </p:spPr>
      </p:sp>
      <p:sp>
        <p:nvSpPr>
          <p:cNvPr id="20" name="Text 18"/>
          <p:cNvSpPr/>
          <p:nvPr/>
        </p:nvSpPr>
        <p:spPr>
          <a:xfrm>
            <a:off x="5435600" y="320402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JetBrains Mono" pitchFamily="49" charset="0"/>
                <a:ea typeface="JetBrains Mono" pitchFamily="49" charset="-122"/>
                <a:cs typeface="JetBrains Mono" pitchFamily="49" charset="-120"/>
              </a:rPr>
              <a:t>docker compose up -d --build backend</a:t>
            </a:r>
            <a:endParaRPr lang="en-US" sz="1200" dirty="0"/>
          </a:p>
        </p:txBody>
      </p:sp>
      <p:sp>
        <p:nvSpPr>
          <p:cNvPr id="21" name="Text 19"/>
          <p:cNvSpPr/>
          <p:nvPr/>
        </p:nvSpPr>
        <p:spPr>
          <a:xfrm>
            <a:off x="9144000" y="3204021"/>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코드 수정 후 백엔드만 다시 빌드</a:t>
            </a:r>
            <a:endParaRPr lang="en-US" sz="1200" dirty="0"/>
          </a:p>
        </p:txBody>
      </p:sp>
      <p:sp>
        <p:nvSpPr>
          <p:cNvPr id="22" name="Shape 20"/>
          <p:cNvSpPr/>
          <p:nvPr/>
        </p:nvSpPr>
        <p:spPr>
          <a:xfrm>
            <a:off x="5435600" y="3944987"/>
            <a:ext cx="5943600" cy="0"/>
          </a:xfrm>
          <a:prstGeom prst="line">
            <a:avLst/>
          </a:prstGeom>
          <a:noFill/>
          <a:ln w="6350">
            <a:solidFill>
              <a:srgbClr val="D5DEDB"/>
            </a:solidFill>
            <a:prstDash val="solid"/>
          </a:ln>
        </p:spPr>
      </p:sp>
      <p:sp>
        <p:nvSpPr>
          <p:cNvPr id="23" name="Text 21"/>
          <p:cNvSpPr/>
          <p:nvPr/>
        </p:nvSpPr>
        <p:spPr>
          <a:xfrm>
            <a:off x="5435600" y="3626892"/>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JetBrains Mono" pitchFamily="49" charset="0"/>
                <a:ea typeface="JetBrains Mono" pitchFamily="49" charset="-122"/>
                <a:cs typeface="JetBrains Mono" pitchFamily="49" charset="-120"/>
              </a:rPr>
              <a:t>docker compose down</a:t>
            </a:r>
            <a:endParaRPr lang="en-US" sz="1200" dirty="0"/>
          </a:p>
        </p:txBody>
      </p:sp>
      <p:sp>
        <p:nvSpPr>
          <p:cNvPr id="24" name="Text 22"/>
          <p:cNvSpPr/>
          <p:nvPr/>
        </p:nvSpPr>
        <p:spPr>
          <a:xfrm>
            <a:off x="9144000" y="3626892"/>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중지 · 삭제 (볼륨 데이터는 유지)</a:t>
            </a:r>
            <a:endParaRPr lang="en-US" sz="1200" dirty="0"/>
          </a:p>
        </p:txBody>
      </p:sp>
      <p:sp>
        <p:nvSpPr>
          <p:cNvPr id="25" name="Text 23"/>
          <p:cNvSpPr/>
          <p:nvPr/>
        </p:nvSpPr>
        <p:spPr>
          <a:xfrm>
            <a:off x="5435600" y="4049762"/>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04E10"/>
                </a:solidFill>
                <a:latin typeface="JetBrains Mono" pitchFamily="49" charset="0"/>
                <a:ea typeface="JetBrains Mono" pitchFamily="49" charset="-122"/>
                <a:cs typeface="JetBrains Mono" pitchFamily="49" charset="-120"/>
              </a:rPr>
              <a:t>docker compose down -v</a:t>
            </a:r>
            <a:endParaRPr lang="en-US" sz="1200" dirty="0"/>
          </a:p>
        </p:txBody>
      </p:sp>
      <p:sp>
        <p:nvSpPr>
          <p:cNvPr id="26" name="Text 24"/>
          <p:cNvSpPr/>
          <p:nvPr/>
        </p:nvSpPr>
        <p:spPr>
          <a:xfrm>
            <a:off x="9144000" y="4049762"/>
            <a:ext cx="26822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4E10"/>
                </a:solidFill>
                <a:latin typeface="Noto Sans KR" pitchFamily="34" charset="0"/>
                <a:ea typeface="Noto Sans KR" pitchFamily="34" charset="-122"/>
                <a:cs typeface="Noto Sans KR" pitchFamily="34" charset="-120"/>
              </a:rPr>
              <a:t>주의:</a:t>
            </a:r>
            <a:r>
              <a:rPr lang="en-US" sz="1200" dirty="0">
                <a:solidFill>
                  <a:srgbClr val="A04E10"/>
                </a:solidFill>
                <a:latin typeface="Noto Sans KR" pitchFamily="34" charset="0"/>
                <a:ea typeface="Noto Sans KR" pitchFamily="34" charset="-122"/>
                <a:cs typeface="Noto Sans KR" pitchFamily="34" charset="-120"/>
              </a:rPr>
              <a:t> 볼륨까지 삭제 — 데이터 소멸</a:t>
            </a:r>
            <a:endParaRPr lang="en-US" sz="12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16 / 27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05 · 배포 — compose.yaml ①</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앱 서비스: 프런트엔드 · 백엔드 · n8n</a:t>
            </a:r>
            <a:endParaRPr lang="en-US" sz="2800" dirty="0"/>
          </a:p>
        </p:txBody>
      </p:sp>
      <p:sp>
        <p:nvSpPr>
          <p:cNvPr id="4" name="Text 2"/>
          <p:cNvSpPr/>
          <p:nvPr/>
        </p:nvSpPr>
        <p:spPr>
          <a:xfrm>
            <a:off x="812800" y="1783011"/>
            <a:ext cx="6350000" cy="3870424"/>
          </a:xfrm>
          <a:prstGeom prst="roundRect">
            <a:avLst>
              <a:gd name="adj" fmla="val 2625"/>
            </a:avLst>
          </a:prstGeom>
          <a:solidFill>
            <a:srgbClr val="0E1A2B"/>
          </a:solidFill>
          <a:ln/>
        </p:spPr>
        <p:txBody>
          <a:bodyPr wrap="none" lIns="173442" tIns="122642" rIns="0" bIns="97242" rtlCol="0" anchor="t">
            <a:normAutofit/>
          </a:bodyPr>
          <a:lstStyle/>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services: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frontend:</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build: ./frontend          </a:t>
            </a:r>
            <a:r>
              <a:rPr lang="en-US" sz="1200" dirty="0">
                <a:solidFill>
                  <a:srgbClr val="8FB5B0"/>
                </a:solidFill>
                <a:latin typeface="JetBrains Mono" pitchFamily="49" charset="0"/>
                <a:ea typeface="JetBrains Mono" pitchFamily="49" charset="-122"/>
                <a:cs typeface="JetBrains Mono" pitchFamily="49" charset="-120"/>
              </a:rPr>
              <a:t># Streamlit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ports: ["8501:8501"]</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environment: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API_URL: </a:t>
            </a:r>
            <a:r>
              <a:rPr lang="en-US" sz="1200" dirty="0">
                <a:solidFill>
                  <a:srgbClr val="4FD1C1"/>
                </a:solidFill>
                <a:latin typeface="JetBrains Mono" pitchFamily="49" charset="0"/>
                <a:ea typeface="JetBrains Mono" pitchFamily="49" charset="-122"/>
                <a:cs typeface="JetBrains Mono" pitchFamily="49" charset="-120"/>
              </a:rPr>
              <a:t>http://backend:8000</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depends_on: [backend]</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backend:</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build: ./backend           </a:t>
            </a:r>
            <a:r>
              <a:rPr lang="en-US" sz="1200" dirty="0">
                <a:solidFill>
                  <a:srgbClr val="8FB5B0"/>
                </a:solidFill>
                <a:latin typeface="JetBrains Mono" pitchFamily="49" charset="0"/>
                <a:ea typeface="JetBrains Mono" pitchFamily="49" charset="-122"/>
                <a:cs typeface="JetBrains Mono" pitchFamily="49" charset="-120"/>
              </a:rPr>
              <a:t># FastAPI</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env_file: .env</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environment: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N8N_URL: </a:t>
            </a:r>
            <a:r>
              <a:rPr lang="en-US" sz="1200" dirty="0">
                <a:solidFill>
                  <a:srgbClr val="4FD1C1"/>
                </a:solidFill>
                <a:latin typeface="JetBrains Mono" pitchFamily="49" charset="0"/>
                <a:ea typeface="JetBrains Mono" pitchFamily="49" charset="-122"/>
                <a:cs typeface="JetBrains Mono" pitchFamily="49" charset="-120"/>
              </a:rPr>
              <a:t>http://n8n:5678</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depends_on:</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postgres: { condition: </a:t>
            </a:r>
            <a:r>
              <a:rPr lang="en-US" sz="1200" dirty="0">
                <a:solidFill>
                  <a:srgbClr val="F2A65A"/>
                </a:solidFill>
                <a:latin typeface="JetBrains Mono" pitchFamily="49" charset="0"/>
                <a:ea typeface="JetBrains Mono" pitchFamily="49" charset="-122"/>
                <a:cs typeface="JetBrains Mono" pitchFamily="49" charset="-120"/>
              </a:rPr>
              <a:t>service_healthy</a:t>
            </a:r>
            <a:r>
              <a:rPr lang="en-US" sz="1200" dirty="0">
                <a:solidFill>
                  <a:srgbClr val="D6E2E0"/>
                </a:solidFill>
                <a:latin typeface="JetBrains Mono" pitchFamily="49" charset="0"/>
                <a:ea typeface="JetBrains Mono" pitchFamily="49" charset="-122"/>
                <a:cs typeface="JetBrains Mono" pitchFamily="49" charset="-120"/>
              </a:rPr>
              <a:t> }</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n8n:</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image: n8nio/n8n</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ports: ["5678:5678"]</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volumes: [n8ndata:/home/node/.n8n]</a:t>
            </a:r>
            <a:endParaRPr lang="en-US" sz="1200" dirty="0"/>
          </a:p>
        </p:txBody>
      </p:sp>
      <p:sp>
        <p:nvSpPr>
          <p:cNvPr id="5" name="Text 3"/>
          <p:cNvSpPr/>
          <p:nvPr/>
        </p:nvSpPr>
        <p:spPr>
          <a:xfrm>
            <a:off x="7467600" y="178301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① 서비스 이름 = 주소</a:t>
            </a:r>
            <a:endParaRPr lang="en-US" sz="1300" dirty="0"/>
          </a:p>
        </p:txBody>
      </p:sp>
      <p:sp>
        <p:nvSpPr>
          <p:cNvPr id="6" name="Text 4"/>
          <p:cNvSpPr/>
          <p:nvPr/>
        </p:nvSpPr>
        <p:spPr>
          <a:xfrm>
            <a:off x="7467600" y="2052241"/>
            <a:ext cx="402894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컨테이너끼리는 localhost가 아니라 http://backend:8000처럼 이름으로 호출</a:t>
            </a:r>
            <a:endParaRPr lang="en-US" sz="1200" dirty="0"/>
          </a:p>
        </p:txBody>
      </p:sp>
      <p:sp>
        <p:nvSpPr>
          <p:cNvPr id="7" name="Text 5"/>
          <p:cNvSpPr/>
          <p:nvPr/>
        </p:nvSpPr>
        <p:spPr>
          <a:xfrm>
            <a:off x="7467600" y="264656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② build와 image</a:t>
            </a:r>
            <a:endParaRPr lang="en-US" sz="1300" dirty="0"/>
          </a:p>
        </p:txBody>
      </p:sp>
      <p:sp>
        <p:nvSpPr>
          <p:cNvPr id="8" name="Text 6"/>
          <p:cNvSpPr/>
          <p:nvPr/>
        </p:nvSpPr>
        <p:spPr>
          <a:xfrm>
            <a:off x="7467600" y="2915791"/>
            <a:ext cx="402894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내가 만든 코드는 build(Dockerfile), 남이 만든 소프트웨어는 image</a:t>
            </a:r>
            <a:endParaRPr lang="en-US" sz="1200" dirty="0"/>
          </a:p>
        </p:txBody>
      </p:sp>
      <p:sp>
        <p:nvSpPr>
          <p:cNvPr id="9" name="Text 7"/>
          <p:cNvSpPr/>
          <p:nvPr/>
        </p:nvSpPr>
        <p:spPr>
          <a:xfrm>
            <a:off x="7467600" y="351011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③ depends_on + condition</a:t>
            </a:r>
            <a:endParaRPr lang="en-US" sz="1300" dirty="0"/>
          </a:p>
        </p:txBody>
      </p:sp>
      <p:sp>
        <p:nvSpPr>
          <p:cNvPr id="10" name="Text 8"/>
          <p:cNvSpPr/>
          <p:nvPr/>
        </p:nvSpPr>
        <p:spPr>
          <a:xfrm>
            <a:off x="7467600" y="3779341"/>
            <a:ext cx="40289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DB 헬스체크가 통과한 뒤에야 백엔드가 시작</a:t>
            </a:r>
            <a:endParaRPr lang="en-US" sz="1200" dirty="0"/>
          </a:p>
        </p:txBody>
      </p:sp>
      <p:sp>
        <p:nvSpPr>
          <p:cNvPr id="11" name="Text 9"/>
          <p:cNvSpPr/>
          <p:nvPr/>
        </p:nvSpPr>
        <p:spPr>
          <a:xfrm>
            <a:off x="7467600" y="4152702"/>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④ ports = 외부 공개</a:t>
            </a:r>
            <a:endParaRPr lang="en-US" sz="1300" dirty="0"/>
          </a:p>
        </p:txBody>
      </p:sp>
      <p:sp>
        <p:nvSpPr>
          <p:cNvPr id="12" name="Text 10"/>
          <p:cNvSpPr/>
          <p:nvPr/>
        </p:nvSpPr>
        <p:spPr>
          <a:xfrm>
            <a:off x="7467600" y="4421932"/>
            <a:ext cx="40289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브라우저가 직접 들어오는 Streamlit · n8n 편집기만 연다</a:t>
            </a:r>
            <a:endParaRPr lang="en-US" sz="12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17 / 27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05 · 배포 — compose.yaml ②</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저장소와 모니터링 서비스</a:t>
            </a:r>
            <a:endParaRPr lang="en-US" sz="2800" dirty="0"/>
          </a:p>
        </p:txBody>
      </p:sp>
      <p:sp>
        <p:nvSpPr>
          <p:cNvPr id="4" name="Text 2"/>
          <p:cNvSpPr/>
          <p:nvPr/>
        </p:nvSpPr>
        <p:spPr>
          <a:xfrm>
            <a:off x="812800" y="1783011"/>
            <a:ext cx="6350000" cy="3870424"/>
          </a:xfrm>
          <a:prstGeom prst="roundRect">
            <a:avLst>
              <a:gd name="adj" fmla="val 2625"/>
            </a:avLst>
          </a:prstGeom>
          <a:solidFill>
            <a:srgbClr val="0E1A2B"/>
          </a:solidFill>
          <a:ln/>
        </p:spPr>
        <p:txBody>
          <a:bodyPr wrap="none" lIns="173442" tIns="122642" rIns="0" bIns="97242" rtlCol="0" anchor="t">
            <a:normAutofit/>
          </a:bodyPr>
          <a:lstStyle/>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postgres: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image: postgres:17</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environment: { POSTGRES_PASSWORD: </a:t>
            </a:r>
            <a:r>
              <a:rPr lang="en-US" sz="1200" dirty="0">
                <a:solidFill>
                  <a:srgbClr val="F2A65A"/>
                </a:solidFill>
                <a:latin typeface="JetBrains Mono" pitchFamily="49" charset="0"/>
                <a:ea typeface="JetBrains Mono" pitchFamily="49" charset="-122"/>
                <a:cs typeface="JetBrains Mono" pitchFamily="49" charset="-120"/>
              </a:rPr>
              <a:t>"${PG_PASSWORD}"</a:t>
            </a:r>
            <a:r>
              <a:rPr lang="en-US" sz="1200" dirty="0">
                <a:solidFill>
                  <a:srgbClr val="D6E2E0"/>
                </a:solidFill>
                <a:latin typeface="JetBrains Mono" pitchFamily="49" charset="0"/>
                <a:ea typeface="JetBrains Mono" pitchFamily="49" charset="-122"/>
                <a:cs typeface="JetBrains Mono" pitchFamily="49" charset="-120"/>
              </a:rPr>
              <a:t> }</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volumes: [</a:t>
            </a:r>
            <a:r>
              <a:rPr lang="en-US" sz="1200" dirty="0">
                <a:solidFill>
                  <a:srgbClr val="4FD1C1"/>
                </a:solidFill>
                <a:latin typeface="JetBrains Mono" pitchFamily="49" charset="0"/>
                <a:ea typeface="JetBrains Mono" pitchFamily="49" charset="-122"/>
                <a:cs typeface="JetBrains Mono" pitchFamily="49" charset="-120"/>
              </a:rPr>
              <a:t>pgdata</a:t>
            </a:r>
            <a:r>
              <a:rPr lang="en-US" sz="1200" dirty="0">
                <a:solidFill>
                  <a:srgbClr val="D6E2E0"/>
                </a:solidFill>
                <a:latin typeface="JetBrains Mono" pitchFamily="49" charset="0"/>
                <a:ea typeface="JetBrains Mono" pitchFamily="49" charset="-122"/>
                <a:cs typeface="JetBrains Mono" pitchFamily="49" charset="-120"/>
              </a:rPr>
              <a:t>:/var/lib/postgresql/data]</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healthcheck:</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test: ["CMD-SHELL", "pg_isready -U postgres"]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interval: 5s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mongo:    { image: mongo:8, volumes: [</a:t>
            </a:r>
            <a:r>
              <a:rPr lang="en-US" sz="1200" dirty="0">
                <a:solidFill>
                  <a:srgbClr val="4FD1C1"/>
                </a:solidFill>
                <a:latin typeface="JetBrains Mono" pitchFamily="49" charset="0"/>
                <a:ea typeface="JetBrains Mono" pitchFamily="49" charset="-122"/>
                <a:cs typeface="JetBrains Mono" pitchFamily="49" charset="-120"/>
              </a:rPr>
              <a:t>mongodata</a:t>
            </a:r>
            <a:r>
              <a:rPr lang="en-US" sz="1200" dirty="0">
                <a:solidFill>
                  <a:srgbClr val="D6E2E0"/>
                </a:solidFill>
                <a:latin typeface="JetBrains Mono" pitchFamily="49" charset="0"/>
                <a:ea typeface="JetBrains Mono" pitchFamily="49" charset="-122"/>
                <a:cs typeface="JetBrains Mono" pitchFamily="49" charset="-120"/>
              </a:rPr>
              <a:t>:/data/db] }</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influxdb:</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image: influxdb:2</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volumes: [</a:t>
            </a:r>
            <a:r>
              <a:rPr lang="en-US" sz="1200" dirty="0">
                <a:solidFill>
                  <a:srgbClr val="4FD1C1"/>
                </a:solidFill>
                <a:latin typeface="JetBrains Mono" pitchFamily="49" charset="0"/>
                <a:ea typeface="JetBrains Mono" pitchFamily="49" charset="-122"/>
                <a:cs typeface="JetBrains Mono" pitchFamily="49" charset="-120"/>
              </a:rPr>
              <a:t>influxdata</a:t>
            </a:r>
            <a:r>
              <a:rPr lang="en-US" sz="1200" dirty="0">
                <a:solidFill>
                  <a:srgbClr val="D6E2E0"/>
                </a:solidFill>
                <a:latin typeface="JetBrains Mono" pitchFamily="49" charset="0"/>
                <a:ea typeface="JetBrains Mono" pitchFamily="49" charset="-122"/>
                <a:cs typeface="JetBrains Mono" pitchFamily="49" charset="-120"/>
              </a:rPr>
              <a:t>:/var/lib/influxdb2]</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prometheus: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image: prom/prometheus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volumes: [./prometheus.yml:/etc/prometheus/prometheus.yml]</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grafana:</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image: grafana/grafana</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ports: ["3000:3000"]</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volumes: {pgdata: {}, mongodata: {}, influxdata: {}, n8ndata: {}}</a:t>
            </a:r>
            <a:endParaRPr lang="en-US" sz="1200" dirty="0"/>
          </a:p>
        </p:txBody>
      </p:sp>
      <p:sp>
        <p:nvSpPr>
          <p:cNvPr id="5" name="Text 3"/>
          <p:cNvSpPr/>
          <p:nvPr/>
        </p:nvSpPr>
        <p:spPr>
          <a:xfrm>
            <a:off x="7467600" y="178301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named volume</a:t>
            </a:r>
            <a:endParaRPr lang="en-US" sz="1300" dirty="0"/>
          </a:p>
        </p:txBody>
      </p:sp>
      <p:sp>
        <p:nvSpPr>
          <p:cNvPr id="6" name="Text 4"/>
          <p:cNvSpPr/>
          <p:nvPr/>
        </p:nvSpPr>
        <p:spPr>
          <a:xfrm>
            <a:off x="7467600" y="2052241"/>
            <a:ext cx="40289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컨테이너를 지워도 데이터 유지 — down -v는 볼륨까지 삭제</a:t>
            </a:r>
            <a:endParaRPr lang="en-US" sz="1200" dirty="0"/>
          </a:p>
        </p:txBody>
      </p:sp>
      <p:sp>
        <p:nvSpPr>
          <p:cNvPr id="7" name="Text 5"/>
          <p:cNvSpPr/>
          <p:nvPr/>
        </p:nvSpPr>
        <p:spPr>
          <a:xfrm>
            <a:off x="7467600" y="240020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${PG_PASSWORD}</a:t>
            </a:r>
            <a:endParaRPr lang="en-US" sz="1300" dirty="0"/>
          </a:p>
        </p:txBody>
      </p:sp>
      <p:sp>
        <p:nvSpPr>
          <p:cNvPr id="8" name="Text 6"/>
          <p:cNvSpPr/>
          <p:nvPr/>
        </p:nvSpPr>
        <p:spPr>
          <a:xfrm>
            <a:off x="7467600" y="2669431"/>
            <a:ext cx="40289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값은 .env 파일에, .env는 .gitignore에</a:t>
            </a:r>
            <a:endParaRPr lang="en-US" sz="1200" dirty="0"/>
          </a:p>
        </p:txBody>
      </p:sp>
      <p:sp>
        <p:nvSpPr>
          <p:cNvPr id="9" name="Text 7"/>
          <p:cNvSpPr/>
          <p:nvPr/>
        </p:nvSpPr>
        <p:spPr>
          <a:xfrm>
            <a:off x="7467600" y="3017391"/>
            <a:ext cx="40289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healthcheck</a:t>
            </a:r>
            <a:endParaRPr lang="en-US" sz="1300" dirty="0"/>
          </a:p>
        </p:txBody>
      </p:sp>
      <p:sp>
        <p:nvSpPr>
          <p:cNvPr id="10" name="Text 8"/>
          <p:cNvSpPr/>
          <p:nvPr/>
        </p:nvSpPr>
        <p:spPr>
          <a:xfrm>
            <a:off x="7467600" y="3286621"/>
            <a:ext cx="402894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pg_isready 성공 = “DB 준비 완료” 신호</a:t>
            </a:r>
            <a:endParaRPr lang="en-US" sz="1200" dirty="0"/>
          </a:p>
        </p:txBody>
      </p:sp>
      <p:sp>
        <p:nvSpPr>
          <p:cNvPr id="11" name="Text 9"/>
          <p:cNvSpPr/>
          <p:nvPr/>
        </p:nvSpPr>
        <p:spPr>
          <a:xfrm>
            <a:off x="7467600" y="3634581"/>
            <a:ext cx="3911600" cy="1244451"/>
          </a:xfrm>
          <a:prstGeom prst="roundRect">
            <a:avLst>
              <a:gd name="adj" fmla="val 6123"/>
            </a:avLst>
          </a:prstGeom>
          <a:solidFill>
            <a:srgbClr val="16263A"/>
          </a:solidFill>
          <a:ln/>
        </p:spPr>
        <p:txBody>
          <a:bodyPr wrap="none" lIns="130082" tIns="104682" rIns="21878" bIns="79282" rtlCol="0" anchor="t">
            <a:normAutofit/>
          </a:bodyPr>
          <a:lstStyle/>
          <a:p>
            <a:pPr algn="l" indent="0" marL="0">
              <a:lnSpc>
                <a:spcPts val="1560"/>
              </a:lnSpc>
              <a:buNone/>
            </a:pPr>
            <a:r>
              <a:rPr lang="en-US" sz="1200" dirty="0">
                <a:solidFill>
                  <a:srgbClr val="8FB5B0"/>
                </a:solidFill>
                <a:latin typeface="JetBrains Mono" pitchFamily="49" charset="0"/>
                <a:ea typeface="JetBrains Mono" pitchFamily="49" charset="-122"/>
                <a:cs typeface="JetBrains Mono" pitchFamily="49" charset="-120"/>
              </a:rPr>
              <a:t># prometheus.yml</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scrape_configs: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job_name: backend</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static_configs: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targets: ["backend:8000"]</a:t>
            </a:r>
            <a:endParaRPr lang="en-US" sz="12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18 / 27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05 · 배포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바이브 코딩에서 자주 막히는 지점</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5711"/>
          <a:ext cx="10553700" cy="2648942"/>
        </p:xfrm>
        <a:graphic>
          <a:graphicData uri="http://schemas.openxmlformats.org/drawingml/2006/table">
            <a:tbl>
              <a:tblPr/>
              <a:tblGrid>
                <a:gridCol w="3166110"/>
                <a:gridCol w="3377184"/>
                <a:gridCol w="4010406"/>
              </a:tblGrid>
              <a:tr h="378420">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증상</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원인</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해결</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프런트엔드 → 백엔드 연결 거부</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컨테이너 안의 localhost는 자기 자신</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서비스 이름 사용: http://backend:8000</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React 화면에서만 backend:8000 실패</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브라우저는 도커 내부 이름을 모름</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공개 포트 또는 리버스 프록시 주소 사용</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백엔드가 뜨자마자 DB 연결 실패</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DB가 준비되기 전에 백엔드 시작</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healthcheck + service_healthy, 재시도</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재시작했더니 데이터가 사라짐</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볼륨 미선언, 또는 down -v 실행</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named volume 선언, -v는 신중하게</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브라우저 콘솔에 CORS 오류</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다른 출처(포트)의 API 호출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FastAPI CORSMiddleware에 허용 출처 명시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78420">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API 키가 Git에 올라감</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compose.yaml에 비밀값 직접 작성</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.env로 분리 + .gitignore 등록</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19 / 27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각자 AI에게 시키면 생기는 일</a:t>
            </a:r>
            <a:endParaRPr lang="en-US" sz="2800" dirty="0"/>
          </a:p>
        </p:txBody>
      </p:sp>
      <p:sp>
        <p:nvSpPr>
          <p:cNvPr id="4" name="Shape 2"/>
          <p:cNvSpPr/>
          <p:nvPr/>
        </p:nvSpPr>
        <p:spPr>
          <a:xfrm>
            <a:off x="815975" y="1836986"/>
            <a:ext cx="2520950" cy="1454100"/>
          </a:xfrm>
          <a:prstGeom prst="roundRect">
            <a:avLst>
              <a:gd name="adj" fmla="val 6769"/>
            </a:avLst>
          </a:prstGeom>
          <a:solidFill>
            <a:srgbClr val="FCFDFC"/>
          </a:solidFill>
          <a:ln w="6350">
            <a:solidFill>
              <a:srgbClr val="D5DEDB"/>
            </a:solidFill>
            <a:prstDash val="solid"/>
          </a:ln>
        </p:spPr>
      </p:sp>
      <p:pic>
        <p:nvPicPr>
          <p:cNvPr id="5" name="Image 0" descr="Link">    </p:cNvPr>
          <p:cNvPicPr>
            <a:picLocks noChangeAspect="1"/>
          </p:cNvPicPr>
          <p:nvPr/>
        </p:nvPicPr>
        <p:blipFill>
          <a:blip r:embed="rId1"/>
          <a:srcRect l="0" r="0" t="0" b="0"/>
          <a:stretch/>
        </p:blipFill>
        <p:spPr>
          <a:xfrm>
            <a:off x="996950" y="2017961"/>
            <a:ext cx="254000" cy="254000"/>
          </a:xfrm>
          <a:prstGeom prst="rect">
            <a:avLst/>
          </a:prstGeom>
        </p:spPr>
      </p:pic>
      <p:sp>
        <p:nvSpPr>
          <p:cNvPr id="6" name="Text 3"/>
          <p:cNvSpPr/>
          <p:nvPr/>
        </p:nvSpPr>
        <p:spPr>
          <a:xfrm>
            <a:off x="996950" y="234816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이름 불일치</a:t>
            </a:r>
            <a:endParaRPr lang="en-US" sz="1600" dirty="0"/>
          </a:p>
        </p:txBody>
      </p:sp>
      <p:sp>
        <p:nvSpPr>
          <p:cNvPr id="7" name="Text 4"/>
          <p:cNvSpPr/>
          <p:nvPr/>
        </p:nvSpPr>
        <p:spPr>
          <a:xfrm>
            <a:off x="996950" y="2668191"/>
            <a:ext cx="22237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프런트엔드는 userName, 백엔드는 user_name을 주고받는다</a:t>
            </a:r>
            <a:endParaRPr lang="en-US" sz="1200" dirty="0"/>
          </a:p>
        </p:txBody>
      </p:sp>
      <p:sp>
        <p:nvSpPr>
          <p:cNvPr id="8" name="Shape 5"/>
          <p:cNvSpPr/>
          <p:nvPr/>
        </p:nvSpPr>
        <p:spPr>
          <a:xfrm>
            <a:off x="3495675" y="1836986"/>
            <a:ext cx="2520950" cy="1454100"/>
          </a:xfrm>
          <a:prstGeom prst="roundRect">
            <a:avLst>
              <a:gd name="adj" fmla="val 6769"/>
            </a:avLst>
          </a:prstGeom>
          <a:solidFill>
            <a:srgbClr val="FCFDFC"/>
          </a:solidFill>
          <a:ln w="6350">
            <a:solidFill>
              <a:srgbClr val="D5DEDB"/>
            </a:solidFill>
            <a:prstDash val="solid"/>
          </a:ln>
        </p:spPr>
      </p:sp>
      <p:pic>
        <p:nvPicPr>
          <p:cNvPr id="9" name="Image 1" descr="Database">    </p:cNvPr>
          <p:cNvPicPr>
            <a:picLocks noChangeAspect="1"/>
          </p:cNvPicPr>
          <p:nvPr/>
        </p:nvPicPr>
        <p:blipFill>
          <a:blip r:embed="rId2"/>
          <a:srcRect l="0" r="0" t="0" b="0"/>
          <a:stretch/>
        </p:blipFill>
        <p:spPr>
          <a:xfrm>
            <a:off x="3676650" y="2017961"/>
            <a:ext cx="254000" cy="254000"/>
          </a:xfrm>
          <a:prstGeom prst="rect">
            <a:avLst/>
          </a:prstGeom>
        </p:spPr>
      </p:pic>
      <p:sp>
        <p:nvSpPr>
          <p:cNvPr id="10" name="Text 6"/>
          <p:cNvSpPr/>
          <p:nvPr/>
        </p:nvSpPr>
        <p:spPr>
          <a:xfrm>
            <a:off x="3676650" y="234816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테이블 중복</a:t>
            </a:r>
            <a:endParaRPr lang="en-US" sz="1600" dirty="0"/>
          </a:p>
        </p:txBody>
      </p:sp>
      <p:sp>
        <p:nvSpPr>
          <p:cNvPr id="11" name="Text 7"/>
          <p:cNvSpPr/>
          <p:nvPr/>
        </p:nvSpPr>
        <p:spPr>
          <a:xfrm>
            <a:off x="3676650" y="2668191"/>
            <a:ext cx="22237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같은 개념인데 users와 members 테이블이 따로 생긴다</a:t>
            </a:r>
            <a:endParaRPr lang="en-US" sz="1200" dirty="0"/>
          </a:p>
        </p:txBody>
      </p:sp>
      <p:sp>
        <p:nvSpPr>
          <p:cNvPr id="12" name="Shape 8"/>
          <p:cNvSpPr/>
          <p:nvPr/>
        </p:nvSpPr>
        <p:spPr>
          <a:xfrm>
            <a:off x="6175375" y="1836986"/>
            <a:ext cx="2520950" cy="1454100"/>
          </a:xfrm>
          <a:prstGeom prst="roundRect">
            <a:avLst>
              <a:gd name="adj" fmla="val 6769"/>
            </a:avLst>
          </a:prstGeom>
          <a:solidFill>
            <a:srgbClr val="FCFDFC"/>
          </a:solidFill>
          <a:ln w="6350">
            <a:solidFill>
              <a:srgbClr val="D5DEDB"/>
            </a:solidFill>
            <a:prstDash val="solid"/>
          </a:ln>
        </p:spPr>
      </p:sp>
      <p:pic>
        <p:nvPicPr>
          <p:cNvPr id="13" name="Image 2" descr="Settings">    </p:cNvPr>
          <p:cNvPicPr>
            <a:picLocks noChangeAspect="1"/>
          </p:cNvPicPr>
          <p:nvPr/>
        </p:nvPicPr>
        <p:blipFill>
          <a:blip r:embed="rId3"/>
          <a:srcRect l="0" r="0" t="0" b="0"/>
          <a:stretch/>
        </p:blipFill>
        <p:spPr>
          <a:xfrm>
            <a:off x="6356350" y="2017961"/>
            <a:ext cx="254000" cy="254000"/>
          </a:xfrm>
          <a:prstGeom prst="rect">
            <a:avLst/>
          </a:prstGeom>
        </p:spPr>
      </p:pic>
      <p:sp>
        <p:nvSpPr>
          <p:cNvPr id="14" name="Text 9"/>
          <p:cNvSpPr/>
          <p:nvPr/>
        </p:nvSpPr>
        <p:spPr>
          <a:xfrm>
            <a:off x="6356350" y="234816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환경 불일치</a:t>
            </a:r>
            <a:endParaRPr lang="en-US" sz="1600" dirty="0"/>
          </a:p>
        </p:txBody>
      </p:sp>
      <p:sp>
        <p:nvSpPr>
          <p:cNvPr id="15" name="Text 10"/>
          <p:cNvSpPr/>
          <p:nvPr/>
        </p:nvSpPr>
        <p:spPr>
          <a:xfrm>
            <a:off x="6356350" y="2668191"/>
            <a:ext cx="22237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포트 8000과 8080, requests와 httpx가 섞인다</a:t>
            </a:r>
            <a:endParaRPr lang="en-US" sz="1200" dirty="0"/>
          </a:p>
        </p:txBody>
      </p:sp>
      <p:sp>
        <p:nvSpPr>
          <p:cNvPr id="16" name="Shape 11"/>
          <p:cNvSpPr/>
          <p:nvPr/>
        </p:nvSpPr>
        <p:spPr>
          <a:xfrm>
            <a:off x="8855075" y="1836986"/>
            <a:ext cx="2520950" cy="1454100"/>
          </a:xfrm>
          <a:prstGeom prst="roundRect">
            <a:avLst>
              <a:gd name="adj" fmla="val 6769"/>
            </a:avLst>
          </a:prstGeom>
          <a:solidFill>
            <a:srgbClr val="FCFDFC"/>
          </a:solidFill>
          <a:ln w="6350">
            <a:solidFill>
              <a:srgbClr val="D5DEDB"/>
            </a:solidFill>
            <a:prstDash val="solid"/>
          </a:ln>
        </p:spPr>
      </p:sp>
      <p:pic>
        <p:nvPicPr>
          <p:cNvPr id="17" name="Image 3" descr="Warning">    </p:cNvPr>
          <p:cNvPicPr>
            <a:picLocks noChangeAspect="1"/>
          </p:cNvPicPr>
          <p:nvPr/>
        </p:nvPicPr>
        <p:blipFill>
          <a:blip r:embed="rId4"/>
          <a:srcRect l="0" r="0" t="0" b="0"/>
          <a:stretch/>
        </p:blipFill>
        <p:spPr>
          <a:xfrm>
            <a:off x="9036050" y="2017961"/>
            <a:ext cx="254000" cy="254000"/>
          </a:xfrm>
          <a:prstGeom prst="rect">
            <a:avLst/>
          </a:prstGeom>
        </p:spPr>
      </p:pic>
      <p:sp>
        <p:nvSpPr>
          <p:cNvPr id="18" name="Text 12"/>
          <p:cNvSpPr/>
          <p:nvPr/>
        </p:nvSpPr>
        <p:spPr>
          <a:xfrm>
            <a:off x="9036050" y="2348161"/>
            <a:ext cx="22237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A2B"/>
                </a:solidFill>
                <a:latin typeface="Noto Sans KR" pitchFamily="34" charset="0"/>
                <a:ea typeface="Noto Sans KR" pitchFamily="34" charset="-122"/>
                <a:cs typeface="Noto Sans KR" pitchFamily="34" charset="-120"/>
              </a:rPr>
              <a:t>남의 파일 수정</a:t>
            </a:r>
            <a:endParaRPr lang="en-US" sz="1600" dirty="0"/>
          </a:p>
        </p:txBody>
      </p:sp>
      <p:sp>
        <p:nvSpPr>
          <p:cNvPr id="19" name="Text 13"/>
          <p:cNvSpPr/>
          <p:nvPr/>
        </p:nvSpPr>
        <p:spPr>
          <a:xfrm>
            <a:off x="9036050" y="2668191"/>
            <a:ext cx="22237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AI가 “고치는 김에” 다른 사람 폴더까지 바꾼다</a:t>
            </a:r>
            <a:endParaRPr lang="en-US" sz="1200" dirty="0"/>
          </a:p>
        </p:txBody>
      </p:sp>
      <p:sp>
        <p:nvSpPr>
          <p:cNvPr id="20" name="Shape 14"/>
          <p:cNvSpPr/>
          <p:nvPr/>
        </p:nvSpPr>
        <p:spPr>
          <a:xfrm>
            <a:off x="812800" y="3599061"/>
            <a:ext cx="10566400" cy="1055340"/>
          </a:xfrm>
          <a:prstGeom prst="roundRect">
            <a:avLst>
              <a:gd name="adj" fmla="val 9627"/>
            </a:avLst>
          </a:prstGeom>
          <a:solidFill>
            <a:srgbClr val="0E1A2B"/>
          </a:solidFill>
          <a:ln/>
        </p:spPr>
      </p:sp>
      <p:sp>
        <p:nvSpPr>
          <p:cNvPr id="21" name="Text 15"/>
          <p:cNvSpPr/>
          <p:nvPr/>
        </p:nvSpPr>
        <p:spPr>
          <a:xfrm>
            <a:off x="1092200" y="3827661"/>
            <a:ext cx="10307828"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2F5F4"/>
                </a:solidFill>
                <a:latin typeface="Noto Sans KR" pitchFamily="34" charset="0"/>
                <a:ea typeface="Noto Sans KR" pitchFamily="34" charset="-122"/>
                <a:cs typeface="Noto Sans KR" pitchFamily="34" charset="-120"/>
              </a:rPr>
              <a:t>AI는 빠르지만, 각자 </a:t>
            </a:r>
            <a:r>
              <a:rPr lang="en-US" sz="1600" b="1" dirty="0">
                <a:solidFill>
                  <a:srgbClr val="F2A65A"/>
                </a:solidFill>
                <a:latin typeface="Noto Sans KR" pitchFamily="34" charset="0"/>
                <a:ea typeface="Noto Sans KR" pitchFamily="34" charset="-122"/>
                <a:cs typeface="Noto Sans KR" pitchFamily="34" charset="-120"/>
              </a:rPr>
              <a:t>다른 방향으로</a:t>
            </a:r>
            <a:r>
              <a:rPr lang="en-US" sz="1600" b="1" dirty="0">
                <a:solidFill>
                  <a:srgbClr val="F2F5F4"/>
                </a:solidFill>
                <a:latin typeface="Noto Sans KR" pitchFamily="34" charset="0"/>
                <a:ea typeface="Noto Sans KR" pitchFamily="34" charset="-122"/>
                <a:cs typeface="Noto Sans KR" pitchFamily="34" charset="-120"/>
              </a:rPr>
              <a:t> 빠르다.</a:t>
            </a:r>
            <a:endParaRPr lang="en-US" sz="1600" dirty="0"/>
          </a:p>
        </p:txBody>
      </p:sp>
      <p:sp>
        <p:nvSpPr>
          <p:cNvPr id="22" name="Text 16"/>
          <p:cNvSpPr/>
          <p:nvPr/>
        </p:nvSpPr>
        <p:spPr>
          <a:xfrm>
            <a:off x="1092200" y="4178151"/>
            <a:ext cx="1030782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6D4"/>
                </a:solidFill>
                <a:latin typeface="Noto Sans KR" pitchFamily="34" charset="0"/>
                <a:ea typeface="Noto Sans KR" pitchFamily="34" charset="-122"/>
                <a:cs typeface="Noto Sans KR" pitchFamily="34" charset="-120"/>
              </a:rPr>
              <a:t>해법은 하나 — </a:t>
            </a:r>
            <a:r>
              <a:rPr lang="en-US" sz="1300" b="1" dirty="0">
                <a:solidFill>
                  <a:srgbClr val="4FD1C1"/>
                </a:solidFill>
                <a:latin typeface="Noto Sans KR" pitchFamily="34" charset="0"/>
                <a:ea typeface="Noto Sans KR" pitchFamily="34" charset="-122"/>
                <a:cs typeface="Noto Sans KR" pitchFamily="34" charset="-120"/>
              </a:rPr>
              <a:t>코드보다 계약을 먼저 합의</a:t>
            </a:r>
            <a:r>
              <a:rPr lang="en-US" sz="1300" dirty="0">
                <a:solidFill>
                  <a:srgbClr val="C9D6D4"/>
                </a:solidFill>
                <a:latin typeface="Noto Sans KR" pitchFamily="34" charset="0"/>
                <a:ea typeface="Noto Sans KR" pitchFamily="34" charset="-122"/>
                <a:cs typeface="Noto Sans KR" pitchFamily="34" charset="-120"/>
              </a:rPr>
              <a:t>하고, 모든 팀원의 AI가 같은 규칙과 같은 계약을 읽게 한다.</a:t>
            </a:r>
            <a:endParaRPr lang="en-US" sz="1300" dirty="0"/>
          </a:p>
        </p:txBody>
      </p:sp>
      <p:sp>
        <p:nvSpPr>
          <p:cNvPr id="23"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20 / 27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역할은 층을 따라, 소유는 폴더 단위로</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5711"/>
          <a:ext cx="10553700" cy="2232422"/>
        </p:xfrm>
        <a:graphic>
          <a:graphicData uri="http://schemas.openxmlformats.org/drawingml/2006/table">
            <a:tbl>
              <a:tblPr/>
              <a:tblGrid>
                <a:gridCol w="1899666"/>
                <a:gridCol w="2532888"/>
                <a:gridCol w="3166110"/>
                <a:gridCol w="2955036"/>
              </a:tblGrid>
              <a:tr h="403820">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역할</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소유 폴더</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책임</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지키는 계약</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프런트엔드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frontend/</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Streamlit 화면, API 연동, 오류 표시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openapi.yaml (사용하는 쪽)</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백엔드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backend/</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FastAPI 엔드포인트, 업무 규칙, 권한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openapi.yaml (만드는 쪽)</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617141">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데이터 · 인프라</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contracts/db/, monitoring/, compose.yaml</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스키마 · 마이그레이션, 배포, 대시보드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DB 스키마, compose.yaml</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4038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AI 워크플로우</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workflows/</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n8n 흐름, 프롬프트, RAG 문서</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Webhook 입출력 JSON</a:t>
                      </a:r>
                      <a:endParaRPr lang="en-US" sz="1200" dirty="0">
                        <a:latin typeface="Noto Sans KR" charset="0"/>
                        <a:ea typeface="Noto Sans KR" charset="0"/>
                        <a:cs typeface="Noto Sans KR" charset="0"/>
                      </a:endParaRPr>
                    </a:p>
                  </a:txBody>
                  <a:tcPr marL="127000" marR="127000" marT="88900" marB="889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bl>
          </a:graphicData>
        </a:graphic>
      </p:graphicFrame>
      <p:sp>
        <p:nvSpPr>
          <p:cNvPr id="5" name="Shape 2"/>
          <p:cNvSpPr/>
          <p:nvPr/>
        </p:nvSpPr>
        <p:spPr>
          <a:xfrm>
            <a:off x="815975" y="4285307"/>
            <a:ext cx="5200650" cy="814040"/>
          </a:xfrm>
          <a:prstGeom prst="roundRect">
            <a:avLst>
              <a:gd name="adj" fmla="val 12091"/>
            </a:avLst>
          </a:prstGeom>
          <a:solidFill>
            <a:srgbClr val="E3F2EF"/>
          </a:solidFill>
          <a:ln w="6350">
            <a:solidFill>
              <a:srgbClr val="9FD3CB"/>
            </a:solidFill>
            <a:prstDash val="solid"/>
          </a:ln>
        </p:spPr>
      </p:sp>
      <p:sp>
        <p:nvSpPr>
          <p:cNvPr id="6" name="Text 3"/>
          <p:cNvSpPr/>
          <p:nvPr/>
        </p:nvSpPr>
        <p:spPr>
          <a:xfrm>
            <a:off x="1022350" y="4440882"/>
            <a:ext cx="493153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통합 담당(팀장)</a:t>
            </a:r>
            <a:endParaRPr lang="en-US" sz="1300" dirty="0"/>
          </a:p>
        </p:txBody>
      </p:sp>
      <p:sp>
        <p:nvSpPr>
          <p:cNvPr id="7" name="Text 4"/>
          <p:cNvSpPr/>
          <p:nvPr/>
        </p:nvSpPr>
        <p:spPr>
          <a:xfrm>
            <a:off x="1022350" y="4722813"/>
            <a:ext cx="493153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E4A47"/>
                </a:solidFill>
                <a:latin typeface="Noto Sans KR" pitchFamily="34" charset="0"/>
                <a:ea typeface="Noto Sans KR" pitchFamily="34" charset="-122"/>
                <a:cs typeface="Noto Sans KR" pitchFamily="34" charset="-120"/>
              </a:rPr>
              <a:t>계약 변경 승인과 main 머지를 책임진다. 역할과 겸해도 된다.</a:t>
            </a:r>
            <a:endParaRPr lang="en-US" sz="1200" dirty="0"/>
          </a:p>
        </p:txBody>
      </p:sp>
      <p:sp>
        <p:nvSpPr>
          <p:cNvPr id="8" name="Shape 5"/>
          <p:cNvSpPr/>
          <p:nvPr/>
        </p:nvSpPr>
        <p:spPr>
          <a:xfrm>
            <a:off x="6175375" y="4285307"/>
            <a:ext cx="5200650" cy="814040"/>
          </a:xfrm>
          <a:prstGeom prst="roundRect">
            <a:avLst>
              <a:gd name="adj" fmla="val 12091"/>
            </a:avLst>
          </a:prstGeom>
          <a:solidFill>
            <a:srgbClr val="FBF1E8"/>
          </a:solidFill>
          <a:ln w="6350">
            <a:solidFill>
              <a:srgbClr val="EBC9A8"/>
            </a:solidFill>
            <a:prstDash val="solid"/>
          </a:ln>
        </p:spPr>
      </p:sp>
      <p:sp>
        <p:nvSpPr>
          <p:cNvPr id="9" name="Text 6"/>
          <p:cNvSpPr/>
          <p:nvPr/>
        </p:nvSpPr>
        <p:spPr>
          <a:xfrm>
            <a:off x="6381750" y="4440882"/>
            <a:ext cx="493153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1인 개발이라면</a:t>
            </a:r>
            <a:endParaRPr lang="en-US" sz="1300" dirty="0"/>
          </a:p>
        </p:txBody>
      </p:sp>
      <p:sp>
        <p:nvSpPr>
          <p:cNvPr id="10" name="Text 7"/>
          <p:cNvSpPr/>
          <p:nvPr/>
        </p:nvSpPr>
        <p:spPr>
          <a:xfrm>
            <a:off x="6381750" y="4722813"/>
            <a:ext cx="4931537"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3A20"/>
                </a:solidFill>
                <a:latin typeface="Noto Sans KR" pitchFamily="34" charset="0"/>
                <a:ea typeface="Noto Sans KR" pitchFamily="34" charset="-122"/>
                <a:cs typeface="Noto Sans KR" pitchFamily="34" charset="-120"/>
              </a:rPr>
              <a:t>네 개의 모자를 순서대로 쓴다 — AI 세션도 역할별로 나눈다.</a:t>
            </a:r>
            <a:endParaRPr lang="en-US" sz="12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21 / 27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계약 우선: 하나의 저장소, 하나의 진실</a:t>
            </a:r>
            <a:endParaRPr lang="en-US" sz="2800" dirty="0"/>
          </a:p>
        </p:txBody>
      </p:sp>
      <p:sp>
        <p:nvSpPr>
          <p:cNvPr id="4" name="Text 2"/>
          <p:cNvSpPr/>
          <p:nvPr/>
        </p:nvSpPr>
        <p:spPr>
          <a:xfrm>
            <a:off x="812800" y="1783011"/>
            <a:ext cx="5207000" cy="3185021"/>
          </a:xfrm>
          <a:prstGeom prst="roundRect">
            <a:avLst>
              <a:gd name="adj" fmla="val 3190"/>
            </a:avLst>
          </a:prstGeom>
          <a:solidFill>
            <a:srgbClr val="0E1A2B"/>
          </a:solidFill>
          <a:ln/>
        </p:spPr>
        <p:txBody>
          <a:bodyPr wrap="none" lIns="173442" tIns="122642" rIns="29424" bIns="97242" rtlCol="0" anchor="t">
            <a:normAutofit/>
          </a:bodyPr>
          <a:lstStyle/>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project/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AGENTS.md          </a:t>
            </a:r>
            <a:r>
              <a:rPr lang="en-US" sz="1200" dirty="0">
                <a:solidFill>
                  <a:srgbClr val="8FB5B0"/>
                </a:solidFill>
                <a:latin typeface="JetBrains Mono" pitchFamily="49" charset="0"/>
                <a:ea typeface="JetBrains Mono" pitchFamily="49" charset="-122"/>
                <a:cs typeface="JetBrains Mono" pitchFamily="49" charset="-120"/>
              </a:rPr>
              <a:t># AI 공통 규칙</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docs/</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 architecture.md  </a:t>
            </a:r>
            <a:r>
              <a:rPr lang="en-US" sz="1200" dirty="0">
                <a:solidFill>
                  <a:srgbClr val="8FB5B0"/>
                </a:solidFill>
                <a:latin typeface="JetBrains Mono" pitchFamily="49" charset="0"/>
                <a:ea typeface="JetBrains Mono" pitchFamily="49" charset="-122"/>
                <a:cs typeface="JetBrains Mono" pitchFamily="49" charset="-120"/>
              </a:rPr>
              <a:t># 오늘의 구성도</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 adr/             </a:t>
            </a:r>
            <a:r>
              <a:rPr lang="en-US" sz="1200" dirty="0">
                <a:solidFill>
                  <a:srgbClr val="8FB5B0"/>
                </a:solidFill>
                <a:latin typeface="JetBrains Mono" pitchFamily="49" charset="0"/>
                <a:ea typeface="JetBrains Mono" pitchFamily="49" charset="-122"/>
                <a:cs typeface="JetBrains Mono" pitchFamily="49" charset="-120"/>
              </a:rPr>
              <a:t># 결정 기록</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4FD1C1"/>
                </a:solidFill>
                <a:latin typeface="JetBrains Mono" pitchFamily="49" charset="0"/>
                <a:ea typeface="JetBrains Mono" pitchFamily="49" charset="-122"/>
                <a:cs typeface="JetBrains Mono" pitchFamily="49" charset="-120"/>
              </a:rPr>
              <a:t>contracts/</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 </a:t>
            </a:r>
            <a:r>
              <a:rPr lang="en-US" sz="1200" dirty="0">
                <a:solidFill>
                  <a:srgbClr val="4FD1C1"/>
                </a:solidFill>
                <a:latin typeface="JetBrains Mono" pitchFamily="49" charset="0"/>
                <a:ea typeface="JetBrains Mono" pitchFamily="49" charset="-122"/>
                <a:cs typeface="JetBrains Mono" pitchFamily="49" charset="-120"/>
              </a:rPr>
              <a:t>openapi.yaml</a:t>
            </a: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8FB5B0"/>
                </a:solidFill>
                <a:latin typeface="JetBrains Mono" pitchFamily="49" charset="0"/>
                <a:ea typeface="JetBrains Mono" pitchFamily="49" charset="-122"/>
                <a:cs typeface="JetBrains Mono" pitchFamily="49" charset="-120"/>
              </a:rPr>
              <a:t># FE ↔ BE</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 </a:t>
            </a:r>
            <a:r>
              <a:rPr lang="en-US" sz="1200" dirty="0">
                <a:solidFill>
                  <a:srgbClr val="4FD1C1"/>
                </a:solidFill>
                <a:latin typeface="JetBrains Mono" pitchFamily="49" charset="0"/>
                <a:ea typeface="JetBrains Mono" pitchFamily="49" charset="-122"/>
                <a:cs typeface="JetBrains Mono" pitchFamily="49" charset="-120"/>
              </a:rPr>
              <a:t>db/migrations/</a:t>
            </a: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8FB5B0"/>
                </a:solidFill>
                <a:latin typeface="JetBrains Mono" pitchFamily="49" charset="0"/>
                <a:ea typeface="JetBrains Mono" pitchFamily="49" charset="-122"/>
                <a:cs typeface="JetBrains Mono" pitchFamily="49" charset="-120"/>
              </a:rPr>
              <a:t># BE ↔ DB</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frontend/          </a:t>
            </a:r>
            <a:r>
              <a:rPr lang="en-US" sz="1200" dirty="0">
                <a:solidFill>
                  <a:srgbClr val="8FB5B0"/>
                </a:solidFill>
                <a:latin typeface="JetBrains Mono" pitchFamily="49" charset="0"/>
                <a:ea typeface="JetBrains Mono" pitchFamily="49" charset="-122"/>
                <a:cs typeface="JetBrains Mono" pitchFamily="49" charset="-120"/>
              </a:rPr>
              <a:t># Streamlit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backend/           </a:t>
            </a:r>
            <a:r>
              <a:rPr lang="en-US" sz="1200" dirty="0">
                <a:solidFill>
                  <a:srgbClr val="8FB5B0"/>
                </a:solidFill>
                <a:latin typeface="JetBrains Mono" pitchFamily="49" charset="0"/>
                <a:ea typeface="JetBrains Mono" pitchFamily="49" charset="-122"/>
                <a:cs typeface="JetBrains Mono" pitchFamily="49" charset="-120"/>
              </a:rPr>
              <a:t># FastAPI</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workflows/         </a:t>
            </a:r>
            <a:r>
              <a:rPr lang="en-US" sz="1200" dirty="0">
                <a:solidFill>
                  <a:srgbClr val="8FB5B0"/>
                </a:solidFill>
                <a:latin typeface="JetBrains Mono" pitchFamily="49" charset="0"/>
                <a:ea typeface="JetBrains Mono" pitchFamily="49" charset="-122"/>
                <a:cs typeface="JetBrains Mono" pitchFamily="49" charset="-120"/>
              </a:rPr>
              <a:t># n8n JSON export</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monitoring/        </a:t>
            </a:r>
            <a:r>
              <a:rPr lang="en-US" sz="1200" dirty="0">
                <a:solidFill>
                  <a:srgbClr val="8FB5B0"/>
                </a:solidFill>
                <a:latin typeface="JetBrains Mono" pitchFamily="49" charset="0"/>
                <a:ea typeface="JetBrains Mono" pitchFamily="49" charset="-122"/>
                <a:cs typeface="JetBrains Mono" pitchFamily="49" charset="-120"/>
              </a:rPr>
              <a:t># prometheus.yml</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F2A65A"/>
                </a:solidFill>
                <a:latin typeface="JetBrains Mono" pitchFamily="49" charset="0"/>
                <a:ea typeface="JetBrains Mono" pitchFamily="49" charset="-122"/>
                <a:cs typeface="JetBrains Mono" pitchFamily="49" charset="-120"/>
              </a:rPr>
              <a:t>compose.yaml</a:t>
            </a:r>
            <a:endParaRPr lang="en-US" sz="1200" dirty="0"/>
          </a:p>
          <a:p>
            <a:pPr algn="l" indent="0" marL="0">
              <a:lnSpc>
                <a:spcPts val="1620"/>
              </a:lnSpc>
              <a:buNone/>
            </a:pP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F2A65A"/>
                </a:solidFill>
                <a:latin typeface="JetBrains Mono" pitchFamily="49" charset="0"/>
                <a:ea typeface="JetBrains Mono" pitchFamily="49" charset="-122"/>
                <a:cs typeface="JetBrains Mono" pitchFamily="49" charset="-120"/>
              </a:rPr>
              <a:t>.env.example</a:t>
            </a:r>
            <a:r>
              <a:rPr lang="en-US" sz="1200" dirty="0">
                <a:solidFill>
                  <a:srgbClr val="D6E2E0"/>
                </a:solidFill>
                <a:latin typeface="JetBrains Mono" pitchFamily="49" charset="0"/>
                <a:ea typeface="JetBrains Mono" pitchFamily="49" charset="-122"/>
                <a:cs typeface="JetBrains Mono" pitchFamily="49" charset="-120"/>
              </a:rPr>
              <a:t>       </a:t>
            </a:r>
            <a:r>
              <a:rPr lang="en-US" sz="1200" dirty="0">
                <a:solidFill>
                  <a:srgbClr val="8FB5B0"/>
                </a:solidFill>
                <a:latin typeface="JetBrains Mono" pitchFamily="49" charset="0"/>
                <a:ea typeface="JetBrains Mono" pitchFamily="49" charset="-122"/>
                <a:cs typeface="JetBrains Mono" pitchFamily="49" charset="-120"/>
              </a:rPr>
              <a:t># 키 이름만, 값은 X</a:t>
            </a:r>
            <a:endParaRPr lang="en-US" sz="1200" dirty="0"/>
          </a:p>
        </p:txBody>
      </p:sp>
      <p:sp>
        <p:nvSpPr>
          <p:cNvPr id="5" name="Text 3"/>
          <p:cNvSpPr/>
          <p:nvPr/>
        </p:nvSpPr>
        <p:spPr>
          <a:xfrm>
            <a:off x="6324600" y="1783011"/>
            <a:ext cx="52062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openapi.yaml — 화면과 로직의 계약</a:t>
            </a:r>
            <a:endParaRPr lang="en-US" sz="1300" dirty="0"/>
          </a:p>
        </p:txBody>
      </p:sp>
      <p:sp>
        <p:nvSpPr>
          <p:cNvPr id="6" name="Text 4"/>
          <p:cNvSpPr/>
          <p:nvPr/>
        </p:nvSpPr>
        <p:spPr>
          <a:xfrm>
            <a:off x="6324600" y="2052241"/>
            <a:ext cx="520623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엔드포인트와 요청 · 응답 필드. FastAPI가 만든 /openapi.json을 내보내 커밋해도 된다</a:t>
            </a:r>
            <a:endParaRPr lang="en-US" sz="1200" dirty="0"/>
          </a:p>
        </p:txBody>
      </p:sp>
      <p:sp>
        <p:nvSpPr>
          <p:cNvPr id="7" name="Text 5"/>
          <p:cNvSpPr/>
          <p:nvPr/>
        </p:nvSpPr>
        <p:spPr>
          <a:xfrm>
            <a:off x="6324600" y="2621161"/>
            <a:ext cx="52062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db/migrations — 로직과 저장소의 계약</a:t>
            </a:r>
            <a:endParaRPr lang="en-US" sz="1300" dirty="0"/>
          </a:p>
        </p:txBody>
      </p:sp>
      <p:sp>
        <p:nvSpPr>
          <p:cNvPr id="8" name="Text 6"/>
          <p:cNvSpPr/>
          <p:nvPr/>
        </p:nvSpPr>
        <p:spPr>
          <a:xfrm>
            <a:off x="6324600" y="2890391"/>
            <a:ext cx="520623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테이블 변경은 Alembic 같은 마이그레이션 파일로만</a:t>
            </a:r>
            <a:endParaRPr lang="en-US" sz="1200" dirty="0"/>
          </a:p>
        </p:txBody>
      </p:sp>
      <p:sp>
        <p:nvSpPr>
          <p:cNvPr id="9" name="Text 7"/>
          <p:cNvSpPr/>
          <p:nvPr/>
        </p:nvSpPr>
        <p:spPr>
          <a:xfrm>
            <a:off x="6324600" y="3238351"/>
            <a:ext cx="52062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compose.yaml + .env.example</a:t>
            </a:r>
            <a:endParaRPr lang="en-US" sz="1300" dirty="0"/>
          </a:p>
        </p:txBody>
      </p:sp>
      <p:sp>
        <p:nvSpPr>
          <p:cNvPr id="10" name="Text 8"/>
          <p:cNvSpPr/>
          <p:nvPr/>
        </p:nvSpPr>
        <p:spPr>
          <a:xfrm>
            <a:off x="6324600" y="3507581"/>
            <a:ext cx="520623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서비스 이름 · 포트 · 환경변수 키의 단일 기준</a:t>
            </a:r>
            <a:endParaRPr lang="en-US" sz="1200" dirty="0"/>
          </a:p>
        </p:txBody>
      </p:sp>
      <p:sp>
        <p:nvSpPr>
          <p:cNvPr id="11" name="Text 9"/>
          <p:cNvSpPr/>
          <p:nvPr/>
        </p:nvSpPr>
        <p:spPr>
          <a:xfrm>
            <a:off x="6324600" y="3855541"/>
            <a:ext cx="52062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docs/adr — 왜 그렇게 정했나</a:t>
            </a:r>
            <a:endParaRPr lang="en-US" sz="1300" dirty="0"/>
          </a:p>
        </p:txBody>
      </p:sp>
      <p:sp>
        <p:nvSpPr>
          <p:cNvPr id="12" name="Text 10"/>
          <p:cNvSpPr/>
          <p:nvPr/>
        </p:nvSpPr>
        <p:spPr>
          <a:xfrm>
            <a:off x="6324600" y="4124771"/>
            <a:ext cx="520623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짧은 결정 기록은 사람에게도, AI에게도 맥락이 된다</a:t>
            </a:r>
            <a:endParaRPr lang="en-US" sz="12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22 / 27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모든 팀원의 AI가 같은 규칙을 읽게</a:t>
            </a:r>
            <a:endParaRPr lang="en-US" sz="2800" dirty="0"/>
          </a:p>
        </p:txBody>
      </p:sp>
      <p:sp>
        <p:nvSpPr>
          <p:cNvPr id="4" name="Text 2"/>
          <p:cNvSpPr/>
          <p:nvPr/>
        </p:nvSpPr>
        <p:spPr>
          <a:xfrm>
            <a:off x="812800" y="1783011"/>
            <a:ext cx="5969000" cy="3101132"/>
          </a:xfrm>
          <a:prstGeom prst="roundRect">
            <a:avLst>
              <a:gd name="adj" fmla="val 3276"/>
            </a:avLst>
          </a:prstGeom>
          <a:solidFill>
            <a:srgbClr val="0E1A2B"/>
          </a:solidFill>
          <a:ln/>
        </p:spPr>
        <p:txBody>
          <a:bodyPr wrap="none" lIns="173442" tIns="122642" rIns="6564" bIns="97242" rtlCol="0" anchor="t">
            <a:normAutofit/>
          </a:bodyPr>
          <a:lstStyle/>
          <a:p>
            <a:pPr algn="l" indent="0" marL="0">
              <a:lnSpc>
                <a:spcPts val="1560"/>
              </a:lnSpc>
              <a:buNone/>
            </a:pPr>
            <a:r>
              <a:rPr lang="en-US" sz="1200" dirty="0">
                <a:solidFill>
                  <a:srgbClr val="4FD1C1"/>
                </a:solidFill>
                <a:latin typeface="JetBrains Mono" pitchFamily="49" charset="0"/>
                <a:ea typeface="JetBrains Mono" pitchFamily="49" charset="-122"/>
                <a:cs typeface="JetBrains Mono" pitchFamily="49" charset="-120"/>
              </a:rPr>
              <a:t># AGENTS.md — 모든 AI 공통 규칙</a:t>
            </a:r>
            <a:endParaRPr lang="en-US" sz="1200" dirty="0"/>
          </a:p>
          <a:p>
            <a:pPr algn="l" indent="0" marL="0">
              <a:lnSpc>
                <a:spcPts val="1560"/>
              </a:lnSpc>
              <a:buNone/>
            </a:pP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구조</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frontend는 backend API만 호출한다 (DB 접근 금지)</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API를 바꾸려면 contracts/openapi.yaml부터 수정</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DB 변경은 마이그레이션 파일로만</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저장소</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마스터 PostgreSQL · 센서 InfluxDB · 설정 MongoDB</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금지</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비밀값 하드코딩 금지 → .env에서 읽기</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작업 범위로 지정된 폴더 밖 파일 수정 금지</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완료 조건</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docker compose up 후 /health 200</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테스트 통과, 변경한 계약은 PR 본문에 명시</a:t>
            </a:r>
            <a:endParaRPr lang="en-US" sz="1200" dirty="0"/>
          </a:p>
        </p:txBody>
      </p:sp>
      <p:sp>
        <p:nvSpPr>
          <p:cNvPr id="5" name="Text 3"/>
          <p:cNvSpPr/>
          <p:nvPr/>
        </p:nvSpPr>
        <p:spPr>
          <a:xfrm>
            <a:off x="7086600" y="1783011"/>
            <a:ext cx="442137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원본은 하나</a:t>
            </a:r>
            <a:endParaRPr lang="en-US" sz="1300" dirty="0"/>
          </a:p>
        </p:txBody>
      </p:sp>
      <p:sp>
        <p:nvSpPr>
          <p:cNvPr id="6" name="Text 4"/>
          <p:cNvSpPr/>
          <p:nvPr/>
        </p:nvSpPr>
        <p:spPr>
          <a:xfrm>
            <a:off x="7086600" y="2052241"/>
            <a:ext cx="442137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도구마다 읽는 파일이 다르다. Codex는 AGENTS.md, Claude Code는 CLAUDE.md — CLAUDE.md에 @AGENTS.md 한 줄로 원본을 불러온다</a:t>
            </a:r>
            <a:endParaRPr lang="en-US" sz="1200" dirty="0"/>
          </a:p>
        </p:txBody>
      </p:sp>
      <p:sp>
        <p:nvSpPr>
          <p:cNvPr id="7" name="Text 5"/>
          <p:cNvSpPr/>
          <p:nvPr/>
        </p:nvSpPr>
        <p:spPr>
          <a:xfrm>
            <a:off x="7086600" y="2867521"/>
            <a:ext cx="442137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실수는 규칙으로 쌓는다</a:t>
            </a:r>
            <a:endParaRPr lang="en-US" sz="1300" dirty="0"/>
          </a:p>
        </p:txBody>
      </p:sp>
      <p:sp>
        <p:nvSpPr>
          <p:cNvPr id="8" name="Text 6"/>
          <p:cNvSpPr/>
          <p:nvPr/>
        </p:nvSpPr>
        <p:spPr>
          <a:xfrm>
            <a:off x="7086600" y="3136751"/>
            <a:ext cx="4421378"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AI가 같은 실수를 반복하면(예: 화면 코드에서 또 DB 직접 접속) 프롬프트로 매번 말하지 말고 AGENTS.md에 금지 규칙을 한 줄 적는다. 팀 전체 AI가 읽는 파일이므로 혼자 고치지 않고 PR로 올려 함께 확인한다</a:t>
            </a:r>
            <a:endParaRPr lang="en-US" sz="1200" dirty="0"/>
          </a:p>
        </p:txBody>
      </p:sp>
      <p:sp>
        <p:nvSpPr>
          <p:cNvPr id="9" name="Text 7"/>
          <p:cNvSpPr/>
          <p:nvPr/>
        </p:nvSpPr>
        <p:spPr>
          <a:xfrm>
            <a:off x="7086600" y="4172992"/>
            <a:ext cx="442137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첫 프롬프트 습관</a:t>
            </a:r>
            <a:endParaRPr lang="en-US" sz="1300" dirty="0"/>
          </a:p>
        </p:txBody>
      </p:sp>
      <p:sp>
        <p:nvSpPr>
          <p:cNvPr id="10" name="Text 8"/>
          <p:cNvSpPr/>
          <p:nvPr/>
        </p:nvSpPr>
        <p:spPr>
          <a:xfrm>
            <a:off x="7086600" y="4442222"/>
            <a:ext cx="442137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“AGENTS.md와 contracts/를 먼저 읽고, backend/ 안에서만 작업해”</a:t>
            </a:r>
            <a:endParaRPr lang="en-US" sz="12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23 / 27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작업 한 건의 흐름: 이슈에서 머지까지</a:t>
            </a:r>
            <a:endParaRPr lang="en-US" sz="2800" dirty="0"/>
          </a:p>
        </p:txBody>
      </p:sp>
      <p:sp>
        <p:nvSpPr>
          <p:cNvPr id="4" name="Shape 2"/>
          <p:cNvSpPr/>
          <p:nvPr/>
        </p:nvSpPr>
        <p:spPr>
          <a:xfrm>
            <a:off x="815975" y="1786186"/>
            <a:ext cx="1437779" cy="892721"/>
          </a:xfrm>
          <a:prstGeom prst="roundRect">
            <a:avLst>
              <a:gd name="adj" fmla="val 8180"/>
            </a:avLst>
          </a:prstGeom>
          <a:solidFill>
            <a:srgbClr val="FCFDFC"/>
          </a:solidFill>
          <a:ln w="6350">
            <a:solidFill>
              <a:srgbClr val="D5DEDB"/>
            </a:solidFill>
            <a:prstDash val="solid"/>
          </a:ln>
        </p:spPr>
      </p:sp>
      <p:sp>
        <p:nvSpPr>
          <p:cNvPr id="5" name="Text 3"/>
          <p:cNvSpPr/>
          <p:nvPr/>
        </p:nvSpPr>
        <p:spPr>
          <a:xfrm>
            <a:off x="933450" y="1890961"/>
            <a:ext cx="125362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① 이슈</a:t>
            </a:r>
            <a:endParaRPr lang="en-US" sz="1300" dirty="0"/>
          </a:p>
        </p:txBody>
      </p:sp>
      <p:sp>
        <p:nvSpPr>
          <p:cNvPr id="6" name="Text 4"/>
          <p:cNvSpPr/>
          <p:nvPr/>
        </p:nvSpPr>
        <p:spPr>
          <a:xfrm>
            <a:off x="933450" y="2147491"/>
            <a:ext cx="12536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작업 단위 하나</a:t>
            </a:r>
            <a:endParaRPr lang="en-US" sz="1200" dirty="0"/>
          </a:p>
        </p:txBody>
      </p:sp>
      <p:sp>
        <p:nvSpPr>
          <p:cNvPr id="7" name="Shape 5"/>
          <p:cNvSpPr/>
          <p:nvPr/>
        </p:nvSpPr>
        <p:spPr>
          <a:xfrm>
            <a:off x="2336304" y="1786186"/>
            <a:ext cx="1437829" cy="892721"/>
          </a:xfrm>
          <a:prstGeom prst="roundRect">
            <a:avLst>
              <a:gd name="adj" fmla="val 8180"/>
            </a:avLst>
          </a:prstGeom>
          <a:solidFill>
            <a:srgbClr val="FCFDFC"/>
          </a:solidFill>
          <a:ln w="6350">
            <a:solidFill>
              <a:srgbClr val="D5DEDB"/>
            </a:solidFill>
            <a:prstDash val="solid"/>
          </a:ln>
        </p:spPr>
      </p:sp>
      <p:sp>
        <p:nvSpPr>
          <p:cNvPr id="8" name="Text 6"/>
          <p:cNvSpPr/>
          <p:nvPr/>
        </p:nvSpPr>
        <p:spPr>
          <a:xfrm>
            <a:off x="2453779" y="1890961"/>
            <a:ext cx="12536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② 브랜치</a:t>
            </a:r>
            <a:endParaRPr lang="en-US" sz="1300" dirty="0"/>
          </a:p>
        </p:txBody>
      </p:sp>
      <p:sp>
        <p:nvSpPr>
          <p:cNvPr id="9" name="Text 7"/>
          <p:cNvSpPr/>
          <p:nvPr/>
        </p:nvSpPr>
        <p:spPr>
          <a:xfrm>
            <a:off x="2453779" y="2147491"/>
            <a:ext cx="1253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feat/be-ask</a:t>
            </a:r>
            <a:endParaRPr lang="en-US" sz="1200" dirty="0"/>
          </a:p>
        </p:txBody>
      </p:sp>
      <p:sp>
        <p:nvSpPr>
          <p:cNvPr id="10" name="Shape 8"/>
          <p:cNvSpPr/>
          <p:nvPr/>
        </p:nvSpPr>
        <p:spPr>
          <a:xfrm>
            <a:off x="3856682" y="1786186"/>
            <a:ext cx="1437829" cy="892721"/>
          </a:xfrm>
          <a:prstGeom prst="roundRect">
            <a:avLst>
              <a:gd name="adj" fmla="val 8180"/>
            </a:avLst>
          </a:prstGeom>
          <a:solidFill>
            <a:srgbClr val="E3F2EF"/>
          </a:solidFill>
          <a:ln w="6350">
            <a:solidFill>
              <a:srgbClr val="9FD3CB"/>
            </a:solidFill>
            <a:prstDash val="solid"/>
          </a:ln>
        </p:spPr>
      </p:sp>
      <p:sp>
        <p:nvSpPr>
          <p:cNvPr id="11" name="Text 9"/>
          <p:cNvSpPr/>
          <p:nvPr/>
        </p:nvSpPr>
        <p:spPr>
          <a:xfrm>
            <a:off x="3974157" y="1890961"/>
            <a:ext cx="12536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③ AI 구현</a:t>
            </a:r>
            <a:endParaRPr lang="en-US" sz="1300" dirty="0"/>
          </a:p>
        </p:txBody>
      </p:sp>
      <p:sp>
        <p:nvSpPr>
          <p:cNvPr id="12" name="Text 10"/>
          <p:cNvSpPr/>
          <p:nvPr/>
        </p:nvSpPr>
        <p:spPr>
          <a:xfrm>
            <a:off x="3974157" y="2147491"/>
            <a:ext cx="1253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4A47"/>
                </a:solidFill>
                <a:latin typeface="Noto Sans KR" pitchFamily="34" charset="0"/>
                <a:ea typeface="Noto Sans KR" pitchFamily="34" charset="-122"/>
                <a:cs typeface="Noto Sans KR" pitchFamily="34" charset="-120"/>
              </a:rPr>
              <a:t>규칙 · 계약 참조</a:t>
            </a:r>
            <a:endParaRPr lang="en-US" sz="1200" dirty="0"/>
          </a:p>
        </p:txBody>
      </p:sp>
      <p:sp>
        <p:nvSpPr>
          <p:cNvPr id="13" name="Shape 11"/>
          <p:cNvSpPr/>
          <p:nvPr/>
        </p:nvSpPr>
        <p:spPr>
          <a:xfrm>
            <a:off x="5377061" y="1786186"/>
            <a:ext cx="1437829" cy="892721"/>
          </a:xfrm>
          <a:prstGeom prst="roundRect">
            <a:avLst>
              <a:gd name="adj" fmla="val 8180"/>
            </a:avLst>
          </a:prstGeom>
          <a:solidFill>
            <a:srgbClr val="FCFDFC"/>
          </a:solidFill>
          <a:ln w="6350">
            <a:solidFill>
              <a:srgbClr val="D5DEDB"/>
            </a:solidFill>
            <a:prstDash val="solid"/>
          </a:ln>
        </p:spPr>
      </p:sp>
      <p:sp>
        <p:nvSpPr>
          <p:cNvPr id="14" name="Text 12"/>
          <p:cNvSpPr/>
          <p:nvPr/>
        </p:nvSpPr>
        <p:spPr>
          <a:xfrm>
            <a:off x="5494536" y="1890961"/>
            <a:ext cx="12536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④ 로컬 검증</a:t>
            </a:r>
            <a:endParaRPr lang="en-US" sz="1300" dirty="0"/>
          </a:p>
        </p:txBody>
      </p:sp>
      <p:sp>
        <p:nvSpPr>
          <p:cNvPr id="15" name="Text 13"/>
          <p:cNvSpPr/>
          <p:nvPr/>
        </p:nvSpPr>
        <p:spPr>
          <a:xfrm>
            <a:off x="5494536" y="2147491"/>
            <a:ext cx="12536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compose up · 테스트</a:t>
            </a:r>
            <a:endParaRPr lang="en-US" sz="1200" dirty="0"/>
          </a:p>
        </p:txBody>
      </p:sp>
      <p:sp>
        <p:nvSpPr>
          <p:cNvPr id="16" name="Shape 14"/>
          <p:cNvSpPr/>
          <p:nvPr/>
        </p:nvSpPr>
        <p:spPr>
          <a:xfrm>
            <a:off x="6897439" y="1786186"/>
            <a:ext cx="1437829" cy="892721"/>
          </a:xfrm>
          <a:prstGeom prst="roundRect">
            <a:avLst>
              <a:gd name="adj" fmla="val 8180"/>
            </a:avLst>
          </a:prstGeom>
          <a:solidFill>
            <a:srgbClr val="FCFDFC"/>
          </a:solidFill>
          <a:ln w="6350">
            <a:solidFill>
              <a:srgbClr val="D5DEDB"/>
            </a:solidFill>
            <a:prstDash val="solid"/>
          </a:ln>
        </p:spPr>
      </p:sp>
      <p:sp>
        <p:nvSpPr>
          <p:cNvPr id="17" name="Text 15"/>
          <p:cNvSpPr/>
          <p:nvPr/>
        </p:nvSpPr>
        <p:spPr>
          <a:xfrm>
            <a:off x="7014914" y="1890961"/>
            <a:ext cx="12536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⑤ PR</a:t>
            </a:r>
            <a:endParaRPr lang="en-US" sz="1300" dirty="0"/>
          </a:p>
        </p:txBody>
      </p:sp>
      <p:sp>
        <p:nvSpPr>
          <p:cNvPr id="18" name="Text 16"/>
          <p:cNvSpPr/>
          <p:nvPr/>
        </p:nvSpPr>
        <p:spPr>
          <a:xfrm>
            <a:off x="7014914" y="2147491"/>
            <a:ext cx="1253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템플릿 작성</a:t>
            </a:r>
            <a:endParaRPr lang="en-US" sz="1200" dirty="0"/>
          </a:p>
        </p:txBody>
      </p:sp>
      <p:sp>
        <p:nvSpPr>
          <p:cNvPr id="19" name="Shape 17"/>
          <p:cNvSpPr/>
          <p:nvPr/>
        </p:nvSpPr>
        <p:spPr>
          <a:xfrm>
            <a:off x="8417818" y="1786186"/>
            <a:ext cx="1437829" cy="892721"/>
          </a:xfrm>
          <a:prstGeom prst="roundRect">
            <a:avLst>
              <a:gd name="adj" fmla="val 8180"/>
            </a:avLst>
          </a:prstGeom>
          <a:solidFill>
            <a:srgbClr val="FCFDFC"/>
          </a:solidFill>
          <a:ln w="6350">
            <a:solidFill>
              <a:srgbClr val="D5DEDB"/>
            </a:solidFill>
            <a:prstDash val="solid"/>
          </a:ln>
        </p:spPr>
      </p:sp>
      <p:sp>
        <p:nvSpPr>
          <p:cNvPr id="20" name="Text 18"/>
          <p:cNvSpPr/>
          <p:nvPr/>
        </p:nvSpPr>
        <p:spPr>
          <a:xfrm>
            <a:off x="8535293" y="1890961"/>
            <a:ext cx="12536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⑥ 리뷰 · CI</a:t>
            </a:r>
            <a:endParaRPr lang="en-US" sz="1300" dirty="0"/>
          </a:p>
        </p:txBody>
      </p:sp>
      <p:sp>
        <p:nvSpPr>
          <p:cNvPr id="21" name="Text 19"/>
          <p:cNvSpPr/>
          <p:nvPr/>
        </p:nvSpPr>
        <p:spPr>
          <a:xfrm>
            <a:off x="8535293" y="2147491"/>
            <a:ext cx="1253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사람 1명 + AI</a:t>
            </a:r>
            <a:endParaRPr lang="en-US" sz="1200" dirty="0"/>
          </a:p>
        </p:txBody>
      </p:sp>
      <p:sp>
        <p:nvSpPr>
          <p:cNvPr id="22" name="Shape 20"/>
          <p:cNvSpPr/>
          <p:nvPr/>
        </p:nvSpPr>
        <p:spPr>
          <a:xfrm>
            <a:off x="9935021" y="1783011"/>
            <a:ext cx="1444179" cy="899071"/>
          </a:xfrm>
          <a:prstGeom prst="roundRect">
            <a:avLst>
              <a:gd name="adj" fmla="val 8475"/>
            </a:avLst>
          </a:prstGeom>
          <a:solidFill>
            <a:srgbClr val="0E1A2B"/>
          </a:solidFill>
          <a:ln/>
        </p:spPr>
      </p:sp>
      <p:sp>
        <p:nvSpPr>
          <p:cNvPr id="23" name="Text 21"/>
          <p:cNvSpPr/>
          <p:nvPr/>
        </p:nvSpPr>
        <p:spPr>
          <a:xfrm>
            <a:off x="10049321" y="1884611"/>
            <a:ext cx="126637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4"/>
                </a:solidFill>
                <a:latin typeface="Noto Sans KR" pitchFamily="34" charset="0"/>
                <a:ea typeface="Noto Sans KR" pitchFamily="34" charset="-122"/>
                <a:cs typeface="Noto Sans KR" pitchFamily="34" charset="-120"/>
              </a:rPr>
              <a:t>⑦ 머지</a:t>
            </a:r>
            <a:endParaRPr lang="en-US" sz="1300" dirty="0"/>
          </a:p>
        </p:txBody>
      </p:sp>
      <p:sp>
        <p:nvSpPr>
          <p:cNvPr id="24" name="Text 22"/>
          <p:cNvSpPr/>
          <p:nvPr/>
        </p:nvSpPr>
        <p:spPr>
          <a:xfrm>
            <a:off x="10049321" y="2141141"/>
            <a:ext cx="12663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2D0"/>
                </a:solidFill>
                <a:latin typeface="Noto Sans KR" pitchFamily="34" charset="0"/>
                <a:ea typeface="Noto Sans KR" pitchFamily="34" charset="-122"/>
                <a:cs typeface="Noto Sans KR" pitchFamily="34" charset="-120"/>
              </a:rPr>
              <a:t>main은 보호</a:t>
            </a:r>
            <a:endParaRPr lang="en-US" sz="1200" dirty="0"/>
          </a:p>
        </p:txBody>
      </p:sp>
      <p:sp>
        <p:nvSpPr>
          <p:cNvPr id="25" name="Text 23"/>
          <p:cNvSpPr/>
          <p:nvPr/>
        </p:nvSpPr>
        <p:spPr>
          <a:xfrm>
            <a:off x="812800" y="2936081"/>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66A"/>
                </a:solidFill>
                <a:latin typeface="Noto Sans KR" pitchFamily="34" charset="0"/>
                <a:ea typeface="Noto Sans KR" pitchFamily="34" charset="-122"/>
                <a:cs typeface="Noto Sans KR" pitchFamily="34" charset="-120"/>
              </a:rPr>
              <a:t>PR 템플릿 예시</a:t>
            </a:r>
            <a:endParaRPr lang="en-US" sz="1200" dirty="0"/>
          </a:p>
        </p:txBody>
      </p:sp>
      <p:sp>
        <p:nvSpPr>
          <p:cNvPr id="26" name="Text 24"/>
          <p:cNvSpPr/>
          <p:nvPr/>
        </p:nvSpPr>
        <p:spPr>
          <a:xfrm>
            <a:off x="812800" y="3225602"/>
            <a:ext cx="5207000" cy="2087612"/>
          </a:xfrm>
          <a:prstGeom prst="roundRect">
            <a:avLst>
              <a:gd name="adj" fmla="val 4867"/>
            </a:avLst>
          </a:prstGeom>
          <a:solidFill>
            <a:srgbClr val="0E1A2B"/>
          </a:solidFill>
          <a:ln/>
        </p:spPr>
        <p:txBody>
          <a:bodyPr wrap="none" lIns="173442" tIns="122642" rIns="29424" bIns="97242" rtlCol="0" anchor="t">
            <a:normAutofit/>
          </a:bodyPr>
          <a:lstStyle/>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무엇을</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/ask 엔드포인트에 사용자별 비용 한도 추가</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계약 변경</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[x] openapi.yaml  [ ] DB  [ ] compose</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AI 사용</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도구 · 핵심 프롬프트 요약</a:t>
            </a:r>
            <a:endParaRPr lang="en-US" sz="1200" dirty="0"/>
          </a:p>
          <a:p>
            <a:pPr algn="l" indent="0" marL="0">
              <a:lnSpc>
                <a:spcPts val="1560"/>
              </a:lnSpc>
              <a:buNone/>
            </a:pPr>
            <a:r>
              <a:rPr lang="en-US" sz="1200" dirty="0">
                <a:solidFill>
                  <a:srgbClr val="F2A65A"/>
                </a:solidFill>
                <a:latin typeface="JetBrains Mono" pitchFamily="49" charset="0"/>
                <a:ea typeface="JetBrains Mono" pitchFamily="49" charset="-122"/>
                <a:cs typeface="JetBrains Mono" pitchFamily="49" charset="-120"/>
              </a:rPr>
              <a:t>## 확인</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[x] compose up 후 /health 200</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[x] pytest 통과</a:t>
            </a:r>
            <a:endParaRPr lang="en-US" sz="1200" dirty="0"/>
          </a:p>
        </p:txBody>
      </p:sp>
      <p:sp>
        <p:nvSpPr>
          <p:cNvPr id="27" name="Text 25"/>
          <p:cNvSpPr/>
          <p:nvPr/>
        </p:nvSpPr>
        <p:spPr>
          <a:xfrm>
            <a:off x="6324600" y="3164681"/>
            <a:ext cx="520623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main 직접 push 금지</a:t>
            </a:r>
            <a:r>
              <a:rPr lang="en-US" sz="1300" dirty="0">
                <a:solidFill>
                  <a:srgbClr val="46566A"/>
                </a:solidFill>
                <a:latin typeface="Noto Sans KR" pitchFamily="34" charset="0"/>
                <a:ea typeface="Noto Sans KR" pitchFamily="34" charset="-122"/>
                <a:cs typeface="Noto Sans KR" pitchFamily="34" charset="-120"/>
              </a:rPr>
              <a:t> — 브랜치 보호 규칙으로 막는다</a:t>
            </a:r>
            <a:endParaRPr lang="en-US" sz="1300" dirty="0"/>
          </a:p>
        </p:txBody>
      </p:sp>
      <p:sp>
        <p:nvSpPr>
          <p:cNvPr id="28" name="Text 26"/>
          <p:cNvSpPr/>
          <p:nvPr/>
        </p:nvSpPr>
        <p:spPr>
          <a:xfrm>
            <a:off x="6324600" y="3539331"/>
            <a:ext cx="520623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PR은 작게</a:t>
            </a:r>
            <a:r>
              <a:rPr lang="en-US" sz="1300" dirty="0">
                <a:solidFill>
                  <a:srgbClr val="46566A"/>
                </a:solidFill>
                <a:latin typeface="Noto Sans KR" pitchFamily="34" charset="0"/>
                <a:ea typeface="Noto Sans KR" pitchFamily="34" charset="-122"/>
                <a:cs typeface="Noto Sans KR" pitchFamily="34" charset="-120"/>
              </a:rPr>
              <a:t> — 하루 안에 리뷰할 수 있는 크기</a:t>
            </a:r>
            <a:endParaRPr lang="en-US" sz="1300" dirty="0"/>
          </a:p>
        </p:txBody>
      </p:sp>
      <p:sp>
        <p:nvSpPr>
          <p:cNvPr id="29" name="Text 27"/>
          <p:cNvSpPr/>
          <p:nvPr/>
        </p:nvSpPr>
        <p:spPr>
          <a:xfrm>
            <a:off x="6324600" y="3913981"/>
            <a:ext cx="520623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설명할 수 있어야 머지</a:t>
            </a:r>
            <a:r>
              <a:rPr lang="en-US" sz="1300" dirty="0">
                <a:solidFill>
                  <a:srgbClr val="46566A"/>
                </a:solidFill>
                <a:latin typeface="Noto Sans KR" pitchFamily="34" charset="0"/>
                <a:ea typeface="Noto Sans KR" pitchFamily="34" charset="-122"/>
                <a:cs typeface="Noto Sans KR" pitchFamily="34" charset="-120"/>
              </a:rPr>
              <a:t> — AI가 쓴 코드도 작성자가 리뷰어에게 설명</a:t>
            </a:r>
            <a:endParaRPr lang="en-US" sz="1300" dirty="0"/>
          </a:p>
        </p:txBody>
      </p:sp>
      <p:sp>
        <p:nvSpPr>
          <p:cNvPr id="30" name="Text 28"/>
          <p:cNvSpPr/>
          <p:nvPr/>
        </p:nvSpPr>
        <p:spPr>
          <a:xfrm>
            <a:off x="6324600" y="4288631"/>
            <a:ext cx="5206238"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0E1A2B"/>
                </a:solidFill>
                <a:latin typeface="Noto Sans KR" pitchFamily="34" charset="0"/>
                <a:ea typeface="Noto Sans KR" pitchFamily="34" charset="-122"/>
                <a:cs typeface="Noto Sans KR" pitchFamily="34" charset="-120"/>
              </a:rPr>
              <a:t>CI 자동 실행</a:t>
            </a:r>
            <a:r>
              <a:rPr lang="en-US" sz="1300" dirty="0">
                <a:solidFill>
                  <a:srgbClr val="46566A"/>
                </a:solidFill>
                <a:latin typeface="Noto Sans KR" pitchFamily="34" charset="0"/>
                <a:ea typeface="Noto Sans KR" pitchFamily="34" charset="-122"/>
                <a:cs typeface="Noto Sans KR" pitchFamily="34" charset="-120"/>
              </a:rPr>
              <a:t> — PR마다 compose 빌드 + 테스트</a:t>
            </a:r>
            <a:endParaRPr lang="en-US" sz="13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24 / 27</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CI/CD: 검사와 배포는 사람 대신 기계가</a:t>
            </a:r>
            <a:endParaRPr lang="en-US" sz="2800" dirty="0"/>
          </a:p>
        </p:txBody>
      </p:sp>
      <p:sp>
        <p:nvSpPr>
          <p:cNvPr id="4" name="Shape 2"/>
          <p:cNvSpPr/>
          <p:nvPr/>
        </p:nvSpPr>
        <p:spPr>
          <a:xfrm>
            <a:off x="815975" y="1786186"/>
            <a:ext cx="1784350" cy="679400"/>
          </a:xfrm>
          <a:prstGeom prst="roundRect">
            <a:avLst>
              <a:gd name="adj" fmla="val 10748"/>
            </a:avLst>
          </a:prstGeom>
          <a:solidFill>
            <a:srgbClr val="FCFDFC"/>
          </a:solidFill>
          <a:ln w="6350">
            <a:solidFill>
              <a:srgbClr val="D5DEDB"/>
            </a:solidFill>
            <a:prstDash val="solid"/>
          </a:ln>
        </p:spPr>
      </p:sp>
      <p:sp>
        <p:nvSpPr>
          <p:cNvPr id="5" name="Text 3"/>
          <p:cNvSpPr/>
          <p:nvPr/>
        </p:nvSpPr>
        <p:spPr>
          <a:xfrm>
            <a:off x="946150" y="18909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① PR 생성</a:t>
            </a:r>
            <a:endParaRPr lang="en-US" sz="1300" dirty="0"/>
          </a:p>
        </p:txBody>
      </p:sp>
      <p:sp>
        <p:nvSpPr>
          <p:cNvPr id="6" name="Text 4"/>
          <p:cNvSpPr/>
          <p:nvPr/>
        </p:nvSpPr>
        <p:spPr>
          <a:xfrm>
            <a:off x="946150" y="21474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push하면 시작</a:t>
            </a:r>
            <a:endParaRPr lang="en-US" sz="1200" dirty="0"/>
          </a:p>
        </p:txBody>
      </p:sp>
      <p:pic>
        <p:nvPicPr>
          <p:cNvPr id="7" name="Image 0" descr="arrow-right">    </p:cNvPr>
          <p:cNvPicPr>
            <a:picLocks noChangeAspect="1"/>
          </p:cNvPicPr>
          <p:nvPr/>
        </p:nvPicPr>
        <p:blipFill>
          <a:blip r:embed="rId1"/>
          <a:srcRect l="0" r="0" t="0" b="0"/>
          <a:stretch/>
        </p:blipFill>
        <p:spPr>
          <a:xfrm>
            <a:off x="2679700" y="2062361"/>
            <a:ext cx="254000" cy="127000"/>
          </a:xfrm>
          <a:prstGeom prst="rect">
            <a:avLst/>
          </a:prstGeom>
        </p:spPr>
      </p:pic>
      <p:sp>
        <p:nvSpPr>
          <p:cNvPr id="8" name="Shape 5"/>
          <p:cNvSpPr/>
          <p:nvPr/>
        </p:nvSpPr>
        <p:spPr>
          <a:xfrm>
            <a:off x="3013075" y="1786186"/>
            <a:ext cx="1784350" cy="679400"/>
          </a:xfrm>
          <a:prstGeom prst="roundRect">
            <a:avLst>
              <a:gd name="adj" fmla="val 10748"/>
            </a:avLst>
          </a:prstGeom>
          <a:solidFill>
            <a:srgbClr val="E3F2EF"/>
          </a:solidFill>
          <a:ln w="6350">
            <a:solidFill>
              <a:srgbClr val="9FD3CB"/>
            </a:solidFill>
            <a:prstDash val="solid"/>
          </a:ln>
        </p:spPr>
      </p:sp>
      <p:sp>
        <p:nvSpPr>
          <p:cNvPr id="9" name="Text 6"/>
          <p:cNvSpPr/>
          <p:nvPr/>
        </p:nvSpPr>
        <p:spPr>
          <a:xfrm>
            <a:off x="3143250" y="18909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② CI</a:t>
            </a:r>
            <a:endParaRPr lang="en-US" sz="1300" dirty="0"/>
          </a:p>
        </p:txBody>
      </p:sp>
      <p:sp>
        <p:nvSpPr>
          <p:cNvPr id="10" name="Text 7"/>
          <p:cNvSpPr/>
          <p:nvPr/>
        </p:nvSpPr>
        <p:spPr>
          <a:xfrm>
            <a:off x="3143250" y="21474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4A47"/>
                </a:solidFill>
                <a:latin typeface="Noto Sans KR" pitchFamily="34" charset="0"/>
                <a:ea typeface="Noto Sans KR" pitchFamily="34" charset="-122"/>
                <a:cs typeface="Noto Sans KR" pitchFamily="34" charset="-120"/>
              </a:rPr>
              <a:t>빌드 · 테스트</a:t>
            </a:r>
            <a:endParaRPr lang="en-US" sz="1200" dirty="0"/>
          </a:p>
        </p:txBody>
      </p:sp>
      <p:pic>
        <p:nvPicPr>
          <p:cNvPr id="11" name="Image 1" descr="arrow-right">    </p:cNvPr>
          <p:cNvPicPr>
            <a:picLocks noChangeAspect="1"/>
          </p:cNvPicPr>
          <p:nvPr/>
        </p:nvPicPr>
        <p:blipFill>
          <a:blip r:embed="rId2"/>
          <a:srcRect l="0" r="0" t="0" b="0"/>
          <a:stretch/>
        </p:blipFill>
        <p:spPr>
          <a:xfrm>
            <a:off x="4876800" y="2062361"/>
            <a:ext cx="254000" cy="127000"/>
          </a:xfrm>
          <a:prstGeom prst="rect">
            <a:avLst/>
          </a:prstGeom>
        </p:spPr>
      </p:pic>
      <p:sp>
        <p:nvSpPr>
          <p:cNvPr id="12" name="Shape 8"/>
          <p:cNvSpPr/>
          <p:nvPr/>
        </p:nvSpPr>
        <p:spPr>
          <a:xfrm>
            <a:off x="5210175" y="1786186"/>
            <a:ext cx="1784350" cy="679400"/>
          </a:xfrm>
          <a:prstGeom prst="roundRect">
            <a:avLst>
              <a:gd name="adj" fmla="val 10748"/>
            </a:avLst>
          </a:prstGeom>
          <a:solidFill>
            <a:srgbClr val="FCFDFC"/>
          </a:solidFill>
          <a:ln w="6350">
            <a:solidFill>
              <a:srgbClr val="D5DEDB"/>
            </a:solidFill>
            <a:prstDash val="solid"/>
          </a:ln>
        </p:spPr>
      </p:sp>
      <p:sp>
        <p:nvSpPr>
          <p:cNvPr id="13" name="Text 9"/>
          <p:cNvSpPr/>
          <p:nvPr/>
        </p:nvSpPr>
        <p:spPr>
          <a:xfrm>
            <a:off x="5340350" y="18909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③ 머지</a:t>
            </a:r>
            <a:endParaRPr lang="en-US" sz="1300" dirty="0"/>
          </a:p>
        </p:txBody>
      </p:sp>
      <p:sp>
        <p:nvSpPr>
          <p:cNvPr id="14" name="Text 10"/>
          <p:cNvSpPr/>
          <p:nvPr/>
        </p:nvSpPr>
        <p:spPr>
          <a:xfrm>
            <a:off x="5340350" y="21474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66A"/>
                </a:solidFill>
                <a:latin typeface="Noto Sans KR" pitchFamily="34" charset="0"/>
                <a:ea typeface="Noto Sans KR" pitchFamily="34" charset="-122"/>
                <a:cs typeface="Noto Sans KR" pitchFamily="34" charset="-120"/>
              </a:rPr>
              <a:t>통과 + 리뷰 후</a:t>
            </a:r>
            <a:endParaRPr lang="en-US" sz="1200" dirty="0"/>
          </a:p>
        </p:txBody>
      </p:sp>
      <p:pic>
        <p:nvPicPr>
          <p:cNvPr id="15" name="Image 2" descr="arrow-right">    </p:cNvPr>
          <p:cNvPicPr>
            <a:picLocks noChangeAspect="1"/>
          </p:cNvPicPr>
          <p:nvPr/>
        </p:nvPicPr>
        <p:blipFill>
          <a:blip r:embed="rId3"/>
          <a:srcRect l="0" r="0" t="0" b="0"/>
          <a:stretch/>
        </p:blipFill>
        <p:spPr>
          <a:xfrm>
            <a:off x="7073900" y="2062361"/>
            <a:ext cx="254000" cy="127000"/>
          </a:xfrm>
          <a:prstGeom prst="rect">
            <a:avLst/>
          </a:prstGeom>
        </p:spPr>
      </p:pic>
      <p:sp>
        <p:nvSpPr>
          <p:cNvPr id="16" name="Shape 11"/>
          <p:cNvSpPr/>
          <p:nvPr/>
        </p:nvSpPr>
        <p:spPr>
          <a:xfrm>
            <a:off x="7407275" y="1786186"/>
            <a:ext cx="1784350" cy="679400"/>
          </a:xfrm>
          <a:prstGeom prst="roundRect">
            <a:avLst>
              <a:gd name="adj" fmla="val 10748"/>
            </a:avLst>
          </a:prstGeom>
          <a:solidFill>
            <a:srgbClr val="FBF1E8"/>
          </a:solidFill>
          <a:ln w="6350">
            <a:solidFill>
              <a:srgbClr val="EBC9A8"/>
            </a:solidFill>
            <a:prstDash val="solid"/>
          </a:ln>
        </p:spPr>
      </p:sp>
      <p:sp>
        <p:nvSpPr>
          <p:cNvPr id="17" name="Text 12"/>
          <p:cNvSpPr/>
          <p:nvPr/>
        </p:nvSpPr>
        <p:spPr>
          <a:xfrm>
            <a:off x="7537450" y="18909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A2B"/>
                </a:solidFill>
                <a:latin typeface="Noto Sans KR" pitchFamily="34" charset="0"/>
                <a:ea typeface="Noto Sans KR" pitchFamily="34" charset="-122"/>
                <a:cs typeface="Noto Sans KR" pitchFamily="34" charset="-120"/>
              </a:rPr>
              <a:t>④ CD</a:t>
            </a:r>
            <a:endParaRPr lang="en-US" sz="1300" dirty="0"/>
          </a:p>
        </p:txBody>
      </p:sp>
      <p:sp>
        <p:nvSpPr>
          <p:cNvPr id="18" name="Text 13"/>
          <p:cNvSpPr/>
          <p:nvPr/>
        </p:nvSpPr>
        <p:spPr>
          <a:xfrm>
            <a:off x="7537450" y="21474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3A20"/>
                </a:solidFill>
                <a:latin typeface="Noto Sans KR" pitchFamily="34" charset="0"/>
                <a:ea typeface="Noto Sans KR" pitchFamily="34" charset="-122"/>
                <a:cs typeface="Noto Sans KR" pitchFamily="34" charset="-120"/>
              </a:rPr>
              <a:t>서버에 배포</a:t>
            </a:r>
            <a:endParaRPr lang="en-US" sz="1200" dirty="0"/>
          </a:p>
        </p:txBody>
      </p:sp>
      <p:pic>
        <p:nvPicPr>
          <p:cNvPr id="19" name="Image 3" descr="arrow-right">    </p:cNvPr>
          <p:cNvPicPr>
            <a:picLocks noChangeAspect="1"/>
          </p:cNvPicPr>
          <p:nvPr/>
        </p:nvPicPr>
        <p:blipFill>
          <a:blip r:embed="rId4"/>
          <a:srcRect l="0" r="0" t="0" b="0"/>
          <a:stretch/>
        </p:blipFill>
        <p:spPr>
          <a:xfrm>
            <a:off x="9271000" y="2062361"/>
            <a:ext cx="254000" cy="127000"/>
          </a:xfrm>
          <a:prstGeom prst="rect">
            <a:avLst/>
          </a:prstGeom>
        </p:spPr>
      </p:pic>
      <p:sp>
        <p:nvSpPr>
          <p:cNvPr id="20" name="Shape 14"/>
          <p:cNvSpPr/>
          <p:nvPr/>
        </p:nvSpPr>
        <p:spPr>
          <a:xfrm>
            <a:off x="9601200" y="1789361"/>
            <a:ext cx="1778000" cy="673050"/>
          </a:xfrm>
          <a:prstGeom prst="roundRect">
            <a:avLst>
              <a:gd name="adj" fmla="val 11322"/>
            </a:avLst>
          </a:prstGeom>
          <a:solidFill>
            <a:srgbClr val="0E1A2B"/>
          </a:solidFill>
          <a:ln/>
        </p:spPr>
      </p:sp>
      <p:sp>
        <p:nvSpPr>
          <p:cNvPr id="21" name="Text 15"/>
          <p:cNvSpPr/>
          <p:nvPr/>
        </p:nvSpPr>
        <p:spPr>
          <a:xfrm>
            <a:off x="9728200" y="1890961"/>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F5F4"/>
                </a:solidFill>
                <a:latin typeface="Noto Sans KR" pitchFamily="34" charset="0"/>
                <a:ea typeface="Noto Sans KR" pitchFamily="34" charset="-122"/>
                <a:cs typeface="Noto Sans KR" pitchFamily="34" charset="-120"/>
              </a:rPr>
              <a:t>⑤ 관측</a:t>
            </a:r>
            <a:endParaRPr lang="en-US" sz="1300" dirty="0"/>
          </a:p>
        </p:txBody>
      </p:sp>
      <p:sp>
        <p:nvSpPr>
          <p:cNvPr id="22" name="Text 16"/>
          <p:cNvSpPr/>
          <p:nvPr/>
        </p:nvSpPr>
        <p:spPr>
          <a:xfrm>
            <a:off x="9728200" y="214749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2D0"/>
                </a:solidFill>
                <a:latin typeface="Noto Sans KR" pitchFamily="34" charset="0"/>
                <a:ea typeface="Noto Sans KR" pitchFamily="34" charset="-122"/>
                <a:cs typeface="Noto Sans KR" pitchFamily="34" charset="-120"/>
              </a:rPr>
              <a:t>Grafana · 롤백</a:t>
            </a:r>
            <a:endParaRPr lang="en-US" sz="1200" dirty="0"/>
          </a:p>
        </p:txBody>
      </p:sp>
      <p:sp>
        <p:nvSpPr>
          <p:cNvPr id="23" name="Text 17"/>
          <p:cNvSpPr/>
          <p:nvPr/>
        </p:nvSpPr>
        <p:spPr>
          <a:xfrm>
            <a:off x="812800" y="2722761"/>
            <a:ext cx="64096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7A6E"/>
                </a:solidFill>
                <a:latin typeface="Noto Sans KR" pitchFamily="34" charset="0"/>
                <a:ea typeface="Noto Sans KR" pitchFamily="34" charset="-122"/>
                <a:cs typeface="Noto Sans KR" pitchFamily="34" charset="-120"/>
              </a:rPr>
              <a:t>CI — PR마다 자동 검사 (GitHub Actions 예시)</a:t>
            </a:r>
            <a:endParaRPr lang="en-US" sz="1200" dirty="0"/>
          </a:p>
        </p:txBody>
      </p:sp>
      <p:sp>
        <p:nvSpPr>
          <p:cNvPr id="24" name="Text 18"/>
          <p:cNvSpPr/>
          <p:nvPr/>
        </p:nvSpPr>
        <p:spPr>
          <a:xfrm>
            <a:off x="812800" y="3012281"/>
            <a:ext cx="6223000" cy="2483793"/>
          </a:xfrm>
          <a:prstGeom prst="roundRect">
            <a:avLst>
              <a:gd name="adj" fmla="val 4091"/>
            </a:avLst>
          </a:prstGeom>
          <a:solidFill>
            <a:srgbClr val="0E1A2B"/>
          </a:solidFill>
          <a:ln/>
        </p:spPr>
        <p:txBody>
          <a:bodyPr wrap="none" lIns="173442" tIns="122642" rIns="0" bIns="97242" rtlCol="0" anchor="t">
            <a:normAutofit/>
          </a:bodyPr>
          <a:lstStyle/>
          <a:p>
            <a:pPr algn="l" indent="0" marL="0">
              <a:lnSpc>
                <a:spcPts val="1560"/>
              </a:lnSpc>
              <a:buNone/>
            </a:pPr>
            <a:r>
              <a:rPr lang="en-US" sz="1200" dirty="0">
                <a:solidFill>
                  <a:srgbClr val="8FB5B0"/>
                </a:solidFill>
                <a:latin typeface="JetBrains Mono" pitchFamily="49" charset="0"/>
                <a:ea typeface="JetBrains Mono" pitchFamily="49" charset="-122"/>
                <a:cs typeface="JetBrains Mono" pitchFamily="49" charset="-120"/>
              </a:rPr>
              <a:t># .github/workflows/ci.yml</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on: [pull_request]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jobs: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test: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steps:</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uses: actions/checkout@v4</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run: echo "PG_PASSWORD=${{ secrets.PG_PASSWORD }}" &gt; .env</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run: docker compose up -d --build --wait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run: docker compose exec -T backend pytest</a:t>
            </a:r>
            <a:endParaRPr lang="en-US" sz="1200" dirty="0"/>
          </a:p>
          <a:p>
            <a:pPr algn="l" indent="0" marL="0">
              <a:lnSpc>
                <a:spcPts val="1560"/>
              </a:lnSpc>
              <a:buNone/>
            </a:pPr>
            <a:r>
              <a:rPr lang="en-US" sz="1200" dirty="0">
                <a:solidFill>
                  <a:srgbClr val="D6E2E0"/>
                </a:solidFill>
                <a:latin typeface="JetBrains Mono" pitchFamily="49" charset="0"/>
                <a:ea typeface="JetBrains Mono" pitchFamily="49" charset="-122"/>
                <a:cs typeface="JetBrains Mono" pitchFamily="49" charset="-120"/>
              </a:rPr>
              <a:t>      - run: docker compose down -v</a:t>
            </a:r>
            <a:endParaRPr lang="en-US" sz="1200" dirty="0"/>
          </a:p>
        </p:txBody>
      </p:sp>
      <p:sp>
        <p:nvSpPr>
          <p:cNvPr id="25" name="Text 19"/>
          <p:cNvSpPr/>
          <p:nvPr/>
        </p:nvSpPr>
        <p:spPr>
          <a:xfrm>
            <a:off x="7340600" y="2722761"/>
            <a:ext cx="415975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04E10"/>
                </a:solidFill>
                <a:latin typeface="Noto Sans KR" pitchFamily="34" charset="0"/>
                <a:ea typeface="Noto Sans KR" pitchFamily="34" charset="-122"/>
                <a:cs typeface="Noto Sans KR" pitchFamily="34" charset="-120"/>
              </a:rPr>
              <a:t>CD — main에 들어가면 배포</a:t>
            </a:r>
            <a:endParaRPr lang="en-US" sz="1300" dirty="0"/>
          </a:p>
        </p:txBody>
      </p:sp>
      <p:sp>
        <p:nvSpPr>
          <p:cNvPr id="26" name="Text 20"/>
          <p:cNvSpPr/>
          <p:nvPr/>
        </p:nvSpPr>
        <p:spPr>
          <a:xfrm>
            <a:off x="7340600" y="2991991"/>
            <a:ext cx="415975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이미지를 빌드해 레지스트리에 올리고(태그 = 커밋 해시), 서버에서 compose pull 후 up -d</a:t>
            </a:r>
            <a:endParaRPr lang="en-US" sz="1200" dirty="0"/>
          </a:p>
        </p:txBody>
      </p:sp>
      <p:sp>
        <p:nvSpPr>
          <p:cNvPr id="27" name="Text 21"/>
          <p:cNvSpPr/>
          <p:nvPr/>
        </p:nvSpPr>
        <p:spPr>
          <a:xfrm>
            <a:off x="7340600" y="3560911"/>
            <a:ext cx="415975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배포 뒤엔 관측</a:t>
            </a:r>
            <a:endParaRPr lang="en-US" sz="1300" dirty="0"/>
          </a:p>
        </p:txBody>
      </p:sp>
      <p:sp>
        <p:nvSpPr>
          <p:cNvPr id="28" name="Text 22"/>
          <p:cNvSpPr/>
          <p:nvPr/>
        </p:nvSpPr>
        <p:spPr>
          <a:xfrm>
            <a:off x="7340600" y="3830141"/>
            <a:ext cx="41597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Grafana에서 오류율 · p95 확인, 이상하면 이전 태그로 롤백</a:t>
            </a:r>
            <a:endParaRPr lang="en-US" sz="1200" dirty="0"/>
          </a:p>
        </p:txBody>
      </p:sp>
      <p:sp>
        <p:nvSpPr>
          <p:cNvPr id="29" name="Text 23"/>
          <p:cNvSpPr/>
          <p:nvPr/>
        </p:nvSpPr>
        <p:spPr>
          <a:xfrm>
            <a:off x="7340600" y="4178102"/>
            <a:ext cx="415975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6E"/>
                </a:solidFill>
                <a:latin typeface="Noto Sans KR" pitchFamily="34" charset="0"/>
                <a:ea typeface="Noto Sans KR" pitchFamily="34" charset="-122"/>
                <a:cs typeface="Noto Sans KR" pitchFamily="34" charset="-120"/>
              </a:rPr>
              <a:t>시작은 CI부터</a:t>
            </a:r>
            <a:endParaRPr lang="en-US" sz="1300" dirty="0"/>
          </a:p>
        </p:txBody>
      </p:sp>
      <p:sp>
        <p:nvSpPr>
          <p:cNvPr id="30" name="Text 24"/>
          <p:cNvSpPr/>
          <p:nvPr/>
        </p:nvSpPr>
        <p:spPr>
          <a:xfrm>
            <a:off x="7340600" y="4447332"/>
            <a:ext cx="415975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6566A"/>
                </a:solidFill>
                <a:latin typeface="Noto Sans KR" pitchFamily="34" charset="0"/>
                <a:ea typeface="Noto Sans KR" pitchFamily="34" charset="-122"/>
                <a:cs typeface="Noto Sans KR" pitchFamily="34" charset="-120"/>
              </a:rPr>
              <a:t>자동 테스트 없는 자동 배포는 위험하다. 사내 Gitea Actions도 거의 같은 문법</a:t>
            </a:r>
            <a:endParaRPr lang="en-US" sz="1200" dirty="0"/>
          </a:p>
        </p:txBody>
      </p:sp>
      <p:sp>
        <p:nvSpPr>
          <p:cNvPr id="31"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32"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25 / 27</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6E"/>
                </a:solidFill>
                <a:latin typeface="Noto Sans KR" pitchFamily="34" charset="0"/>
                <a:ea typeface="Noto Sans KR" pitchFamily="34" charset="-122"/>
                <a:cs typeface="Noto Sans KR" pitchFamily="34" charset="-120"/>
              </a:rPr>
              <a:t>06 · 여럿이 함께 바이브 코딩</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0E1A2B"/>
                </a:solidFill>
                <a:latin typeface="Noto Sans KR" pitchFamily="34" charset="0"/>
                <a:ea typeface="Noto Sans KR" pitchFamily="34" charset="-122"/>
                <a:cs typeface="Noto Sans KR" pitchFamily="34" charset="-120"/>
              </a:rPr>
              <a:t>계약이 있으면 기다리지 않고 동시에 만든다</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5711"/>
          <a:ext cx="10553700" cy="1892102"/>
        </p:xfrm>
        <a:graphic>
          <a:graphicData uri="http://schemas.openxmlformats.org/drawingml/2006/table">
            <a:tbl>
              <a:tblPr/>
              <a:tblGrid>
                <a:gridCol w="1688592"/>
                <a:gridCol w="2849499"/>
                <a:gridCol w="3166110"/>
                <a:gridCol w="2849499"/>
              </a:tblGrid>
              <a:tr h="378420">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역할</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Day 0 · 함께</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구현 · 각자 병렬</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680"/>
                        </a:lnSpc>
                        <a:buNone/>
                      </a:pPr>
                      <a:r>
                        <a:rPr lang="en-US" sz="1200" b="1" dirty="0">
                          <a:solidFill>
                            <a:srgbClr val="F2F5F4"/>
                          </a:solidFill>
                          <a:latin typeface="Noto Sans KR" pitchFamily="34" charset="0"/>
                          <a:ea typeface="Noto Sans KR" pitchFamily="34" charset="-122"/>
                          <a:cs typeface="Noto Sans KR" pitchFamily="34" charset="-120"/>
                        </a:rPr>
                        <a:t>매일 통합</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r>
              <a:tr h="3784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프런트엔드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화면 목록, 필요한 API 정리</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mock 서버로 화면 개발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실제 백엔드 주소로 전환</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784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백엔드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openapi.yaml 초안</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엔드포인트 구현, 계약 테스트</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main 머지, /docs 확인</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r h="3784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데이터 · 인프라</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스키마, compose 골격</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마이그레이션, 시드 데이터, 대시보드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compose up 통합 점검</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DC1BF"/>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78420">
                <a:tc>
                  <a:txBody>
                    <a:bodyPr/>
                    <a:lstStyle/>
                    <a:p>
                      <a:pPr indent="0" marL="0">
                        <a:lnSpc>
                          <a:spcPts val="1680"/>
                        </a:lnSpc>
                        <a:buNone/>
                      </a:pPr>
                      <a:r>
                        <a:rPr lang="en-US" sz="1200" dirty="0">
                          <a:solidFill>
                            <a:srgbClr val="157A6E"/>
                          </a:solidFill>
                          <a:latin typeface="Noto Sans KR" pitchFamily="34" charset="0"/>
                          <a:ea typeface="Noto Sans KR" pitchFamily="34" charset="-122"/>
                          <a:cs typeface="Noto Sans KR" pitchFamily="34" charset="-120"/>
                        </a:rPr>
                        <a:t>AI 워크플로우</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C4C5C4"/>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Webhook 입출력 정의</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n8n 흐름, 프롬프트, RAG 문서</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c>
                  <a:txBody>
                    <a:bodyPr/>
                    <a:lstStyle/>
                    <a:p>
                      <a:pPr indent="0" marL="0">
                        <a:lnSpc>
                          <a:spcPts val="1680"/>
                        </a:lnSpc>
                        <a:buNone/>
                      </a:pPr>
                      <a:r>
                        <a:rPr lang="en-US" sz="1200" dirty="0">
                          <a:solidFill>
                            <a:srgbClr val="22303F"/>
                          </a:solidFill>
                          <a:latin typeface="Noto Sans KR" pitchFamily="34" charset="0"/>
                          <a:ea typeface="Noto Sans KR" pitchFamily="34" charset="-122"/>
                          <a:cs typeface="Noto Sans KR" pitchFamily="34" charset="-120"/>
                        </a:rPr>
                        <a:t>워크플로우 JSON export 커밋</a:t>
                      </a:r>
                      <a:endParaRPr lang="en-US" sz="1200" dirty="0">
                        <a:latin typeface="Noto Sans KR" charset="0"/>
                        <a:ea typeface="Noto Sans KR" charset="0"/>
                        <a:cs typeface="Noto Sans KR" charset="0"/>
                      </a:endParaRPr>
                    </a:p>
                  </a:txBody>
                  <a:tcPr marL="127000" marR="127000" marT="76200" marB="76200" anchor="t">
                    <a:lnL w="12700" cap="flat" cmpd="sng" algn="ctr">
                      <a:solidFill>
                        <a:srgbClr val="BDC1BF"/>
                      </a:solidFill>
                      <a:prstDash val="solid"/>
                      <a:round/>
                      <a:headEnd type="none" w="med" len="med"/>
                      <a:tailEnd type="none" w="med" len="med"/>
                    </a:lnL>
                    <a:lnR w="12700" cap="flat" cmpd="sng" algn="ctr">
                      <a:solidFill>
                        <a:srgbClr val="BDC1BF"/>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DC1BF"/>
                      </a:solidFill>
                      <a:prstDash val="solid"/>
                      <a:round/>
                      <a:headEnd type="none" w="med" len="med"/>
                      <a:tailEnd type="none" w="med" len="med"/>
                    </a:lnB>
                    <a:solidFill>
                      <a:srgbClr val="EDF2F0"/>
                    </a:solidFill>
                  </a:tcPr>
                </a:tc>
              </a:tr>
            </a:tbl>
          </a:graphicData>
        </a:graphic>
      </p:graphicFrame>
      <p:sp>
        <p:nvSpPr>
          <p:cNvPr id="5" name="Shape 2"/>
          <p:cNvSpPr/>
          <p:nvPr/>
        </p:nvSpPr>
        <p:spPr>
          <a:xfrm>
            <a:off x="812800" y="3941812"/>
            <a:ext cx="6350000" cy="1036241"/>
          </a:xfrm>
          <a:prstGeom prst="roundRect">
            <a:avLst>
              <a:gd name="adj" fmla="val 9805"/>
            </a:avLst>
          </a:prstGeom>
          <a:solidFill>
            <a:srgbClr val="0E1A2B"/>
          </a:solidFill>
          <a:ln/>
        </p:spPr>
      </p:sp>
      <p:sp>
        <p:nvSpPr>
          <p:cNvPr id="6" name="Text 3"/>
          <p:cNvSpPr/>
          <p:nvPr/>
        </p:nvSpPr>
        <p:spPr>
          <a:xfrm>
            <a:off x="1016000" y="4094212"/>
            <a:ext cx="61219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D1C1"/>
                </a:solidFill>
                <a:latin typeface="Noto Sans KR" pitchFamily="34" charset="0"/>
                <a:ea typeface="Noto Sans KR" pitchFamily="34" charset="-122"/>
                <a:cs typeface="Noto Sans KR" pitchFamily="34" charset="-120"/>
              </a:rPr>
              <a:t>백엔드 없이 화면부터 — mock 서버</a:t>
            </a:r>
            <a:endParaRPr lang="en-US" sz="1200" dirty="0"/>
          </a:p>
        </p:txBody>
      </p:sp>
      <p:sp>
        <p:nvSpPr>
          <p:cNvPr id="7" name="Text 4"/>
          <p:cNvSpPr/>
          <p:nvPr/>
        </p:nvSpPr>
        <p:spPr>
          <a:xfrm>
            <a:off x="1016000" y="4371032"/>
            <a:ext cx="612190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D6E2E0"/>
                </a:solidFill>
                <a:latin typeface="JetBrains Mono" pitchFamily="49" charset="0"/>
                <a:ea typeface="JetBrains Mono" pitchFamily="49" charset="-122"/>
                <a:cs typeface="JetBrains Mono" pitchFamily="49" charset="-120"/>
              </a:rPr>
              <a:t>npx @stoplight/prism-cli mock contracts/openapi.yaml</a:t>
            </a:r>
            <a:endParaRPr lang="en-US" sz="1200" dirty="0"/>
          </a:p>
        </p:txBody>
      </p:sp>
      <p:sp>
        <p:nvSpPr>
          <p:cNvPr id="8" name="Shape 5"/>
          <p:cNvSpPr/>
          <p:nvPr/>
        </p:nvSpPr>
        <p:spPr>
          <a:xfrm>
            <a:off x="7318375" y="3944987"/>
            <a:ext cx="4057650" cy="1029891"/>
          </a:xfrm>
          <a:prstGeom prst="roundRect">
            <a:avLst>
              <a:gd name="adj" fmla="val 9557"/>
            </a:avLst>
          </a:prstGeom>
          <a:solidFill>
            <a:srgbClr val="FBF1E8"/>
          </a:solidFill>
          <a:ln w="6350">
            <a:solidFill>
              <a:srgbClr val="EBC9A8"/>
            </a:solidFill>
            <a:prstDash val="solid"/>
          </a:ln>
        </p:spPr>
      </p:sp>
      <p:sp>
        <p:nvSpPr>
          <p:cNvPr id="9" name="Text 6"/>
          <p:cNvSpPr/>
          <p:nvPr/>
        </p:nvSpPr>
        <p:spPr>
          <a:xfrm>
            <a:off x="7524750" y="4100562"/>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04E10"/>
                </a:solidFill>
                <a:latin typeface="Noto Sans KR" pitchFamily="34" charset="0"/>
                <a:ea typeface="Noto Sans KR" pitchFamily="34" charset="-122"/>
                <a:cs typeface="Noto Sans KR" pitchFamily="34" charset="-120"/>
              </a:rPr>
              <a:t>계약 변경 절차</a:t>
            </a:r>
            <a:endParaRPr lang="en-US" sz="1200" dirty="0"/>
          </a:p>
        </p:txBody>
      </p:sp>
      <p:sp>
        <p:nvSpPr>
          <p:cNvPr id="10" name="Text 7"/>
          <p:cNvSpPr/>
          <p:nvPr/>
        </p:nvSpPr>
        <p:spPr>
          <a:xfrm>
            <a:off x="7524750" y="4377382"/>
            <a:ext cx="375424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3A20"/>
                </a:solidFill>
                <a:latin typeface="Noto Sans KR" pitchFamily="34" charset="0"/>
                <a:ea typeface="Noto Sans KR" pitchFamily="34" charset="-122"/>
                <a:cs typeface="Noto Sans KR" pitchFamily="34" charset="-120"/>
              </a:rPr>
              <a:t>제안 PR → 영향 담당자 승인 → 계약 먼저 머지 → 각자 구현 수정</a:t>
            </a:r>
            <a:endParaRPr lang="en-US" sz="12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D7E"/>
                </a:solidFill>
                <a:latin typeface="Noto Sans KR" pitchFamily="34" charset="0"/>
                <a:ea typeface="Noto Sans KR" pitchFamily="34" charset="-122"/>
                <a:cs typeface="Noto Sans KR" pitchFamily="34" charset="-120"/>
              </a:rPr>
              <a:t>26 / 27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D1C1"/>
                </a:solidFill>
                <a:latin typeface="Noto Sans KR" pitchFamily="34" charset="0"/>
                <a:ea typeface="Noto Sans KR" pitchFamily="34" charset="-122"/>
                <a:cs typeface="Noto Sans KR" pitchFamily="34" charset="-120"/>
              </a:rPr>
              <a:t>정리</a:t>
            </a:r>
            <a:endParaRPr lang="en-US" sz="1200" dirty="0"/>
          </a:p>
        </p:txBody>
      </p:sp>
      <p:sp>
        <p:nvSpPr>
          <p:cNvPr id="3" name="Text 1"/>
          <p:cNvSpPr/>
          <p:nvPr>
            <p:ph type="title"/>
          </p:nvPr>
        </p:nvSpPr>
        <p:spPr>
          <a:xfrm>
            <a:off x="812800" y="11023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2F5F4"/>
                </a:solidFill>
                <a:latin typeface="Noto Sans KR" pitchFamily="34" charset="0"/>
                <a:ea typeface="Noto Sans KR" pitchFamily="34" charset="-122"/>
                <a:cs typeface="Noto Sans KR" pitchFamily="34" charset="-120"/>
              </a:rPr>
              <a:t>AI에게 구조를 먼저 말하면, 코드가 덜 흔들린다</a:t>
            </a:r>
            <a:endParaRPr lang="en-US" sz="2800" dirty="0"/>
          </a:p>
        </p:txBody>
      </p:sp>
      <p:sp>
        <p:nvSpPr>
          <p:cNvPr id="4" name="Text 2"/>
          <p:cNvSpPr/>
          <p:nvPr/>
        </p:nvSpPr>
        <p:spPr>
          <a:xfrm>
            <a:off x="812800" y="1833811"/>
            <a:ext cx="172740" cy="5207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D1C1"/>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061740" y="1833811"/>
            <a:ext cx="2296124"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2F5F4"/>
                </a:solidFill>
                <a:latin typeface="Noto Sans KR" pitchFamily="34" charset="0"/>
                <a:ea typeface="Noto Sans KR" pitchFamily="34" charset="-122"/>
                <a:cs typeface="Noto Sans KR" pitchFamily="34" charset="-120"/>
              </a:rPr>
              <a:t>층을 나눈다</a:t>
            </a:r>
            <a:endParaRPr lang="en-US" sz="1300" dirty="0"/>
          </a:p>
          <a:p>
            <a:pPr algn="l" indent="0" marL="0">
              <a:lnSpc>
                <a:spcPts val="1950"/>
              </a:lnSpc>
              <a:buNone/>
            </a:pPr>
            <a:r>
              <a:rPr lang="en-US" sz="1300" dirty="0">
                <a:solidFill>
                  <a:srgbClr val="C9D6D4"/>
                </a:solidFill>
                <a:latin typeface="Noto Sans KR" pitchFamily="34" charset="0"/>
                <a:ea typeface="Noto Sans KR" pitchFamily="34" charset="-122"/>
                <a:cs typeface="Noto Sans KR" pitchFamily="34" charset="-120"/>
              </a:rPr>
              <a:t>화면 · 규칙 · 저장을 섞지 않는다</a:t>
            </a:r>
            <a:endParaRPr lang="en-US" sz="1300" dirty="0"/>
          </a:p>
        </p:txBody>
      </p:sp>
      <p:sp>
        <p:nvSpPr>
          <p:cNvPr id="6" name="Text 4"/>
          <p:cNvSpPr/>
          <p:nvPr/>
        </p:nvSpPr>
        <p:spPr>
          <a:xfrm>
            <a:off x="812800" y="2506911"/>
            <a:ext cx="172740" cy="5207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D1C1"/>
                </a:solidFill>
                <a:latin typeface="JetBrains Mono" pitchFamily="49" charset="0"/>
                <a:ea typeface="JetBrains Mono" pitchFamily="49" charset="-122"/>
                <a:cs typeface="JetBrains Mono" pitchFamily="49" charset="-120"/>
              </a:rPr>
              <a:t>2</a:t>
            </a:r>
            <a:endParaRPr lang="en-US" sz="1600" dirty="0"/>
          </a:p>
        </p:txBody>
      </p:sp>
      <p:sp>
        <p:nvSpPr>
          <p:cNvPr id="7" name="Text 5"/>
          <p:cNvSpPr/>
          <p:nvPr/>
        </p:nvSpPr>
        <p:spPr>
          <a:xfrm>
            <a:off x="1061740" y="2506911"/>
            <a:ext cx="2306139"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2F5F4"/>
                </a:solidFill>
                <a:latin typeface="Noto Sans KR" pitchFamily="34" charset="0"/>
                <a:ea typeface="Noto Sans KR" pitchFamily="34" charset="-122"/>
                <a:cs typeface="Noto Sans KR" pitchFamily="34" charset="-120"/>
              </a:rPr>
              <a:t>데이터 모양으로 저장소를 고른다</a:t>
            </a:r>
            <a:endParaRPr lang="en-US" sz="1300" dirty="0"/>
          </a:p>
          <a:p>
            <a:pPr algn="l" indent="0" marL="0">
              <a:lnSpc>
                <a:spcPts val="1950"/>
              </a:lnSpc>
              <a:buNone/>
            </a:pPr>
            <a:r>
              <a:rPr lang="en-US" sz="1300" dirty="0">
                <a:solidFill>
                  <a:srgbClr val="C9D6D4"/>
                </a:solidFill>
                <a:latin typeface="Noto Sans KR" pitchFamily="34" charset="0"/>
                <a:ea typeface="Noto Sans KR" pitchFamily="34" charset="-122"/>
                <a:cs typeface="Noto Sans KR" pitchFamily="34" charset="-120"/>
              </a:rPr>
              <a:t>레코드 · 시계열 · 문서</a:t>
            </a:r>
            <a:endParaRPr lang="en-US" sz="1300" dirty="0"/>
          </a:p>
        </p:txBody>
      </p:sp>
      <p:sp>
        <p:nvSpPr>
          <p:cNvPr id="8" name="Text 6"/>
          <p:cNvSpPr/>
          <p:nvPr/>
        </p:nvSpPr>
        <p:spPr>
          <a:xfrm>
            <a:off x="812800" y="3180011"/>
            <a:ext cx="172740" cy="5207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D1C1"/>
                </a:solidFill>
                <a:latin typeface="JetBrains Mono" pitchFamily="49" charset="0"/>
                <a:ea typeface="JetBrains Mono" pitchFamily="49" charset="-122"/>
                <a:cs typeface="JetBrains Mono" pitchFamily="49" charset="-120"/>
              </a:rPr>
              <a:t>3</a:t>
            </a:r>
            <a:endParaRPr lang="en-US" sz="1600" dirty="0"/>
          </a:p>
        </p:txBody>
      </p:sp>
      <p:sp>
        <p:nvSpPr>
          <p:cNvPr id="9" name="Text 7"/>
          <p:cNvSpPr/>
          <p:nvPr/>
        </p:nvSpPr>
        <p:spPr>
          <a:xfrm>
            <a:off x="1061740" y="3180011"/>
            <a:ext cx="2556365"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F2F5F4"/>
                </a:solidFill>
                <a:latin typeface="Noto Sans KR" pitchFamily="34" charset="0"/>
                <a:ea typeface="Noto Sans KR" pitchFamily="34" charset="-122"/>
                <a:cs typeface="Noto Sans KR" pitchFamily="34" charset="-120"/>
              </a:rPr>
              <a:t>처음부터 관측하고, 한 파일로 띄운다</a:t>
            </a:r>
            <a:endParaRPr lang="en-US" sz="1300" dirty="0"/>
          </a:p>
          <a:p>
            <a:pPr algn="l" indent="0" marL="0">
              <a:lnSpc>
                <a:spcPts val="1950"/>
              </a:lnSpc>
              <a:buNone/>
            </a:pPr>
            <a:r>
              <a:rPr lang="en-US" sz="1300" dirty="0">
                <a:solidFill>
                  <a:srgbClr val="C9D6D4"/>
                </a:solidFill>
                <a:latin typeface="Noto Sans KR" pitchFamily="34" charset="0"/>
                <a:ea typeface="Noto Sans KR" pitchFamily="34" charset="-122"/>
                <a:cs typeface="Noto Sans KR" pitchFamily="34" charset="-120"/>
              </a:rPr>
              <a:t>/metrics + compose.yaml</a:t>
            </a:r>
            <a:endParaRPr lang="en-US" sz="1300" dirty="0"/>
          </a:p>
        </p:txBody>
      </p:sp>
      <p:sp>
        <p:nvSpPr>
          <p:cNvPr id="10" name="Shape 8"/>
          <p:cNvSpPr/>
          <p:nvPr/>
        </p:nvSpPr>
        <p:spPr>
          <a:xfrm>
            <a:off x="5181600" y="1833811"/>
            <a:ext cx="6197600" cy="1841500"/>
          </a:xfrm>
          <a:prstGeom prst="roundRect">
            <a:avLst>
              <a:gd name="adj" fmla="val 5517"/>
            </a:avLst>
          </a:prstGeom>
          <a:solidFill>
            <a:srgbClr val="16263A"/>
          </a:solidFill>
          <a:ln/>
        </p:spPr>
      </p:sp>
      <p:sp>
        <p:nvSpPr>
          <p:cNvPr id="11" name="Text 9"/>
          <p:cNvSpPr/>
          <p:nvPr/>
        </p:nvSpPr>
        <p:spPr>
          <a:xfrm>
            <a:off x="5435600" y="2062411"/>
            <a:ext cx="58602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Noto Sans KR" pitchFamily="34" charset="0"/>
                <a:ea typeface="Noto Sans KR" pitchFamily="34" charset="-122"/>
                <a:cs typeface="Noto Sans KR" pitchFamily="34" charset="-120"/>
              </a:rPr>
              <a:t>프롬프트 예시</a:t>
            </a:r>
            <a:endParaRPr lang="en-US" sz="1200" dirty="0"/>
          </a:p>
        </p:txBody>
      </p:sp>
      <p:sp>
        <p:nvSpPr>
          <p:cNvPr id="12" name="Text 10"/>
          <p:cNvSpPr/>
          <p:nvPr/>
        </p:nvSpPr>
        <p:spPr>
          <a:xfrm>
            <a:off x="5435600" y="2377331"/>
            <a:ext cx="5860288" cy="108188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5ECEB"/>
                </a:solidFill>
                <a:latin typeface="Noto Sans KR" pitchFamily="34" charset="0"/>
                <a:ea typeface="Noto Sans KR" pitchFamily="34" charset="-122"/>
                <a:cs typeface="Noto Sans KR" pitchFamily="34" charset="-120"/>
              </a:rPr>
              <a:t>“프런트엔드는 Streamlit, 백엔드는 FastAPI로 분리해 줘. 프런트엔드는 백엔드 API만 호출한다. 설비 정보는 PostgreSQL, 센서 값은 InfluxDB, 장비 설정은 MongoDB에 저장한다. 백엔드는 /metrics를 노출하고, Prometheus · Grafana까지 포함한 compose.yaml을 만들어 줘. 비밀값은 .env로 분리해 줘.”</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6A4"/>
                </a:solidFill>
                <a:latin typeface="Noto Sans KR" pitchFamily="34" charset="0"/>
                <a:ea typeface="Noto Sans KR" pitchFamily="34" charset="-122"/>
                <a:cs typeface="Noto Sans KR" pitchFamily="34" charset="-120"/>
              </a:rPr>
              <a:t>프런트엔드 · 백엔드 구성</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6A4"/>
                </a:solidFill>
                <a:latin typeface="Noto Sans KR" pitchFamily="34" charset="0"/>
                <a:ea typeface="Noto Sans KR" pitchFamily="34" charset="-122"/>
                <a:cs typeface="Noto Sans KR" pitchFamily="34" charset="-120"/>
              </a:rPr>
              <a:t>27 / 27</a:t>
            </a:r>
            <a:endParaRPr lang="en-US" sz="1200" dirty="0"/>
          </a:p>
        </p:txBody>
      </p:sp>
    </p:spTree>
  </p:cSld>
  <p:clrMapOvr>
    <a:masterClrMapping/>
  </p:clrMapOvr>
</p:sld>
</file>

<file path=ppt/theme/theme1.xml><?xml version="1.0" encoding="utf-8"?>
<a:theme xmlns:a="http://schemas.openxmlformats.org/drawingml/2006/main" name="프런트엔드 · 백엔드 · 저장소 구성">
  <a:themeElements>
    <a:clrScheme name="프런트엔드 · 백엔드 · 저장소 구성">
      <a:dk1>
        <a:srgbClr val="0E1A2B"/>
      </a:dk1>
      <a:lt1>
        <a:srgbClr val="F5F7F6"/>
      </a:lt1>
      <a:dk2>
        <a:srgbClr val="48515E"/>
      </a:dk2>
      <a:lt2>
        <a:srgbClr val="DEE1E2"/>
      </a:lt2>
      <a:accent1>
        <a:srgbClr val="157A6E"/>
      </a:accent1>
      <a:accent2>
        <a:srgbClr val="A04E10"/>
      </a:accent2>
      <a:accent3>
        <a:srgbClr val="4FD1C1"/>
      </a:accent3>
      <a:accent4>
        <a:srgbClr val="5A3A20"/>
      </a:accent4>
      <a:accent5>
        <a:srgbClr val="F2A65A"/>
      </a:accent5>
      <a:accent6>
        <a:srgbClr val="FBE3CF"/>
      </a:accent6>
      <a:hlink>
        <a:srgbClr val="0563C1"/>
      </a:hlink>
      <a:folHlink>
        <a:srgbClr val="954F72"/>
      </a:folHlink>
    </a:clrScheme>
    <a:fontScheme name="프런트엔드 · 백엔드 · 저장소 구성">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프런트엔드 · 백엔드 · 저장소 구성</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2026-10-25T09:31:19Z</dcterms:created>
  <dcterms:modified xsi:type="dcterms:W3CDTF">2026-10-25T09:31:19Z</dcterms:modified>
</cp:coreProperties>
</file>